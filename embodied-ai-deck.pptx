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3.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3222E"/>
                </a:solidFill>
                <a:latin typeface="Calibri"/>
              </a:defRPr>
            </a:pPr>
            <a:r>
              <a:rPr lang="en-US" sz="1500" b="0" i="0" u="none" strike="noStrike">
                <a:solidFill>
                  <a:srgbClr val="13222E"/>
                </a:solidFill>
                <a:latin typeface="Calibri"/>
              </a:rPr>
              <a:t>A robot making 1,000 decisions a day</a:t>
            </a:r>
          </a:p>
        </c:rich>
      </c:tx>
      <c:layout/>
      <c:overlay val="0"/>
    </c:title>
    <c:autoTitleDeleted val="0"/>
    <c:plotArea>
      <c:layout/>
      <c:barChart>
        <c:barDir val="col"/>
        <c:grouping val="clustered"/>
        <c:varyColors val="0"/>
        <c:ser>
          <c:idx val="0"/>
          <c:order val="0"/>
          <c:tx>
            <c:strRef>
              <c:f>Sheet1!$B$1</c:f>
              <c:strCache>
                <c:ptCount val="1"/>
                <c:pt idx="0">
                  <c:v>Failures per day</c:v>
                </c:pt>
              </c:strCache>
            </c:strRef>
          </c:tx>
          <c:spPr>
            <a:solidFill>
              <a:srgbClr val="C2571E"/>
            </a:solidFill>
            <a:effectLst/>
          </c:spPr>
          <c:invertIfNegative val="0"/>
          <c:dPt>
            <c:idx val="0"/>
            <c:invertIfNegative val="0"/>
            <c:bubble3D val="0"/>
            <c:extLst>
              <c:ext xmlns:c16="http://schemas.microsoft.com/office/drawing/2014/chart" uri="{C3380CC4-5D6E-409C-BE32-E72D297353CC}">
                <c16:uniqueId val="{00000001-6204-4D2B-B3C9-28CC223B94B0}"/>
              </c:ext>
            </c:extLst>
          </c:dPt>
          <c:dPt>
            <c:idx val="1"/>
            <c:invertIfNegative val="0"/>
            <c:bubble3D val="0"/>
            <c:spPr>
              <a:solidFill>
                <a:srgbClr val="B77B0C"/>
              </a:solidFill>
              <a:effectLst/>
            </c:spPr>
            <c:extLst>
              <c:ext xmlns:c16="http://schemas.microsoft.com/office/drawing/2014/chart" uri="{C3380CC4-5D6E-409C-BE32-E72D297353CC}">
                <c16:uniqueId val="{00000003-6204-4D2B-B3C9-28CC223B94B0}"/>
              </c:ext>
            </c:extLst>
          </c:dPt>
          <c:dPt>
            <c:idx val="2"/>
            <c:invertIfNegative val="0"/>
            <c:bubble3D val="0"/>
            <c:spPr>
              <a:solidFill>
                <a:srgbClr val="0F7186"/>
              </a:solidFill>
              <a:effectLst/>
            </c:spPr>
            <c:extLst>
              <c:ext xmlns:c16="http://schemas.microsoft.com/office/drawing/2014/chart" uri="{C3380CC4-5D6E-409C-BE32-E72D297353CC}">
                <c16:uniqueId val="{00000005-6204-4D2B-B3C9-28CC223B94B0}"/>
              </c:ext>
            </c:extLst>
          </c:dPt>
          <c:dLbls>
            <c:numFmt formatCode="0.#" sourceLinked="0"/>
            <c:spPr>
              <a:noFill/>
              <a:ln>
                <a:noFill/>
              </a:ln>
              <a:effectLst/>
            </c:spPr>
            <c:txPr>
              <a:bodyPr/>
              <a:lstStyle/>
              <a:p>
                <a:pPr>
                  <a:defRPr sz="1500" b="0" i="0" u="none" strike="noStrike">
                    <a:solidFill>
                      <a:srgbClr val="13222E"/>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99% right</c:v>
                </c:pt>
                <c:pt idx="1">
                  <c:v>99.9% right</c:v>
                </c:pt>
                <c:pt idx="2">
                  <c:v>99.99% right</c:v>
                </c:pt>
              </c:strCache>
            </c:strRef>
          </c:cat>
          <c:val>
            <c:numRef>
              <c:f>Sheet1!$B$2:$B$4</c:f>
              <c:numCache>
                <c:formatCode>General</c:formatCode>
                <c:ptCount val="3"/>
                <c:pt idx="0">
                  <c:v>10</c:v>
                </c:pt>
                <c:pt idx="1">
                  <c:v>1</c:v>
                </c:pt>
                <c:pt idx="2">
                  <c:v>0.1</c:v>
                </c:pt>
              </c:numCache>
            </c:numRef>
          </c:val>
          <c:extLst>
            <c:ext xmlns:c16="http://schemas.microsoft.com/office/drawing/2014/chart" uri="{C3380CC4-5D6E-409C-BE32-E72D297353CC}">
              <c16:uniqueId val="{00000006-6204-4D2B-B3C9-28CC223B94B0}"/>
            </c:ext>
          </c:extLst>
        </c:ser>
        <c:dLbls>
          <c:showLegendKey val="0"/>
          <c:showVal val="1"/>
          <c:showCatName val="0"/>
          <c:showSerName val="0"/>
          <c:showPercent val="0"/>
          <c:showBubbleSize val="0"/>
        </c:dLbls>
        <c:gapWidth val="11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3222E"/>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EAEE"/>
              </a:solidFill>
              <a:prstDash val="solid"/>
              <a:round/>
            </a:ln>
          </c:spPr>
        </c:majorGridlines>
        <c:title>
          <c:tx>
            <c:rich>
              <a:bodyPr/>
              <a:lstStyle/>
              <a:p>
                <a:pPr>
                  <a:defRPr sz="1500" b="0" i="0" u="none" strike="noStrike">
                    <a:solidFill>
                      <a:srgbClr val="566672"/>
                    </a:solidFill>
                    <a:latin typeface="Calibri"/>
                  </a:defRPr>
                </a:pPr>
                <a:r>
                  <a:rPr lang="en-US" sz="1500" b="0" i="0" u="none" strike="noStrike">
                    <a:solidFill>
                      <a:srgbClr val="566672"/>
                    </a:solidFill>
                    <a:latin typeface="Calibri"/>
                  </a:rPr>
                  <a:t>failures per day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500" b="0" i="0" u="none" strike="noStrike">
                <a:solidFill>
                  <a:srgbClr val="566672"/>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3222E"/>
                </a:solidFill>
                <a:latin typeface="Calibri"/>
              </a:defRPr>
            </a:pPr>
            <a:r>
              <a:rPr lang="en-US" sz="1500" b="0" i="0" u="none" strike="noStrike">
                <a:solidFill>
                  <a:srgbClr val="13222E"/>
                </a:solidFill>
                <a:latin typeface="Calibri"/>
              </a:rPr>
              <a:t>Companies building humanoids, by country</a:t>
            </a:r>
          </a:p>
        </c:rich>
      </c:tx>
      <c:layout/>
      <c:overlay val="0"/>
    </c:title>
    <c:autoTitleDeleted val="0"/>
    <c:plotArea>
      <c:layout/>
      <c:barChart>
        <c:barDir val="col"/>
        <c:grouping val="clustered"/>
        <c:varyColors val="0"/>
        <c:ser>
          <c:idx val="0"/>
          <c:order val="0"/>
          <c:tx>
            <c:strRef>
              <c:f>Sheet1!$B$1</c:f>
              <c:strCache>
                <c:ptCount val="1"/>
                <c:pt idx="0">
                  <c:v>Humanoid robot companies</c:v>
                </c:pt>
              </c:strCache>
            </c:strRef>
          </c:tx>
          <c:spPr>
            <a:solidFill>
              <a:srgbClr val="C2571E"/>
            </a:solidFill>
            <a:effectLst/>
          </c:spPr>
          <c:invertIfNegative val="0"/>
          <c:dPt>
            <c:idx val="0"/>
            <c:invertIfNegative val="0"/>
            <c:bubble3D val="0"/>
            <c:extLst>
              <c:ext xmlns:c16="http://schemas.microsoft.com/office/drawing/2014/chart" uri="{C3380CC4-5D6E-409C-BE32-E72D297353CC}">
                <c16:uniqueId val="{00000001-E2EA-4327-80B1-AB57E4FA8A6B}"/>
              </c:ext>
            </c:extLst>
          </c:dPt>
          <c:dPt>
            <c:idx val="1"/>
            <c:invertIfNegative val="0"/>
            <c:bubble3D val="0"/>
            <c:spPr>
              <a:solidFill>
                <a:srgbClr val="0F7186"/>
              </a:solidFill>
              <a:effectLst/>
            </c:spPr>
            <c:extLst>
              <c:ext xmlns:c16="http://schemas.microsoft.com/office/drawing/2014/chart" uri="{C3380CC4-5D6E-409C-BE32-E72D297353CC}">
                <c16:uniqueId val="{00000003-E2EA-4327-80B1-AB57E4FA8A6B}"/>
              </c:ext>
            </c:extLst>
          </c:dPt>
          <c:dPt>
            <c:idx val="2"/>
            <c:invertIfNegative val="0"/>
            <c:bubble3D val="0"/>
            <c:spPr>
              <a:solidFill>
                <a:srgbClr val="9AA8B2"/>
              </a:solidFill>
              <a:effectLst/>
            </c:spPr>
            <c:extLst>
              <c:ext xmlns:c16="http://schemas.microsoft.com/office/drawing/2014/chart" uri="{C3380CC4-5D6E-409C-BE32-E72D297353CC}">
                <c16:uniqueId val="{00000005-E2EA-4327-80B1-AB57E4FA8A6B}"/>
              </c:ext>
            </c:extLst>
          </c:dPt>
          <c:dLbls>
            <c:numFmt formatCode="#,##0" sourceLinked="0"/>
            <c:spPr>
              <a:noFill/>
              <a:ln>
                <a:noFill/>
              </a:ln>
              <a:effectLst/>
            </c:spPr>
            <c:txPr>
              <a:bodyPr/>
              <a:lstStyle/>
              <a:p>
                <a:pPr>
                  <a:defRPr sz="1600" b="0" i="0" u="none" strike="noStrike">
                    <a:solidFill>
                      <a:srgbClr val="13222E"/>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China</c:v>
                </c:pt>
                <c:pt idx="1">
                  <c:v>United States</c:v>
                </c:pt>
                <c:pt idx="2">
                  <c:v>Rest of world</c:v>
                </c:pt>
              </c:strCache>
            </c:strRef>
          </c:cat>
          <c:val>
            <c:numRef>
              <c:f>Sheet1!$B$2:$B$4</c:f>
              <c:numCache>
                <c:formatCode>General</c:formatCode>
                <c:ptCount val="3"/>
                <c:pt idx="0">
                  <c:v>21</c:v>
                </c:pt>
                <c:pt idx="1">
                  <c:v>14</c:v>
                </c:pt>
                <c:pt idx="2">
                  <c:v>10</c:v>
                </c:pt>
              </c:numCache>
            </c:numRef>
          </c:val>
          <c:extLst>
            <c:ext xmlns:c16="http://schemas.microsoft.com/office/drawing/2014/chart" uri="{C3380CC4-5D6E-409C-BE32-E72D297353CC}">
              <c16:uniqueId val="{00000006-E2EA-4327-80B1-AB57E4FA8A6B}"/>
            </c:ext>
          </c:extLst>
        </c:ser>
        <c:dLbls>
          <c:showLegendKey val="0"/>
          <c:showVal val="1"/>
          <c:showCatName val="0"/>
          <c:showSerName val="0"/>
          <c:showPercent val="0"/>
          <c:showBubbleSize val="0"/>
        </c:dLbls>
        <c:gapWidth val="1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3222E"/>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500" b="0" i="0" u="none" strike="noStrike">
                <a:solidFill>
                  <a:srgbClr val="566672"/>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3222E"/>
                </a:solidFill>
                <a:latin typeface="Calibri"/>
              </a:defRPr>
            </a:pPr>
            <a:r>
              <a:rPr sz="1500" b="0" i="0" u="none" strike="noStrike">
                <a:solidFill>
                  <a:srgbClr val="13222E"/>
                </a:solidFill>
                <a:latin typeface="Calibri"/>
              </a:rPr>
              <a:t>Product revenue this year, USD billions</a:t>
            </a:r>
          </a:p>
        </c:rich>
      </c:tx>
      <c:overlay val="0"/>
    </c:title>
    <c:autoTitleDeleted val="0"/>
    <c:plotArea>
      <c:layout/>
      <c:barChart>
        <c:barDir val="col"/>
        <c:grouping val="clustered"/>
        <c:varyColors val="0"/>
        <c:ser>
          <c:idx val="0"/>
          <c:order val="0"/>
          <c:tx>
            <c:strRef>
              <c:f>Sheet1!$B$1</c:f>
              <c:strCache>
                <c:ptCount val="1"/>
                <c:pt idx="0">
                  <c:v>2026 revenue, USD bn</c:v>
                </c:pt>
              </c:strCache>
            </c:strRef>
          </c:tx>
          <c:spPr>
            <a:solidFill>
              <a:srgbClr val="6A3FA0"/>
            </a:solidFill>
            <a:effectLst/>
          </c:spPr>
          <c:invertIfNegative val="0"/>
          <c:dPt>
            <c:idx val="0"/>
            <c:invertIfNegative val="0"/>
            <c:bubble3D val="0"/>
            <c:extLst>
              <c:ext xmlns:c16="http://schemas.microsoft.com/office/drawing/2014/chart" uri="{C3380CC4-5D6E-409C-BE32-E72D297353CC}">
                <c16:uniqueId val="{00000001-21FB-40E2-AF4E-9F5AE6910D5A}"/>
              </c:ext>
            </c:extLst>
          </c:dPt>
          <c:dPt>
            <c:idx val="1"/>
            <c:invertIfNegative val="0"/>
            <c:bubble3D val="0"/>
            <c:spPr>
              <a:solidFill>
                <a:srgbClr val="C2571E"/>
              </a:solidFill>
              <a:effectLst/>
            </c:spPr>
            <c:extLst>
              <c:ext xmlns:c16="http://schemas.microsoft.com/office/drawing/2014/chart" uri="{C3380CC4-5D6E-409C-BE32-E72D297353CC}">
                <c16:uniqueId val="{00000003-21FB-40E2-AF4E-9F5AE6910D5A}"/>
              </c:ext>
            </c:extLst>
          </c:dPt>
          <c:dLbls>
            <c:numFmt formatCode="0.#" sourceLinked="0"/>
            <c:spPr>
              <a:noFill/>
              <a:ln>
                <a:noFill/>
              </a:ln>
              <a:effectLst/>
            </c:spPr>
            <c:txPr>
              <a:bodyPr/>
              <a:lstStyle/>
              <a:p>
                <a:pPr>
                  <a:defRPr sz="1600" b="0" i="0" u="none" strike="noStrike">
                    <a:solidFill>
                      <a:srgbClr val="13222E"/>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Generative AI</c:v>
                </c:pt>
                <c:pt idx="1">
                  <c:v>Physical / embodied AI</c:v>
                </c:pt>
              </c:strCache>
            </c:strRef>
          </c:cat>
          <c:val>
            <c:numRef>
              <c:f>Sheet1!$B$2:$B$3</c:f>
              <c:numCache>
                <c:formatCode>General</c:formatCode>
                <c:ptCount val="2"/>
                <c:pt idx="0">
                  <c:v>91.6</c:v>
                </c:pt>
                <c:pt idx="1">
                  <c:v>1.5</c:v>
                </c:pt>
              </c:numCache>
            </c:numRef>
          </c:val>
          <c:extLst>
            <c:ext xmlns:c16="http://schemas.microsoft.com/office/drawing/2014/chart" uri="{C3380CC4-5D6E-409C-BE32-E72D297353CC}">
              <c16:uniqueId val="{00000004-21FB-40E2-AF4E-9F5AE6910D5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3222E"/>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500" b="0" i="0" u="none" strike="noStrike">
                <a:solidFill>
                  <a:srgbClr val="566672"/>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857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eyebrow line in the source image is masked with a white block.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Full-page infographic version of the paradigm-change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is standardising. The brain is not.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chatbot runs in a line. A body runs in a loop.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errors snowball.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is the factory floor.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 types, each adding one capability.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you would actually build one.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Humanoids and quadrupeds.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user-data/uploads/cover.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91440" y="146304"/>
            <a:ext cx="5669280" cy="438912"/>
          </a:xfrm>
          <a:prstGeom prst="rect">
            <a:avLst/>
          </a:prstGeom>
          <a:solidFill>
            <a:srgbClr val="FFFFFF"/>
          </a:solidFill>
          <a:ln w="1270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WHERE THIS STARTED</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Six eras, and what each one unlocked</a:t>
            </a:r>
            <a:endParaRPr lang="en-US" sz="3800" dirty="0"/>
          </a:p>
        </p:txBody>
      </p:sp>
      <p:sp>
        <p:nvSpPr>
          <p:cNvPr id="4" name="Shape 2"/>
          <p:cNvSpPr/>
          <p:nvPr/>
        </p:nvSpPr>
        <p:spPr>
          <a:xfrm>
            <a:off x="640080" y="1463040"/>
            <a:ext cx="10927080" cy="749808"/>
          </a:xfrm>
          <a:prstGeom prst="roundRect">
            <a:avLst>
              <a:gd name="adj" fmla="val 7317"/>
            </a:avLst>
          </a:prstGeom>
          <a:solidFill>
            <a:srgbClr val="EEF2F5"/>
          </a:solidFill>
          <a:ln w="9525">
            <a:solidFill>
              <a:srgbClr val="C9D3DA"/>
            </a:solidFill>
            <a:prstDash val="solid"/>
          </a:ln>
        </p:spPr>
      </p:sp>
      <p:sp>
        <p:nvSpPr>
          <p:cNvPr id="5" name="Text 3"/>
          <p:cNvSpPr txBox="1"/>
          <p:nvPr/>
        </p:nvSpPr>
        <p:spPr>
          <a:xfrm>
            <a:off x="868680" y="1600200"/>
            <a:ext cx="1600200" cy="457200"/>
          </a:xfrm>
          <a:prstGeom prst="rect">
            <a:avLst/>
          </a:prstGeom>
          <a:noFill/>
          <a:ln/>
        </p:spPr>
        <p:txBody>
          <a:bodyPr wrap="square" lIns="0" tIns="0" rIns="0" bIns="0" rtlCol="0" anchor="ctr"/>
          <a:lstStyle/>
          <a:p>
            <a:pPr marL="0" indent="0">
              <a:buNone/>
            </a:pPr>
            <a:r>
              <a:rPr lang="en-US" sz="2000" b="1" dirty="0">
                <a:solidFill>
                  <a:srgbClr val="566672"/>
                </a:solidFill>
                <a:latin typeface="Cambria" pitchFamily="34" charset="0"/>
                <a:ea typeface="Cambria" pitchFamily="34" charset="-122"/>
                <a:cs typeface="Cambria" pitchFamily="34" charset="-120"/>
              </a:rPr>
              <a:t>1920s–40s</a:t>
            </a:r>
            <a:endParaRPr lang="en-US" sz="2000" dirty="0"/>
          </a:p>
        </p:txBody>
      </p:sp>
      <p:sp>
        <p:nvSpPr>
          <p:cNvPr id="6" name="Text 4"/>
          <p:cNvSpPr txBox="1"/>
          <p:nvPr/>
        </p:nvSpPr>
        <p:spPr>
          <a:xfrm>
            <a:off x="2606040" y="1554480"/>
            <a:ext cx="2743200" cy="310896"/>
          </a:xfrm>
          <a:prstGeom prst="rect">
            <a:avLst/>
          </a:prstGeom>
          <a:noFill/>
          <a:ln/>
        </p:spPr>
        <p:txBody>
          <a:bodyPr wrap="square" lIns="0" tIns="0" rIns="0" bIns="0" rtlCol="0" anchor="t"/>
          <a:lstStyle/>
          <a:p>
            <a:pPr marL="0" indent="0" algn="l">
              <a:lnSpc>
                <a:spcPct val="115000"/>
              </a:lnSpc>
              <a:buNone/>
            </a:pPr>
            <a:r>
              <a:rPr lang="en-US" sz="1600" b="1" dirty="0">
                <a:solidFill>
                  <a:srgbClr val="566672"/>
                </a:solidFill>
                <a:latin typeface="Calibri" pitchFamily="34" charset="0"/>
                <a:ea typeface="Calibri" pitchFamily="34" charset="-122"/>
                <a:cs typeface="Calibri" pitchFamily="34" charset="-120"/>
              </a:rPr>
              <a:t>The idea</a:t>
            </a:r>
            <a:endParaRPr lang="en-US" sz="1600" dirty="0"/>
          </a:p>
        </p:txBody>
      </p:sp>
      <p:sp>
        <p:nvSpPr>
          <p:cNvPr id="7" name="Text 5"/>
          <p:cNvSpPr txBox="1"/>
          <p:nvPr/>
        </p:nvSpPr>
        <p:spPr>
          <a:xfrm>
            <a:off x="2606040" y="1865376"/>
            <a:ext cx="8595360" cy="310896"/>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Čapek names it from robota, forced labour; cybernetics gives machines feedback.</a:t>
            </a:r>
            <a:endParaRPr lang="en-US" sz="1500" dirty="0"/>
          </a:p>
        </p:txBody>
      </p:sp>
      <p:sp>
        <p:nvSpPr>
          <p:cNvPr id="8" name="Shape 6"/>
          <p:cNvSpPr/>
          <p:nvPr/>
        </p:nvSpPr>
        <p:spPr>
          <a:xfrm>
            <a:off x="640080" y="2258568"/>
            <a:ext cx="10927080" cy="749808"/>
          </a:xfrm>
          <a:prstGeom prst="roundRect">
            <a:avLst>
              <a:gd name="adj" fmla="val 7317"/>
            </a:avLst>
          </a:prstGeom>
          <a:solidFill>
            <a:srgbClr val="E1EFF2"/>
          </a:solidFill>
          <a:ln w="9525">
            <a:solidFill>
              <a:srgbClr val="BCD8DE"/>
            </a:solidFill>
            <a:prstDash val="solid"/>
          </a:ln>
        </p:spPr>
      </p:sp>
      <p:sp>
        <p:nvSpPr>
          <p:cNvPr id="9" name="Text 7"/>
          <p:cNvSpPr txBox="1"/>
          <p:nvPr/>
        </p:nvSpPr>
        <p:spPr>
          <a:xfrm>
            <a:off x="868680" y="2395728"/>
            <a:ext cx="1600200" cy="457200"/>
          </a:xfrm>
          <a:prstGeom prst="rect">
            <a:avLst/>
          </a:prstGeom>
          <a:noFill/>
          <a:ln/>
        </p:spPr>
        <p:txBody>
          <a:bodyPr wrap="square" lIns="0" tIns="0" rIns="0" bIns="0" rtlCol="0" anchor="ctr"/>
          <a:lstStyle/>
          <a:p>
            <a:pPr marL="0" indent="0">
              <a:buNone/>
            </a:pPr>
            <a:r>
              <a:rPr lang="en-US" sz="2000" b="1" dirty="0">
                <a:solidFill>
                  <a:srgbClr val="0F7186"/>
                </a:solidFill>
                <a:latin typeface="Cambria" pitchFamily="34" charset="0"/>
                <a:ea typeface="Cambria" pitchFamily="34" charset="-122"/>
                <a:cs typeface="Cambria" pitchFamily="34" charset="-120"/>
              </a:rPr>
              <a:t>1954–70s</a:t>
            </a:r>
            <a:endParaRPr lang="en-US" sz="2000" dirty="0"/>
          </a:p>
        </p:txBody>
      </p:sp>
      <p:sp>
        <p:nvSpPr>
          <p:cNvPr id="10" name="Text 8"/>
          <p:cNvSpPr txBox="1"/>
          <p:nvPr/>
        </p:nvSpPr>
        <p:spPr>
          <a:xfrm>
            <a:off x="2606040" y="2350008"/>
            <a:ext cx="2743200" cy="310896"/>
          </a:xfrm>
          <a:prstGeom prst="rect">
            <a:avLst/>
          </a:prstGeom>
          <a:noFill/>
          <a:ln/>
        </p:spPr>
        <p:txBody>
          <a:bodyPr wrap="square" lIns="0" tIns="0" rIns="0" bIns="0" rtlCol="0" anchor="t"/>
          <a:lstStyle/>
          <a:p>
            <a:pPr marL="0" indent="0" algn="l">
              <a:lnSpc>
                <a:spcPct val="115000"/>
              </a:lnSpc>
              <a:buNone/>
            </a:pPr>
            <a:r>
              <a:rPr lang="en-US" sz="1600" b="1" dirty="0">
                <a:solidFill>
                  <a:srgbClr val="0F7186"/>
                </a:solidFill>
                <a:latin typeface="Calibri" pitchFamily="34" charset="0"/>
                <a:ea typeface="Calibri" pitchFamily="34" charset="-122"/>
                <a:cs typeface="Calibri" pitchFamily="34" charset="-120"/>
              </a:rPr>
              <a:t>The arm</a:t>
            </a:r>
            <a:endParaRPr lang="en-US" sz="1600" dirty="0"/>
          </a:p>
        </p:txBody>
      </p:sp>
      <p:sp>
        <p:nvSpPr>
          <p:cNvPr id="11" name="Text 9"/>
          <p:cNvSpPr txBox="1"/>
          <p:nvPr/>
        </p:nvSpPr>
        <p:spPr>
          <a:xfrm>
            <a:off x="2606040" y="2660904"/>
            <a:ext cx="8595360" cy="310896"/>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Unimate at a GM plant: one motion, repeated, in a jig that never moves.</a:t>
            </a:r>
            <a:endParaRPr lang="en-US" sz="1500" dirty="0"/>
          </a:p>
        </p:txBody>
      </p:sp>
      <p:sp>
        <p:nvSpPr>
          <p:cNvPr id="12" name="Shape 10"/>
          <p:cNvSpPr/>
          <p:nvPr/>
        </p:nvSpPr>
        <p:spPr>
          <a:xfrm>
            <a:off x="640080" y="3054096"/>
            <a:ext cx="10927080" cy="749808"/>
          </a:xfrm>
          <a:prstGeom prst="roundRect">
            <a:avLst>
              <a:gd name="adj" fmla="val 7317"/>
            </a:avLst>
          </a:prstGeom>
          <a:solidFill>
            <a:srgbClr val="FAF0DA"/>
          </a:solidFill>
          <a:ln w="9525">
            <a:solidFill>
              <a:srgbClr val="E5D3A6"/>
            </a:solidFill>
            <a:prstDash val="solid"/>
          </a:ln>
        </p:spPr>
      </p:sp>
      <p:sp>
        <p:nvSpPr>
          <p:cNvPr id="13" name="Text 11"/>
          <p:cNvSpPr txBox="1"/>
          <p:nvPr/>
        </p:nvSpPr>
        <p:spPr>
          <a:xfrm>
            <a:off x="868680" y="3191256"/>
            <a:ext cx="1600200" cy="457200"/>
          </a:xfrm>
          <a:prstGeom prst="rect">
            <a:avLst/>
          </a:prstGeom>
          <a:noFill/>
          <a:ln/>
        </p:spPr>
        <p:txBody>
          <a:bodyPr wrap="square" lIns="0" tIns="0" rIns="0" bIns="0" rtlCol="0" anchor="ctr"/>
          <a:lstStyle/>
          <a:p>
            <a:pPr marL="0" indent="0">
              <a:buNone/>
            </a:pPr>
            <a:r>
              <a:rPr lang="en-US" sz="2000" b="1" dirty="0">
                <a:solidFill>
                  <a:srgbClr val="B77B0C"/>
                </a:solidFill>
                <a:latin typeface="Cambria" pitchFamily="34" charset="0"/>
                <a:ea typeface="Cambria" pitchFamily="34" charset="-122"/>
                <a:cs typeface="Cambria" pitchFamily="34" charset="-120"/>
              </a:rPr>
              <a:t>1966–72</a:t>
            </a:r>
            <a:endParaRPr lang="en-US" sz="2000" dirty="0"/>
          </a:p>
        </p:txBody>
      </p:sp>
      <p:sp>
        <p:nvSpPr>
          <p:cNvPr id="14" name="Text 12"/>
          <p:cNvSpPr txBox="1"/>
          <p:nvPr/>
        </p:nvSpPr>
        <p:spPr>
          <a:xfrm>
            <a:off x="2606040" y="3145536"/>
            <a:ext cx="2743200" cy="310896"/>
          </a:xfrm>
          <a:prstGeom prst="rect">
            <a:avLst/>
          </a:prstGeom>
          <a:noFill/>
          <a:ln/>
        </p:spPr>
        <p:txBody>
          <a:bodyPr wrap="square" lIns="0" tIns="0" rIns="0" bIns="0" rtlCol="0" anchor="t"/>
          <a:lstStyle/>
          <a:p>
            <a:pPr marL="0" indent="0" algn="l">
              <a:lnSpc>
                <a:spcPct val="115000"/>
              </a:lnSpc>
              <a:buNone/>
            </a:pPr>
            <a:r>
              <a:rPr lang="en-US" sz="1600" b="1" dirty="0">
                <a:solidFill>
                  <a:srgbClr val="B77B0C"/>
                </a:solidFill>
                <a:latin typeface="Calibri" pitchFamily="34" charset="0"/>
                <a:ea typeface="Calibri" pitchFamily="34" charset="-122"/>
                <a:cs typeface="Calibri" pitchFamily="34" charset="-120"/>
              </a:rPr>
              <a:t>The first thinker</a:t>
            </a:r>
            <a:endParaRPr lang="en-US" sz="1600" dirty="0"/>
          </a:p>
        </p:txBody>
      </p:sp>
      <p:sp>
        <p:nvSpPr>
          <p:cNvPr id="15" name="Text 13"/>
          <p:cNvSpPr txBox="1"/>
          <p:nvPr/>
        </p:nvSpPr>
        <p:spPr>
          <a:xfrm>
            <a:off x="2606040" y="3456432"/>
            <a:ext cx="8595360" cy="310896"/>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SRI's Shakey plans multi-step tasks — and still cannot pick up a mug.</a:t>
            </a:r>
            <a:endParaRPr lang="en-US" sz="1500" dirty="0"/>
          </a:p>
        </p:txBody>
      </p:sp>
      <p:sp>
        <p:nvSpPr>
          <p:cNvPr id="16" name="Shape 14"/>
          <p:cNvSpPr/>
          <p:nvPr/>
        </p:nvSpPr>
        <p:spPr>
          <a:xfrm>
            <a:off x="640080" y="3849624"/>
            <a:ext cx="10927080" cy="749808"/>
          </a:xfrm>
          <a:prstGeom prst="roundRect">
            <a:avLst>
              <a:gd name="adj" fmla="val 7317"/>
            </a:avLst>
          </a:prstGeom>
          <a:solidFill>
            <a:srgbClr val="E2F0EA"/>
          </a:solidFill>
          <a:ln w="9525">
            <a:solidFill>
              <a:srgbClr val="BEDACE"/>
            </a:solidFill>
            <a:prstDash val="solid"/>
          </a:ln>
        </p:spPr>
      </p:sp>
      <p:sp>
        <p:nvSpPr>
          <p:cNvPr id="17" name="Text 15"/>
          <p:cNvSpPr txBox="1"/>
          <p:nvPr/>
        </p:nvSpPr>
        <p:spPr>
          <a:xfrm>
            <a:off x="868680" y="3986784"/>
            <a:ext cx="1600200" cy="457200"/>
          </a:xfrm>
          <a:prstGeom prst="rect">
            <a:avLst/>
          </a:prstGeom>
          <a:noFill/>
          <a:ln/>
        </p:spPr>
        <p:txBody>
          <a:bodyPr wrap="square" lIns="0" tIns="0" rIns="0" bIns="0" rtlCol="0" anchor="ctr"/>
          <a:lstStyle/>
          <a:p>
            <a:pPr marL="0" indent="0">
              <a:buNone/>
            </a:pPr>
            <a:r>
              <a:rPr lang="en-US" sz="2000" b="1" dirty="0">
                <a:solidFill>
                  <a:srgbClr val="1F7A55"/>
                </a:solidFill>
                <a:latin typeface="Cambria" pitchFamily="34" charset="0"/>
                <a:ea typeface="Cambria" pitchFamily="34" charset="-122"/>
                <a:cs typeface="Cambria" pitchFamily="34" charset="-120"/>
              </a:rPr>
              <a:t>1986–2000s</a:t>
            </a:r>
            <a:endParaRPr lang="en-US" sz="2000" dirty="0"/>
          </a:p>
        </p:txBody>
      </p:sp>
      <p:sp>
        <p:nvSpPr>
          <p:cNvPr id="18" name="Text 16"/>
          <p:cNvSpPr txBox="1"/>
          <p:nvPr/>
        </p:nvSpPr>
        <p:spPr>
          <a:xfrm>
            <a:off x="2606040" y="3941064"/>
            <a:ext cx="2743200" cy="310896"/>
          </a:xfrm>
          <a:prstGeom prst="rect">
            <a:avLst/>
          </a:prstGeom>
          <a:noFill/>
          <a:ln/>
        </p:spPr>
        <p:txBody>
          <a:bodyPr wrap="square" lIns="0" tIns="0" rIns="0" bIns="0" rtlCol="0" anchor="t"/>
          <a:lstStyle/>
          <a:p>
            <a:pPr marL="0" indent="0" algn="l">
              <a:lnSpc>
                <a:spcPct val="115000"/>
              </a:lnSpc>
              <a:buNone/>
            </a:pPr>
            <a:r>
              <a:rPr lang="en-US" sz="1600" b="1" dirty="0">
                <a:solidFill>
                  <a:srgbClr val="1F7A55"/>
                </a:solidFill>
                <a:latin typeface="Calibri" pitchFamily="34" charset="0"/>
                <a:ea typeface="Calibri" pitchFamily="34" charset="-122"/>
                <a:cs typeface="Calibri" pitchFamily="34" charset="-120"/>
              </a:rPr>
              <a:t>Sense and react</a:t>
            </a:r>
            <a:endParaRPr lang="en-US" sz="1600" dirty="0"/>
          </a:p>
        </p:txBody>
      </p:sp>
      <p:sp>
        <p:nvSpPr>
          <p:cNvPr id="19" name="Text 17"/>
          <p:cNvSpPr txBox="1"/>
          <p:nvPr/>
        </p:nvSpPr>
        <p:spPr>
          <a:xfrm>
            <a:off x="2606040" y="4251960"/>
            <a:ext cx="8595360" cy="310896"/>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Subsumption, then SLAM: robots that cope with a world they did not model.</a:t>
            </a:r>
            <a:endParaRPr lang="en-US" sz="1500" dirty="0"/>
          </a:p>
        </p:txBody>
      </p:sp>
      <p:sp>
        <p:nvSpPr>
          <p:cNvPr id="20" name="Shape 18"/>
          <p:cNvSpPr/>
          <p:nvPr/>
        </p:nvSpPr>
        <p:spPr>
          <a:xfrm>
            <a:off x="640080" y="4645152"/>
            <a:ext cx="10927080" cy="749808"/>
          </a:xfrm>
          <a:prstGeom prst="roundRect">
            <a:avLst>
              <a:gd name="adj" fmla="val 7317"/>
            </a:avLst>
          </a:prstGeom>
          <a:solidFill>
            <a:srgbClr val="EFE9F7"/>
          </a:solidFill>
          <a:ln w="9525">
            <a:solidFill>
              <a:srgbClr val="D9CDE9"/>
            </a:solidFill>
            <a:prstDash val="solid"/>
          </a:ln>
        </p:spPr>
      </p:sp>
      <p:sp>
        <p:nvSpPr>
          <p:cNvPr id="21" name="Text 19"/>
          <p:cNvSpPr txBox="1"/>
          <p:nvPr/>
        </p:nvSpPr>
        <p:spPr>
          <a:xfrm>
            <a:off x="868680" y="4782312"/>
            <a:ext cx="1600200" cy="457200"/>
          </a:xfrm>
          <a:prstGeom prst="rect">
            <a:avLst/>
          </a:prstGeom>
          <a:noFill/>
          <a:ln/>
        </p:spPr>
        <p:txBody>
          <a:bodyPr wrap="square" lIns="0" tIns="0" rIns="0" bIns="0" rtlCol="0" anchor="ctr"/>
          <a:lstStyle/>
          <a:p>
            <a:pPr marL="0" indent="0">
              <a:buNone/>
            </a:pPr>
            <a:r>
              <a:rPr lang="en-US" sz="2000" b="1" dirty="0">
                <a:solidFill>
                  <a:srgbClr val="6A3FA0"/>
                </a:solidFill>
                <a:latin typeface="Cambria" pitchFamily="34" charset="0"/>
                <a:ea typeface="Cambria" pitchFamily="34" charset="-122"/>
                <a:cs typeface="Cambria" pitchFamily="34" charset="-120"/>
              </a:rPr>
              <a:t>2005–15</a:t>
            </a:r>
            <a:endParaRPr lang="en-US" sz="2000" dirty="0"/>
          </a:p>
        </p:txBody>
      </p:sp>
      <p:sp>
        <p:nvSpPr>
          <p:cNvPr id="22" name="Text 20"/>
          <p:cNvSpPr txBox="1"/>
          <p:nvPr/>
        </p:nvSpPr>
        <p:spPr>
          <a:xfrm>
            <a:off x="2606040" y="4736592"/>
            <a:ext cx="2743200" cy="310896"/>
          </a:xfrm>
          <a:prstGeom prst="rect">
            <a:avLst/>
          </a:prstGeom>
          <a:noFill/>
          <a:ln/>
        </p:spPr>
        <p:txBody>
          <a:bodyPr wrap="square" lIns="0" tIns="0" rIns="0" bIns="0" rtlCol="0" anchor="t"/>
          <a:lstStyle/>
          <a:p>
            <a:pPr marL="0" indent="0" algn="l">
              <a:lnSpc>
                <a:spcPct val="115000"/>
              </a:lnSpc>
              <a:buNone/>
            </a:pPr>
            <a:r>
              <a:rPr lang="en-US" sz="1600" b="1" dirty="0">
                <a:solidFill>
                  <a:srgbClr val="6A3FA0"/>
                </a:solidFill>
                <a:latin typeface="Calibri" pitchFamily="34" charset="0"/>
                <a:ea typeface="Calibri" pitchFamily="34" charset="-122"/>
                <a:cs typeface="Calibri" pitchFamily="34" charset="-120"/>
              </a:rPr>
              <a:t>Autonomy at scale</a:t>
            </a:r>
            <a:endParaRPr lang="en-US" sz="1600" dirty="0"/>
          </a:p>
        </p:txBody>
      </p:sp>
      <p:sp>
        <p:nvSpPr>
          <p:cNvPr id="23" name="Text 21"/>
          <p:cNvSpPr txBox="1"/>
          <p:nvPr/>
        </p:nvSpPr>
        <p:spPr>
          <a:xfrm>
            <a:off x="2606040" y="5047488"/>
            <a:ext cx="8595360" cy="310896"/>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DARPA Grand Challenge, ROS, and deep learning finally cracks vision.</a:t>
            </a:r>
            <a:endParaRPr lang="en-US" sz="1500" dirty="0"/>
          </a:p>
        </p:txBody>
      </p:sp>
      <p:sp>
        <p:nvSpPr>
          <p:cNvPr id="24" name="Shape 22"/>
          <p:cNvSpPr/>
          <p:nvPr/>
        </p:nvSpPr>
        <p:spPr>
          <a:xfrm>
            <a:off x="640080" y="5440680"/>
            <a:ext cx="10927080" cy="749808"/>
          </a:xfrm>
          <a:prstGeom prst="roundRect">
            <a:avLst>
              <a:gd name="adj" fmla="val 7317"/>
            </a:avLst>
          </a:prstGeom>
          <a:solidFill>
            <a:srgbClr val="FBEBE1"/>
          </a:solidFill>
          <a:ln w="9525">
            <a:solidFill>
              <a:srgbClr val="EBC7B0"/>
            </a:solidFill>
            <a:prstDash val="solid"/>
          </a:ln>
        </p:spPr>
      </p:sp>
      <p:sp>
        <p:nvSpPr>
          <p:cNvPr id="25" name="Text 23"/>
          <p:cNvSpPr txBox="1"/>
          <p:nvPr/>
        </p:nvSpPr>
        <p:spPr>
          <a:xfrm>
            <a:off x="868680" y="5577840"/>
            <a:ext cx="1600200" cy="457200"/>
          </a:xfrm>
          <a:prstGeom prst="rect">
            <a:avLst/>
          </a:prstGeom>
          <a:noFill/>
          <a:ln/>
        </p:spPr>
        <p:txBody>
          <a:bodyPr wrap="square" lIns="0" tIns="0" rIns="0" bIns="0" rtlCol="0" anchor="ctr"/>
          <a:lstStyle/>
          <a:p>
            <a:pPr marL="0" indent="0">
              <a:buNone/>
            </a:pPr>
            <a:r>
              <a:rPr lang="en-US" sz="2000" b="1" dirty="0">
                <a:solidFill>
                  <a:srgbClr val="C2571E"/>
                </a:solidFill>
                <a:latin typeface="Cambria" pitchFamily="34" charset="0"/>
                <a:ea typeface="Cambria" pitchFamily="34" charset="-122"/>
                <a:cs typeface="Cambria" pitchFamily="34" charset="-120"/>
              </a:rPr>
              <a:t>2022–</a:t>
            </a:r>
            <a:endParaRPr lang="en-US" sz="2000" dirty="0"/>
          </a:p>
        </p:txBody>
      </p:sp>
      <p:sp>
        <p:nvSpPr>
          <p:cNvPr id="26" name="Text 24"/>
          <p:cNvSpPr txBox="1"/>
          <p:nvPr/>
        </p:nvSpPr>
        <p:spPr>
          <a:xfrm>
            <a:off x="2606040" y="5532120"/>
            <a:ext cx="2743200" cy="310896"/>
          </a:xfrm>
          <a:prstGeom prst="rect">
            <a:avLst/>
          </a:prstGeom>
          <a:noFill/>
          <a:ln/>
        </p:spPr>
        <p:txBody>
          <a:bodyPr wrap="square" lIns="0" tIns="0" rIns="0" bIns="0" rtlCol="0" anchor="t"/>
          <a:lstStyle/>
          <a:p>
            <a:pPr marL="0" indent="0" algn="l">
              <a:lnSpc>
                <a:spcPct val="115000"/>
              </a:lnSpc>
              <a:buNone/>
            </a:pPr>
            <a:r>
              <a:rPr lang="en-US" sz="1600" b="1" dirty="0">
                <a:solidFill>
                  <a:srgbClr val="C2571E"/>
                </a:solidFill>
                <a:latin typeface="Calibri" pitchFamily="34" charset="0"/>
                <a:ea typeface="Calibri" pitchFamily="34" charset="-122"/>
                <a:cs typeface="Calibri" pitchFamily="34" charset="-120"/>
              </a:rPr>
              <a:t>Instructable robots</a:t>
            </a:r>
            <a:endParaRPr lang="en-US" sz="1600" dirty="0"/>
          </a:p>
        </p:txBody>
      </p:sp>
      <p:sp>
        <p:nvSpPr>
          <p:cNvPr id="27" name="Text 25"/>
          <p:cNvSpPr txBox="1"/>
          <p:nvPr/>
        </p:nvSpPr>
        <p:spPr>
          <a:xfrm>
            <a:off x="2606040" y="5843016"/>
            <a:ext cx="8595360" cy="310896"/>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Foundation models arrive already knowing the world; you speak to them.</a:t>
            </a:r>
            <a:endParaRPr lang="en-US" sz="1500" dirty="0"/>
          </a:p>
        </p:txBody>
      </p:sp>
      <p:sp>
        <p:nvSpPr>
          <p:cNvPr id="28" name="Shape 26"/>
          <p:cNvSpPr/>
          <p:nvPr/>
        </p:nvSpPr>
        <p:spPr>
          <a:xfrm>
            <a:off x="640080" y="6263640"/>
            <a:ext cx="10927080" cy="457200"/>
          </a:xfrm>
          <a:prstGeom prst="roundRect">
            <a:avLst>
              <a:gd name="adj" fmla="val 12000"/>
            </a:avLst>
          </a:prstGeom>
          <a:solidFill>
            <a:srgbClr val="10202B"/>
          </a:solidFill>
          <a:ln/>
        </p:spPr>
      </p:sp>
      <p:sp>
        <p:nvSpPr>
          <p:cNvPr id="29" name="Text 27"/>
          <p:cNvSpPr txBox="1"/>
          <p:nvPr/>
        </p:nvSpPr>
        <p:spPr>
          <a:xfrm>
            <a:off x="960120" y="6263640"/>
            <a:ext cx="10287000" cy="45720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Task planning got a body in 1972. Seeing and handling took another forty years — that is the whole story.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WHAT ACTUALLY MOVED IT</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Eight techniques, still all in use</a:t>
            </a:r>
            <a:endParaRPr lang="en-US" sz="3800" dirty="0"/>
          </a:p>
        </p:txBody>
      </p:sp>
      <p:sp>
        <p:nvSpPr>
          <p:cNvPr id="4" name="Shape 2"/>
          <p:cNvSpPr/>
          <p:nvPr/>
        </p:nvSpPr>
        <p:spPr>
          <a:xfrm>
            <a:off x="640080" y="1463040"/>
            <a:ext cx="5303520" cy="1051560"/>
          </a:xfrm>
          <a:prstGeom prst="roundRect">
            <a:avLst>
              <a:gd name="adj" fmla="val 5217"/>
            </a:avLst>
          </a:prstGeom>
          <a:solidFill>
            <a:srgbClr val="E1EFF2"/>
          </a:solidFill>
          <a:ln w="9525">
            <a:solidFill>
              <a:srgbClr val="BCD8DE"/>
            </a:solidFill>
            <a:prstDash val="solid"/>
          </a:ln>
        </p:spPr>
      </p:sp>
      <p:sp>
        <p:nvSpPr>
          <p:cNvPr id="5" name="Text 3"/>
          <p:cNvSpPr txBox="1"/>
          <p:nvPr/>
        </p:nvSpPr>
        <p:spPr>
          <a:xfrm>
            <a:off x="896112" y="1572768"/>
            <a:ext cx="3566160" cy="310896"/>
          </a:xfrm>
          <a:prstGeom prst="rect">
            <a:avLst/>
          </a:prstGeom>
          <a:noFill/>
          <a:ln/>
        </p:spPr>
        <p:txBody>
          <a:bodyPr wrap="square" lIns="0" tIns="0" rIns="0" bIns="0" rtlCol="0" anchor="t"/>
          <a:lstStyle/>
          <a:p>
            <a:pPr marL="0" indent="0" algn="l">
              <a:lnSpc>
                <a:spcPct val="115000"/>
              </a:lnSpc>
              <a:buNone/>
            </a:pPr>
            <a:r>
              <a:rPr lang="en-US" sz="1600" b="1" dirty="0">
                <a:solidFill>
                  <a:srgbClr val="0F7186"/>
                </a:solidFill>
                <a:latin typeface="Calibri" pitchFamily="34" charset="0"/>
                <a:ea typeface="Calibri" pitchFamily="34" charset="-122"/>
                <a:cs typeface="Calibri" pitchFamily="34" charset="-120"/>
              </a:rPr>
              <a:t>Feedback control</a:t>
            </a:r>
            <a:endParaRPr lang="en-US" sz="1600" dirty="0"/>
          </a:p>
        </p:txBody>
      </p:sp>
      <p:sp>
        <p:nvSpPr>
          <p:cNvPr id="6" name="Text 4"/>
          <p:cNvSpPr txBox="1"/>
          <p:nvPr/>
        </p:nvSpPr>
        <p:spPr>
          <a:xfrm>
            <a:off x="4297680" y="1591056"/>
            <a:ext cx="1417320" cy="274320"/>
          </a:xfrm>
          <a:prstGeom prst="rect">
            <a:avLst/>
          </a:prstGeom>
          <a:noFill/>
          <a:ln/>
        </p:spPr>
        <p:txBody>
          <a:bodyPr wrap="square" lIns="0" tIns="0" rIns="0" bIns="0" rtlCol="0" anchor="t"/>
          <a:lstStyle/>
          <a:p>
            <a:pPr marL="0" indent="0" algn="r">
              <a:lnSpc>
                <a:spcPct val="115000"/>
              </a:lnSpc>
              <a:buNone/>
            </a:pPr>
            <a:r>
              <a:rPr lang="en-US" sz="1500" i="1" dirty="0">
                <a:solidFill>
                  <a:srgbClr val="566672"/>
                </a:solidFill>
                <a:latin typeface="Calibri" pitchFamily="34" charset="0"/>
                <a:ea typeface="Calibri" pitchFamily="34" charset="-122"/>
                <a:cs typeface="Calibri" pitchFamily="34" charset="-120"/>
              </a:rPr>
              <a:t>1950s</a:t>
            </a:r>
            <a:endParaRPr lang="en-US" sz="1500" dirty="0"/>
          </a:p>
        </p:txBody>
      </p:sp>
      <p:sp>
        <p:nvSpPr>
          <p:cNvPr id="7" name="Text 5"/>
          <p:cNvSpPr txBox="1"/>
          <p:nvPr/>
        </p:nvSpPr>
        <p:spPr>
          <a:xfrm>
            <a:off x="896112" y="1920240"/>
            <a:ext cx="4800600" cy="5029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PID holds a joint where you put it. The bottom layer of every robot ever built.</a:t>
            </a:r>
            <a:endParaRPr lang="en-US" sz="1500" dirty="0"/>
          </a:p>
        </p:txBody>
      </p:sp>
      <p:sp>
        <p:nvSpPr>
          <p:cNvPr id="8" name="Shape 6"/>
          <p:cNvSpPr/>
          <p:nvPr/>
        </p:nvSpPr>
        <p:spPr>
          <a:xfrm>
            <a:off x="6263640" y="1463040"/>
            <a:ext cx="5303520" cy="1051560"/>
          </a:xfrm>
          <a:prstGeom prst="roundRect">
            <a:avLst>
              <a:gd name="adj" fmla="val 5217"/>
            </a:avLst>
          </a:prstGeom>
          <a:solidFill>
            <a:srgbClr val="E1EFF2"/>
          </a:solidFill>
          <a:ln w="9525">
            <a:solidFill>
              <a:srgbClr val="BCD8DE"/>
            </a:solidFill>
            <a:prstDash val="solid"/>
          </a:ln>
        </p:spPr>
      </p:sp>
      <p:sp>
        <p:nvSpPr>
          <p:cNvPr id="9" name="Text 7"/>
          <p:cNvSpPr txBox="1"/>
          <p:nvPr/>
        </p:nvSpPr>
        <p:spPr>
          <a:xfrm>
            <a:off x="6519672" y="1572768"/>
            <a:ext cx="3566160" cy="310896"/>
          </a:xfrm>
          <a:prstGeom prst="rect">
            <a:avLst/>
          </a:prstGeom>
          <a:noFill/>
          <a:ln/>
        </p:spPr>
        <p:txBody>
          <a:bodyPr wrap="square" lIns="0" tIns="0" rIns="0" bIns="0" rtlCol="0" anchor="t"/>
          <a:lstStyle/>
          <a:p>
            <a:pPr marL="0" indent="0" algn="l">
              <a:lnSpc>
                <a:spcPct val="115000"/>
              </a:lnSpc>
              <a:buNone/>
            </a:pPr>
            <a:r>
              <a:rPr lang="en-US" sz="1600" b="1" dirty="0">
                <a:solidFill>
                  <a:srgbClr val="0F7186"/>
                </a:solidFill>
                <a:latin typeface="Calibri" pitchFamily="34" charset="0"/>
                <a:ea typeface="Calibri" pitchFamily="34" charset="-122"/>
                <a:cs typeface="Calibri" pitchFamily="34" charset="-120"/>
              </a:rPr>
              <a:t>Teach and repeat</a:t>
            </a:r>
            <a:endParaRPr lang="en-US" sz="1600" dirty="0"/>
          </a:p>
        </p:txBody>
      </p:sp>
      <p:sp>
        <p:nvSpPr>
          <p:cNvPr id="10" name="Text 8"/>
          <p:cNvSpPr txBox="1"/>
          <p:nvPr/>
        </p:nvSpPr>
        <p:spPr>
          <a:xfrm>
            <a:off x="9921240" y="1591056"/>
            <a:ext cx="1417320" cy="274320"/>
          </a:xfrm>
          <a:prstGeom prst="rect">
            <a:avLst/>
          </a:prstGeom>
          <a:noFill/>
          <a:ln/>
        </p:spPr>
        <p:txBody>
          <a:bodyPr wrap="square" lIns="0" tIns="0" rIns="0" bIns="0" rtlCol="0" anchor="t"/>
          <a:lstStyle/>
          <a:p>
            <a:pPr marL="0" indent="0" algn="r">
              <a:lnSpc>
                <a:spcPct val="115000"/>
              </a:lnSpc>
              <a:buNone/>
            </a:pPr>
            <a:r>
              <a:rPr lang="en-US" sz="1500" i="1" dirty="0">
                <a:solidFill>
                  <a:srgbClr val="566672"/>
                </a:solidFill>
                <a:latin typeface="Calibri" pitchFamily="34" charset="0"/>
                <a:ea typeface="Calibri" pitchFamily="34" charset="-122"/>
                <a:cs typeface="Calibri" pitchFamily="34" charset="-120"/>
              </a:rPr>
              <a:t>1960s</a:t>
            </a:r>
            <a:endParaRPr lang="en-US" sz="1500" dirty="0"/>
          </a:p>
        </p:txBody>
      </p:sp>
      <p:sp>
        <p:nvSpPr>
          <p:cNvPr id="11" name="Text 9"/>
          <p:cNvSpPr txBox="1"/>
          <p:nvPr/>
        </p:nvSpPr>
        <p:spPr>
          <a:xfrm>
            <a:off x="6519672" y="1920240"/>
            <a:ext cx="4800600" cy="5029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Record a trajectory, play it back. Exact, cheap, and helpless if anything moves.</a:t>
            </a:r>
            <a:endParaRPr lang="en-US" sz="1500" dirty="0"/>
          </a:p>
        </p:txBody>
      </p:sp>
      <p:sp>
        <p:nvSpPr>
          <p:cNvPr id="12" name="Shape 10"/>
          <p:cNvSpPr/>
          <p:nvPr/>
        </p:nvSpPr>
        <p:spPr>
          <a:xfrm>
            <a:off x="640080" y="2578608"/>
            <a:ext cx="5303520" cy="1051560"/>
          </a:xfrm>
          <a:prstGeom prst="roundRect">
            <a:avLst>
              <a:gd name="adj" fmla="val 5217"/>
            </a:avLst>
          </a:prstGeom>
          <a:solidFill>
            <a:srgbClr val="FAF0DA"/>
          </a:solidFill>
          <a:ln w="9525">
            <a:solidFill>
              <a:srgbClr val="E5D3A6"/>
            </a:solidFill>
            <a:prstDash val="solid"/>
          </a:ln>
        </p:spPr>
      </p:sp>
      <p:sp>
        <p:nvSpPr>
          <p:cNvPr id="13" name="Text 11"/>
          <p:cNvSpPr txBox="1"/>
          <p:nvPr/>
        </p:nvSpPr>
        <p:spPr>
          <a:xfrm>
            <a:off x="896112" y="2688336"/>
            <a:ext cx="3566160" cy="310896"/>
          </a:xfrm>
          <a:prstGeom prst="rect">
            <a:avLst/>
          </a:prstGeom>
          <a:noFill/>
          <a:ln/>
        </p:spPr>
        <p:txBody>
          <a:bodyPr wrap="square" lIns="0" tIns="0" rIns="0" bIns="0" rtlCol="0" anchor="t"/>
          <a:lstStyle/>
          <a:p>
            <a:pPr marL="0" indent="0" algn="l">
              <a:lnSpc>
                <a:spcPct val="115000"/>
              </a:lnSpc>
              <a:buNone/>
            </a:pPr>
            <a:r>
              <a:rPr lang="en-US" sz="1600" b="1" dirty="0">
                <a:solidFill>
                  <a:srgbClr val="B77B0C"/>
                </a:solidFill>
                <a:latin typeface="Calibri" pitchFamily="34" charset="0"/>
                <a:ea typeface="Calibri" pitchFamily="34" charset="-122"/>
                <a:cs typeface="Calibri" pitchFamily="34" charset="-120"/>
              </a:rPr>
              <a:t>Planning and search</a:t>
            </a:r>
            <a:endParaRPr lang="en-US" sz="1600" dirty="0"/>
          </a:p>
        </p:txBody>
      </p:sp>
      <p:sp>
        <p:nvSpPr>
          <p:cNvPr id="14" name="Text 12"/>
          <p:cNvSpPr txBox="1"/>
          <p:nvPr/>
        </p:nvSpPr>
        <p:spPr>
          <a:xfrm>
            <a:off x="4297680" y="2706624"/>
            <a:ext cx="1417320" cy="274320"/>
          </a:xfrm>
          <a:prstGeom prst="rect">
            <a:avLst/>
          </a:prstGeom>
          <a:noFill/>
          <a:ln/>
        </p:spPr>
        <p:txBody>
          <a:bodyPr wrap="square" lIns="0" tIns="0" rIns="0" bIns="0" rtlCol="0" anchor="t"/>
          <a:lstStyle/>
          <a:p>
            <a:pPr marL="0" indent="0" algn="r">
              <a:lnSpc>
                <a:spcPct val="115000"/>
              </a:lnSpc>
              <a:buNone/>
            </a:pPr>
            <a:r>
              <a:rPr lang="en-US" sz="1500" i="1" dirty="0">
                <a:solidFill>
                  <a:srgbClr val="566672"/>
                </a:solidFill>
                <a:latin typeface="Calibri" pitchFamily="34" charset="0"/>
                <a:ea typeface="Calibri" pitchFamily="34" charset="-122"/>
                <a:cs typeface="Calibri" pitchFamily="34" charset="-120"/>
              </a:rPr>
              <a:t>1970s–90s</a:t>
            </a:r>
            <a:endParaRPr lang="en-US" sz="1500" dirty="0"/>
          </a:p>
        </p:txBody>
      </p:sp>
      <p:sp>
        <p:nvSpPr>
          <p:cNvPr id="15" name="Text 13"/>
          <p:cNvSpPr txBox="1"/>
          <p:nvPr/>
        </p:nvSpPr>
        <p:spPr>
          <a:xfrm>
            <a:off x="896112" y="3035808"/>
            <a:ext cx="4800600" cy="5029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STRIPS and A*, later RRT: reasoning about actions, then routes through clutter.</a:t>
            </a:r>
            <a:endParaRPr lang="en-US" sz="1500" dirty="0"/>
          </a:p>
        </p:txBody>
      </p:sp>
      <p:sp>
        <p:nvSpPr>
          <p:cNvPr id="16" name="Shape 14"/>
          <p:cNvSpPr/>
          <p:nvPr/>
        </p:nvSpPr>
        <p:spPr>
          <a:xfrm>
            <a:off x="6263640" y="2578608"/>
            <a:ext cx="5303520" cy="1051560"/>
          </a:xfrm>
          <a:prstGeom prst="roundRect">
            <a:avLst>
              <a:gd name="adj" fmla="val 5217"/>
            </a:avLst>
          </a:prstGeom>
          <a:solidFill>
            <a:srgbClr val="FAF0DA"/>
          </a:solidFill>
          <a:ln w="9525">
            <a:solidFill>
              <a:srgbClr val="E5D3A6"/>
            </a:solidFill>
            <a:prstDash val="solid"/>
          </a:ln>
        </p:spPr>
      </p:sp>
      <p:sp>
        <p:nvSpPr>
          <p:cNvPr id="17" name="Text 15"/>
          <p:cNvSpPr txBox="1"/>
          <p:nvPr/>
        </p:nvSpPr>
        <p:spPr>
          <a:xfrm>
            <a:off x="6519672" y="2688336"/>
            <a:ext cx="3566160" cy="310896"/>
          </a:xfrm>
          <a:prstGeom prst="rect">
            <a:avLst/>
          </a:prstGeom>
          <a:noFill/>
          <a:ln/>
        </p:spPr>
        <p:txBody>
          <a:bodyPr wrap="square" lIns="0" tIns="0" rIns="0" bIns="0" rtlCol="0" anchor="t"/>
          <a:lstStyle/>
          <a:p>
            <a:pPr marL="0" indent="0" algn="l">
              <a:lnSpc>
                <a:spcPct val="115000"/>
              </a:lnSpc>
              <a:buNone/>
            </a:pPr>
            <a:r>
              <a:rPr lang="en-US" sz="1600" b="1" dirty="0">
                <a:solidFill>
                  <a:srgbClr val="B77B0C"/>
                </a:solidFill>
                <a:latin typeface="Calibri" pitchFamily="34" charset="0"/>
                <a:ea typeface="Calibri" pitchFamily="34" charset="-122"/>
                <a:cs typeface="Calibri" pitchFamily="34" charset="-120"/>
              </a:rPr>
              <a:t>Probabilistic estimation</a:t>
            </a:r>
            <a:endParaRPr lang="en-US" sz="1600" dirty="0"/>
          </a:p>
        </p:txBody>
      </p:sp>
      <p:sp>
        <p:nvSpPr>
          <p:cNvPr id="18" name="Text 16"/>
          <p:cNvSpPr txBox="1"/>
          <p:nvPr/>
        </p:nvSpPr>
        <p:spPr>
          <a:xfrm>
            <a:off x="9921240" y="2706624"/>
            <a:ext cx="1417320" cy="274320"/>
          </a:xfrm>
          <a:prstGeom prst="rect">
            <a:avLst/>
          </a:prstGeom>
          <a:noFill/>
          <a:ln/>
        </p:spPr>
        <p:txBody>
          <a:bodyPr wrap="square" lIns="0" tIns="0" rIns="0" bIns="0" rtlCol="0" anchor="t"/>
          <a:lstStyle/>
          <a:p>
            <a:pPr marL="0" indent="0" algn="r">
              <a:lnSpc>
                <a:spcPct val="115000"/>
              </a:lnSpc>
              <a:buNone/>
            </a:pPr>
            <a:r>
              <a:rPr lang="en-US" sz="1500" i="1" dirty="0">
                <a:solidFill>
                  <a:srgbClr val="566672"/>
                </a:solidFill>
                <a:latin typeface="Calibri" pitchFamily="34" charset="0"/>
                <a:ea typeface="Calibri" pitchFamily="34" charset="-122"/>
                <a:cs typeface="Calibri" pitchFamily="34" charset="-120"/>
              </a:rPr>
              <a:t>1986–2000s</a:t>
            </a:r>
            <a:endParaRPr lang="en-US" sz="1500" dirty="0"/>
          </a:p>
        </p:txBody>
      </p:sp>
      <p:sp>
        <p:nvSpPr>
          <p:cNvPr id="19" name="Text 17"/>
          <p:cNvSpPr txBox="1"/>
          <p:nvPr/>
        </p:nvSpPr>
        <p:spPr>
          <a:xfrm>
            <a:off x="6519672" y="3035808"/>
            <a:ext cx="4800600" cy="5029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Kalman filters and SLAM. The robot finally knows where it is without being told.</a:t>
            </a:r>
            <a:endParaRPr lang="en-US" sz="1500" dirty="0"/>
          </a:p>
        </p:txBody>
      </p:sp>
      <p:sp>
        <p:nvSpPr>
          <p:cNvPr id="20" name="Shape 18"/>
          <p:cNvSpPr/>
          <p:nvPr/>
        </p:nvSpPr>
        <p:spPr>
          <a:xfrm>
            <a:off x="640080" y="3694176"/>
            <a:ext cx="5303520" cy="1051560"/>
          </a:xfrm>
          <a:prstGeom prst="roundRect">
            <a:avLst>
              <a:gd name="adj" fmla="val 5217"/>
            </a:avLst>
          </a:prstGeom>
          <a:solidFill>
            <a:srgbClr val="E2F0EA"/>
          </a:solidFill>
          <a:ln w="9525">
            <a:solidFill>
              <a:srgbClr val="BEDACE"/>
            </a:solidFill>
            <a:prstDash val="solid"/>
          </a:ln>
        </p:spPr>
      </p:sp>
      <p:sp>
        <p:nvSpPr>
          <p:cNvPr id="21" name="Text 19"/>
          <p:cNvSpPr txBox="1"/>
          <p:nvPr/>
        </p:nvSpPr>
        <p:spPr>
          <a:xfrm>
            <a:off x="896112" y="3803904"/>
            <a:ext cx="3566160" cy="310896"/>
          </a:xfrm>
          <a:prstGeom prst="rect">
            <a:avLst/>
          </a:prstGeom>
          <a:noFill/>
          <a:ln/>
        </p:spPr>
        <p:txBody>
          <a:bodyPr wrap="square" lIns="0" tIns="0" rIns="0" bIns="0" rtlCol="0" anchor="t"/>
          <a:lstStyle/>
          <a:p>
            <a:pPr marL="0" indent="0" algn="l">
              <a:lnSpc>
                <a:spcPct val="115000"/>
              </a:lnSpc>
              <a:buNone/>
            </a:pPr>
            <a:r>
              <a:rPr lang="en-US" sz="1600" b="1" dirty="0">
                <a:solidFill>
                  <a:srgbClr val="1F7A55"/>
                </a:solidFill>
                <a:latin typeface="Calibri" pitchFamily="34" charset="0"/>
                <a:ea typeface="Calibri" pitchFamily="34" charset="-122"/>
                <a:cs typeface="Calibri" pitchFamily="34" charset="-120"/>
              </a:rPr>
              <a:t>Open middleware</a:t>
            </a:r>
            <a:endParaRPr lang="en-US" sz="1600" dirty="0"/>
          </a:p>
        </p:txBody>
      </p:sp>
      <p:sp>
        <p:nvSpPr>
          <p:cNvPr id="22" name="Text 20"/>
          <p:cNvSpPr txBox="1"/>
          <p:nvPr/>
        </p:nvSpPr>
        <p:spPr>
          <a:xfrm>
            <a:off x="4297680" y="3822192"/>
            <a:ext cx="1417320" cy="274320"/>
          </a:xfrm>
          <a:prstGeom prst="rect">
            <a:avLst/>
          </a:prstGeom>
          <a:noFill/>
          <a:ln/>
        </p:spPr>
        <p:txBody>
          <a:bodyPr wrap="square" lIns="0" tIns="0" rIns="0" bIns="0" rtlCol="0" anchor="t"/>
          <a:lstStyle/>
          <a:p>
            <a:pPr marL="0" indent="0" algn="r">
              <a:lnSpc>
                <a:spcPct val="115000"/>
              </a:lnSpc>
              <a:buNone/>
            </a:pPr>
            <a:r>
              <a:rPr lang="en-US" sz="1500" i="1" dirty="0">
                <a:solidFill>
                  <a:srgbClr val="566672"/>
                </a:solidFill>
                <a:latin typeface="Calibri" pitchFamily="34" charset="0"/>
                <a:ea typeface="Calibri" pitchFamily="34" charset="-122"/>
                <a:cs typeface="Calibri" pitchFamily="34" charset="-120"/>
              </a:rPr>
              <a:t>2007</a:t>
            </a:r>
            <a:endParaRPr lang="en-US" sz="1500" dirty="0"/>
          </a:p>
        </p:txBody>
      </p:sp>
      <p:sp>
        <p:nvSpPr>
          <p:cNvPr id="23" name="Text 21"/>
          <p:cNvSpPr txBox="1"/>
          <p:nvPr/>
        </p:nvSpPr>
        <p:spPr>
          <a:xfrm>
            <a:off x="896112" y="4151376"/>
            <a:ext cx="4800600" cy="5029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ROS makes drivers, planners and tools reusable across labs instead of rewritten.</a:t>
            </a:r>
            <a:endParaRPr lang="en-US" sz="1500" dirty="0"/>
          </a:p>
        </p:txBody>
      </p:sp>
      <p:sp>
        <p:nvSpPr>
          <p:cNvPr id="24" name="Shape 22"/>
          <p:cNvSpPr/>
          <p:nvPr/>
        </p:nvSpPr>
        <p:spPr>
          <a:xfrm>
            <a:off x="6263640" y="3694176"/>
            <a:ext cx="5303520" cy="1051560"/>
          </a:xfrm>
          <a:prstGeom prst="roundRect">
            <a:avLst>
              <a:gd name="adj" fmla="val 5217"/>
            </a:avLst>
          </a:prstGeom>
          <a:solidFill>
            <a:srgbClr val="EFE9F7"/>
          </a:solidFill>
          <a:ln w="9525">
            <a:solidFill>
              <a:srgbClr val="D9CDE9"/>
            </a:solidFill>
            <a:prstDash val="solid"/>
          </a:ln>
        </p:spPr>
      </p:sp>
      <p:sp>
        <p:nvSpPr>
          <p:cNvPr id="25" name="Text 23"/>
          <p:cNvSpPr txBox="1"/>
          <p:nvPr/>
        </p:nvSpPr>
        <p:spPr>
          <a:xfrm>
            <a:off x="6519672" y="3803904"/>
            <a:ext cx="3566160" cy="310896"/>
          </a:xfrm>
          <a:prstGeom prst="rect">
            <a:avLst/>
          </a:prstGeom>
          <a:noFill/>
          <a:ln/>
        </p:spPr>
        <p:txBody>
          <a:bodyPr wrap="square" lIns="0" tIns="0" rIns="0" bIns="0" rtlCol="0" anchor="t"/>
          <a:lstStyle/>
          <a:p>
            <a:pPr marL="0" indent="0" algn="l">
              <a:lnSpc>
                <a:spcPct val="115000"/>
              </a:lnSpc>
              <a:buNone/>
            </a:pPr>
            <a:r>
              <a:rPr lang="en-US" sz="1600" b="1" dirty="0">
                <a:solidFill>
                  <a:srgbClr val="6A3FA0"/>
                </a:solidFill>
                <a:latin typeface="Calibri" pitchFamily="34" charset="0"/>
                <a:ea typeface="Calibri" pitchFamily="34" charset="-122"/>
                <a:cs typeface="Calibri" pitchFamily="34" charset="-120"/>
              </a:rPr>
              <a:t>Deep learning for vision</a:t>
            </a:r>
            <a:endParaRPr lang="en-US" sz="1600" dirty="0"/>
          </a:p>
        </p:txBody>
      </p:sp>
      <p:sp>
        <p:nvSpPr>
          <p:cNvPr id="26" name="Text 24"/>
          <p:cNvSpPr txBox="1"/>
          <p:nvPr/>
        </p:nvSpPr>
        <p:spPr>
          <a:xfrm>
            <a:off x="9921240" y="3822192"/>
            <a:ext cx="1417320" cy="274320"/>
          </a:xfrm>
          <a:prstGeom prst="rect">
            <a:avLst/>
          </a:prstGeom>
          <a:noFill/>
          <a:ln/>
        </p:spPr>
        <p:txBody>
          <a:bodyPr wrap="square" lIns="0" tIns="0" rIns="0" bIns="0" rtlCol="0" anchor="t"/>
          <a:lstStyle/>
          <a:p>
            <a:pPr marL="0" indent="0" algn="r">
              <a:lnSpc>
                <a:spcPct val="115000"/>
              </a:lnSpc>
              <a:buNone/>
            </a:pPr>
            <a:r>
              <a:rPr lang="en-US" sz="1500" i="1" dirty="0">
                <a:solidFill>
                  <a:srgbClr val="566672"/>
                </a:solidFill>
                <a:latin typeface="Calibri" pitchFamily="34" charset="0"/>
                <a:ea typeface="Calibri" pitchFamily="34" charset="-122"/>
                <a:cs typeface="Calibri" pitchFamily="34" charset="-120"/>
              </a:rPr>
              <a:t>2012</a:t>
            </a:r>
            <a:endParaRPr lang="en-US" sz="1500" dirty="0"/>
          </a:p>
        </p:txBody>
      </p:sp>
      <p:sp>
        <p:nvSpPr>
          <p:cNvPr id="27" name="Text 25"/>
          <p:cNvSpPr txBox="1"/>
          <p:nvPr/>
        </p:nvSpPr>
        <p:spPr>
          <a:xfrm>
            <a:off x="6519672" y="4151376"/>
            <a:ext cx="4800600" cy="5029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Perception starts working — the seeing half of the problem, a decade before genAI.</a:t>
            </a:r>
            <a:endParaRPr lang="en-US" sz="1500" dirty="0"/>
          </a:p>
        </p:txBody>
      </p:sp>
      <p:sp>
        <p:nvSpPr>
          <p:cNvPr id="28" name="Shape 26"/>
          <p:cNvSpPr/>
          <p:nvPr/>
        </p:nvSpPr>
        <p:spPr>
          <a:xfrm>
            <a:off x="640080" y="4809744"/>
            <a:ext cx="5303520" cy="1051560"/>
          </a:xfrm>
          <a:prstGeom prst="roundRect">
            <a:avLst>
              <a:gd name="adj" fmla="val 5217"/>
            </a:avLst>
          </a:prstGeom>
          <a:solidFill>
            <a:srgbClr val="EFE9F7"/>
          </a:solidFill>
          <a:ln w="9525">
            <a:solidFill>
              <a:srgbClr val="D9CDE9"/>
            </a:solidFill>
            <a:prstDash val="solid"/>
          </a:ln>
        </p:spPr>
      </p:sp>
      <p:sp>
        <p:nvSpPr>
          <p:cNvPr id="29" name="Text 27"/>
          <p:cNvSpPr txBox="1"/>
          <p:nvPr/>
        </p:nvSpPr>
        <p:spPr>
          <a:xfrm>
            <a:off x="896112" y="4919472"/>
            <a:ext cx="3566160" cy="310896"/>
          </a:xfrm>
          <a:prstGeom prst="rect">
            <a:avLst/>
          </a:prstGeom>
          <a:noFill/>
          <a:ln/>
        </p:spPr>
        <p:txBody>
          <a:bodyPr wrap="square" lIns="0" tIns="0" rIns="0" bIns="0" rtlCol="0" anchor="t"/>
          <a:lstStyle/>
          <a:p>
            <a:pPr marL="0" indent="0" algn="l">
              <a:lnSpc>
                <a:spcPct val="115000"/>
              </a:lnSpc>
              <a:buNone/>
            </a:pPr>
            <a:r>
              <a:rPr lang="en-US" sz="1600" b="1" dirty="0">
                <a:solidFill>
                  <a:srgbClr val="6A3FA0"/>
                </a:solidFill>
                <a:latin typeface="Calibri" pitchFamily="34" charset="0"/>
                <a:ea typeface="Calibri" pitchFamily="34" charset="-122"/>
                <a:cs typeface="Calibri" pitchFamily="34" charset="-120"/>
              </a:rPr>
              <a:t>Learned control</a:t>
            </a:r>
            <a:endParaRPr lang="en-US" sz="1600" dirty="0"/>
          </a:p>
        </p:txBody>
      </p:sp>
      <p:sp>
        <p:nvSpPr>
          <p:cNvPr id="30" name="Text 28"/>
          <p:cNvSpPr txBox="1"/>
          <p:nvPr/>
        </p:nvSpPr>
        <p:spPr>
          <a:xfrm>
            <a:off x="4297680" y="4937760"/>
            <a:ext cx="1417320" cy="274320"/>
          </a:xfrm>
          <a:prstGeom prst="rect">
            <a:avLst/>
          </a:prstGeom>
          <a:noFill/>
          <a:ln/>
        </p:spPr>
        <p:txBody>
          <a:bodyPr wrap="square" lIns="0" tIns="0" rIns="0" bIns="0" rtlCol="0" anchor="t"/>
          <a:lstStyle/>
          <a:p>
            <a:pPr marL="0" indent="0" algn="r">
              <a:lnSpc>
                <a:spcPct val="115000"/>
              </a:lnSpc>
              <a:buNone/>
            </a:pPr>
            <a:r>
              <a:rPr lang="en-US" sz="1500" i="1" dirty="0">
                <a:solidFill>
                  <a:srgbClr val="566672"/>
                </a:solidFill>
                <a:latin typeface="Calibri" pitchFamily="34" charset="0"/>
                <a:ea typeface="Calibri" pitchFamily="34" charset="-122"/>
                <a:cs typeface="Calibri" pitchFamily="34" charset="-120"/>
              </a:rPr>
              <a:t>2013–</a:t>
            </a:r>
            <a:endParaRPr lang="en-US" sz="1500" dirty="0"/>
          </a:p>
        </p:txBody>
      </p:sp>
      <p:sp>
        <p:nvSpPr>
          <p:cNvPr id="31" name="Text 29"/>
          <p:cNvSpPr txBox="1"/>
          <p:nvPr/>
        </p:nvSpPr>
        <p:spPr>
          <a:xfrm>
            <a:off x="896112" y="5266944"/>
            <a:ext cx="4800600" cy="5029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Reinforcement and imitation learning: policies trained from data, not written.</a:t>
            </a:r>
            <a:endParaRPr lang="en-US" sz="1500" dirty="0"/>
          </a:p>
        </p:txBody>
      </p:sp>
      <p:sp>
        <p:nvSpPr>
          <p:cNvPr id="32" name="Shape 30"/>
          <p:cNvSpPr/>
          <p:nvPr/>
        </p:nvSpPr>
        <p:spPr>
          <a:xfrm>
            <a:off x="6263640" y="4809744"/>
            <a:ext cx="5303520" cy="1051560"/>
          </a:xfrm>
          <a:prstGeom prst="roundRect">
            <a:avLst>
              <a:gd name="adj" fmla="val 5217"/>
            </a:avLst>
          </a:prstGeom>
          <a:solidFill>
            <a:srgbClr val="FBEBE1"/>
          </a:solidFill>
          <a:ln w="9525">
            <a:solidFill>
              <a:srgbClr val="EBC7B0"/>
            </a:solidFill>
            <a:prstDash val="solid"/>
          </a:ln>
        </p:spPr>
      </p:sp>
      <p:sp>
        <p:nvSpPr>
          <p:cNvPr id="33" name="Text 31"/>
          <p:cNvSpPr txBox="1"/>
          <p:nvPr/>
        </p:nvSpPr>
        <p:spPr>
          <a:xfrm>
            <a:off x="6519672" y="4919472"/>
            <a:ext cx="3566160" cy="310896"/>
          </a:xfrm>
          <a:prstGeom prst="rect">
            <a:avLst/>
          </a:prstGeom>
          <a:noFill/>
          <a:ln/>
        </p:spPr>
        <p:txBody>
          <a:bodyPr wrap="square" lIns="0" tIns="0" rIns="0" bIns="0" rtlCol="0" anchor="t"/>
          <a:lstStyle/>
          <a:p>
            <a:pPr marL="0" indent="0" algn="l">
              <a:lnSpc>
                <a:spcPct val="115000"/>
              </a:lnSpc>
              <a:buNone/>
            </a:pPr>
            <a:r>
              <a:rPr lang="en-US" sz="1600" b="1" dirty="0">
                <a:solidFill>
                  <a:srgbClr val="C2571E"/>
                </a:solidFill>
                <a:latin typeface="Calibri" pitchFamily="34" charset="0"/>
                <a:ea typeface="Calibri" pitchFamily="34" charset="-122"/>
                <a:cs typeface="Calibri" pitchFamily="34" charset="-120"/>
              </a:rPr>
              <a:t>Simulation at GPU scale</a:t>
            </a:r>
            <a:endParaRPr lang="en-US" sz="1600" dirty="0"/>
          </a:p>
        </p:txBody>
      </p:sp>
      <p:sp>
        <p:nvSpPr>
          <p:cNvPr id="34" name="Text 32"/>
          <p:cNvSpPr txBox="1"/>
          <p:nvPr/>
        </p:nvSpPr>
        <p:spPr>
          <a:xfrm>
            <a:off x="9921240" y="4937760"/>
            <a:ext cx="1417320" cy="274320"/>
          </a:xfrm>
          <a:prstGeom prst="rect">
            <a:avLst/>
          </a:prstGeom>
          <a:noFill/>
          <a:ln/>
        </p:spPr>
        <p:txBody>
          <a:bodyPr wrap="square" lIns="0" tIns="0" rIns="0" bIns="0" rtlCol="0" anchor="t"/>
          <a:lstStyle/>
          <a:p>
            <a:pPr marL="0" indent="0" algn="r">
              <a:lnSpc>
                <a:spcPct val="115000"/>
              </a:lnSpc>
              <a:buNone/>
            </a:pPr>
            <a:r>
              <a:rPr lang="en-US" sz="1500" i="1" dirty="0">
                <a:solidFill>
                  <a:srgbClr val="566672"/>
                </a:solidFill>
                <a:latin typeface="Calibri" pitchFamily="34" charset="0"/>
                <a:ea typeface="Calibri" pitchFamily="34" charset="-122"/>
                <a:cs typeface="Calibri" pitchFamily="34" charset="-120"/>
              </a:rPr>
              <a:t>2017–</a:t>
            </a:r>
            <a:endParaRPr lang="en-US" sz="1500" dirty="0"/>
          </a:p>
        </p:txBody>
      </p:sp>
      <p:sp>
        <p:nvSpPr>
          <p:cNvPr id="35" name="Text 33"/>
          <p:cNvSpPr txBox="1"/>
          <p:nvPr/>
        </p:nvSpPr>
        <p:spPr>
          <a:xfrm>
            <a:off x="6519672" y="5266944"/>
            <a:ext cx="4800600" cy="5029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Domain randomisation and parallel physics: training data without buying hardware.</a:t>
            </a:r>
            <a:endParaRPr lang="en-US" sz="1500" dirty="0"/>
          </a:p>
        </p:txBody>
      </p:sp>
      <p:sp>
        <p:nvSpPr>
          <p:cNvPr id="36" name="Shape 34"/>
          <p:cNvSpPr/>
          <p:nvPr/>
        </p:nvSpPr>
        <p:spPr>
          <a:xfrm>
            <a:off x="640080" y="5943600"/>
            <a:ext cx="10927080" cy="777240"/>
          </a:xfrm>
          <a:prstGeom prst="roundRect">
            <a:avLst>
              <a:gd name="adj" fmla="val 7059"/>
            </a:avLst>
          </a:prstGeom>
          <a:solidFill>
            <a:srgbClr val="10202B"/>
          </a:solidFill>
          <a:ln/>
        </p:spPr>
      </p:sp>
      <p:sp>
        <p:nvSpPr>
          <p:cNvPr id="37" name="Text 35"/>
          <p:cNvSpPr txBox="1"/>
          <p:nvPr/>
        </p:nvSpPr>
        <p:spPr>
          <a:xfrm>
            <a:off x="960120" y="5943600"/>
            <a:ext cx="10287000" cy="777240"/>
          </a:xfrm>
          <a:prstGeom prst="rect">
            <a:avLst/>
          </a:prstGeom>
          <a:noFill/>
          <a:ln/>
        </p:spPr>
        <p:txBody>
          <a:bodyPr wrap="square" lIns="0" tIns="0" rIns="0" bIns="0" rtlCol="0" anchor="ctr"/>
          <a:lstStyle/>
          <a:p>
            <a:pPr marL="0" indent="0">
              <a:lnSpc>
                <a:spcPct val="110000"/>
              </a:lnSpc>
              <a:buNone/>
            </a:pPr>
            <a:r>
              <a:rPr lang="en-US" sz="1500" dirty="0">
                <a:solidFill>
                  <a:srgbClr val="FFFFFF"/>
                </a:solidFill>
                <a:latin typeface="Calibri" pitchFamily="34" charset="0"/>
                <a:ea typeface="Calibri" pitchFamily="34" charset="-122"/>
                <a:cs typeface="Calibri" pitchFamily="34" charset="-120"/>
              </a:rPr>
              <a:t>Embodied AI is the ninth layer, not a replacement for the other eight. PID still holds the joint, SLAM still says where the robot is, ROS still moves the messages — the new model only decides what to do next.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ome/claude/img/slide4_paradigm.png"/>
          <p:cNvPicPr>
            <a:picLocks noChangeAspect="1"/>
          </p:cNvPicPr>
          <p:nvPr/>
        </p:nvPicPr>
        <p:blipFill>
          <a:blip r:embed="rId3"/>
          <a:stretch>
            <a:fillRect/>
          </a:stretch>
        </p:blipFill>
        <p:spPr>
          <a:xfrm>
            <a:off x="658368" y="54864"/>
            <a:ext cx="10872216" cy="67482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mnt/user-data/uploads/6.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3" y="0"/>
            <a:ext cx="12178234"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ONE TRIP AROUND THE LOOP</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What happens on every pass</a:t>
            </a:r>
            <a:endParaRPr lang="en-US" sz="3800" dirty="0"/>
          </a:p>
        </p:txBody>
      </p:sp>
      <p:sp>
        <p:nvSpPr>
          <p:cNvPr id="4" name="Shape 2"/>
          <p:cNvSpPr/>
          <p:nvPr/>
        </p:nvSpPr>
        <p:spPr>
          <a:xfrm>
            <a:off x="640080" y="1965960"/>
            <a:ext cx="1965960" cy="731520"/>
          </a:xfrm>
          <a:prstGeom prst="roundRect">
            <a:avLst>
              <a:gd name="adj" fmla="val 6250"/>
            </a:avLst>
          </a:prstGeom>
          <a:solidFill>
            <a:srgbClr val="E1EFF2"/>
          </a:solidFill>
          <a:ln w="15875">
            <a:solidFill>
              <a:srgbClr val="0F7186"/>
            </a:solidFill>
            <a:prstDash val="solid"/>
          </a:ln>
        </p:spPr>
      </p:sp>
      <p:sp>
        <p:nvSpPr>
          <p:cNvPr id="5" name="Text 3"/>
          <p:cNvSpPr txBox="1"/>
          <p:nvPr/>
        </p:nvSpPr>
        <p:spPr>
          <a:xfrm>
            <a:off x="685800" y="1965960"/>
            <a:ext cx="1874520" cy="731520"/>
          </a:xfrm>
          <a:prstGeom prst="rect">
            <a:avLst/>
          </a:prstGeom>
          <a:noFill/>
          <a:ln/>
        </p:spPr>
        <p:txBody>
          <a:bodyPr wrap="square" lIns="0" tIns="0" rIns="0" bIns="0" rtlCol="0" anchor="ctr"/>
          <a:lstStyle/>
          <a:p>
            <a:pPr marL="0" indent="0" algn="ctr">
              <a:buNone/>
            </a:pPr>
            <a:r>
              <a:rPr lang="en-US" sz="1500" b="1" dirty="0">
                <a:solidFill>
                  <a:srgbClr val="0F7186"/>
                </a:solidFill>
                <a:latin typeface="Calibri" pitchFamily="34" charset="0"/>
                <a:ea typeface="Calibri" pitchFamily="34" charset="-122"/>
                <a:cs typeface="Calibri" pitchFamily="34" charset="-120"/>
              </a:rPr>
              <a:t>SENSORS</a:t>
            </a:r>
            <a:endParaRPr lang="en-US" sz="1500" dirty="0"/>
          </a:p>
        </p:txBody>
      </p:sp>
      <p:sp>
        <p:nvSpPr>
          <p:cNvPr id="6" name="Text 4"/>
          <p:cNvSpPr txBox="1"/>
          <p:nvPr/>
        </p:nvSpPr>
        <p:spPr>
          <a:xfrm>
            <a:off x="640080" y="2880360"/>
            <a:ext cx="1965960" cy="868680"/>
          </a:xfrm>
          <a:prstGeom prst="rect">
            <a:avLst/>
          </a:prstGeom>
          <a:noFill/>
          <a:ln/>
        </p:spPr>
        <p:txBody>
          <a:bodyPr wrap="square" lIns="0" tIns="0" rIns="0" bIns="0" rtlCol="0" anchor="t"/>
          <a:lstStyle/>
          <a:p>
            <a:pPr marL="0" indent="0" algn="ctr">
              <a:lnSpc>
                <a:spcPct val="110000"/>
              </a:lnSpc>
              <a:buNone/>
            </a:pPr>
            <a:r>
              <a:rPr lang="en-US" sz="1500" dirty="0">
                <a:solidFill>
                  <a:srgbClr val="566672"/>
                </a:solidFill>
                <a:latin typeface="Calibri" pitchFamily="34" charset="0"/>
                <a:ea typeface="Calibri" pitchFamily="34" charset="-122"/>
                <a:cs typeface="Calibri" pitchFamily="34" charset="-120"/>
              </a:rPr>
              <a:t>cameras, lidar,</a:t>
            </a:r>
            <a:endParaRPr lang="en-US" sz="1500" dirty="0"/>
          </a:p>
          <a:p>
            <a:pPr marL="0" indent="0" algn="ctr">
              <a:lnSpc>
                <a:spcPct val="110000"/>
              </a:lnSpc>
              <a:buNone/>
            </a:pPr>
            <a:r>
              <a:rPr lang="en-US" sz="1500" dirty="0">
                <a:solidFill>
                  <a:srgbClr val="566672"/>
                </a:solidFill>
                <a:latin typeface="Calibri" pitchFamily="34" charset="0"/>
                <a:ea typeface="Calibri" pitchFamily="34" charset="-122"/>
                <a:cs typeface="Calibri" pitchFamily="34" charset="-120"/>
              </a:rPr>
              <a:t>microphones, touch</a:t>
            </a:r>
            <a:endParaRPr lang="en-US" sz="1500" dirty="0"/>
          </a:p>
        </p:txBody>
      </p:sp>
      <p:sp>
        <p:nvSpPr>
          <p:cNvPr id="7" name="Shape 5"/>
          <p:cNvSpPr/>
          <p:nvPr/>
        </p:nvSpPr>
        <p:spPr>
          <a:xfrm>
            <a:off x="2651760" y="2331720"/>
            <a:ext cx="182880" cy="0"/>
          </a:xfrm>
          <a:prstGeom prst="line">
            <a:avLst/>
          </a:prstGeom>
          <a:noFill/>
          <a:ln w="20320">
            <a:solidFill>
              <a:srgbClr val="0F7186"/>
            </a:solidFill>
            <a:prstDash val="solid"/>
            <a:tailEnd type="triangle"/>
          </a:ln>
        </p:spPr>
      </p:sp>
      <p:sp>
        <p:nvSpPr>
          <p:cNvPr id="8" name="Shape 6"/>
          <p:cNvSpPr/>
          <p:nvPr/>
        </p:nvSpPr>
        <p:spPr>
          <a:xfrm>
            <a:off x="2880360" y="1965960"/>
            <a:ext cx="1965960" cy="731520"/>
          </a:xfrm>
          <a:prstGeom prst="roundRect">
            <a:avLst>
              <a:gd name="adj" fmla="val 6250"/>
            </a:avLst>
          </a:prstGeom>
          <a:solidFill>
            <a:srgbClr val="E1EFF2"/>
          </a:solidFill>
          <a:ln w="15875">
            <a:solidFill>
              <a:srgbClr val="0F7186"/>
            </a:solidFill>
            <a:prstDash val="solid"/>
          </a:ln>
        </p:spPr>
      </p:sp>
      <p:sp>
        <p:nvSpPr>
          <p:cNvPr id="9" name="Text 7"/>
          <p:cNvSpPr txBox="1"/>
          <p:nvPr/>
        </p:nvSpPr>
        <p:spPr>
          <a:xfrm>
            <a:off x="2926080" y="1965960"/>
            <a:ext cx="1874520" cy="731520"/>
          </a:xfrm>
          <a:prstGeom prst="rect">
            <a:avLst/>
          </a:prstGeom>
          <a:noFill/>
          <a:ln/>
        </p:spPr>
        <p:txBody>
          <a:bodyPr wrap="square" lIns="0" tIns="0" rIns="0" bIns="0" rtlCol="0" anchor="ctr"/>
          <a:lstStyle/>
          <a:p>
            <a:pPr marL="0" indent="0" algn="ctr">
              <a:buNone/>
            </a:pPr>
            <a:r>
              <a:rPr lang="en-US" sz="1500" b="1" dirty="0">
                <a:solidFill>
                  <a:srgbClr val="0F7186"/>
                </a:solidFill>
                <a:latin typeface="Calibri" pitchFamily="34" charset="0"/>
                <a:ea typeface="Calibri" pitchFamily="34" charset="-122"/>
                <a:cs typeface="Calibri" pitchFamily="34" charset="-120"/>
              </a:rPr>
              <a:t>PERCEPTION</a:t>
            </a:r>
            <a:endParaRPr lang="en-US" sz="1500" dirty="0"/>
          </a:p>
        </p:txBody>
      </p:sp>
      <p:sp>
        <p:nvSpPr>
          <p:cNvPr id="10" name="Text 8"/>
          <p:cNvSpPr txBox="1"/>
          <p:nvPr/>
        </p:nvSpPr>
        <p:spPr>
          <a:xfrm>
            <a:off x="2880360" y="2880360"/>
            <a:ext cx="1965960" cy="868680"/>
          </a:xfrm>
          <a:prstGeom prst="rect">
            <a:avLst/>
          </a:prstGeom>
          <a:noFill/>
          <a:ln/>
        </p:spPr>
        <p:txBody>
          <a:bodyPr wrap="square" lIns="0" tIns="0" rIns="0" bIns="0" rtlCol="0" anchor="t"/>
          <a:lstStyle/>
          <a:p>
            <a:pPr marL="0" indent="0" algn="ctr">
              <a:lnSpc>
                <a:spcPct val="110000"/>
              </a:lnSpc>
              <a:buNone/>
            </a:pPr>
            <a:r>
              <a:rPr lang="en-US" sz="1500" dirty="0">
                <a:solidFill>
                  <a:srgbClr val="566672"/>
                </a:solidFill>
                <a:latin typeface="Calibri" pitchFamily="34" charset="0"/>
                <a:ea typeface="Calibri" pitchFamily="34" charset="-122"/>
                <a:cs typeface="Calibri" pitchFamily="34" charset="-120"/>
              </a:rPr>
              <a:t>raw signal becomes</a:t>
            </a:r>
            <a:endParaRPr lang="en-US" sz="1500" dirty="0"/>
          </a:p>
          <a:p>
            <a:pPr marL="0" indent="0" algn="ctr">
              <a:lnSpc>
                <a:spcPct val="110000"/>
              </a:lnSpc>
              <a:buNone/>
            </a:pPr>
            <a:r>
              <a:rPr lang="en-US" sz="1500" dirty="0">
                <a:solidFill>
                  <a:srgbClr val="566672"/>
                </a:solidFill>
                <a:latin typeface="Calibri" pitchFamily="34" charset="0"/>
                <a:ea typeface="Calibri" pitchFamily="34" charset="-122"/>
                <a:cs typeface="Calibri" pitchFamily="34" charset="-120"/>
              </a:rPr>
              <a:t>a usable picture</a:t>
            </a:r>
            <a:endParaRPr lang="en-US" sz="1500" dirty="0"/>
          </a:p>
        </p:txBody>
      </p:sp>
      <p:sp>
        <p:nvSpPr>
          <p:cNvPr id="11" name="Shape 9"/>
          <p:cNvSpPr/>
          <p:nvPr/>
        </p:nvSpPr>
        <p:spPr>
          <a:xfrm>
            <a:off x="4892040" y="2331720"/>
            <a:ext cx="182880" cy="0"/>
          </a:xfrm>
          <a:prstGeom prst="line">
            <a:avLst/>
          </a:prstGeom>
          <a:noFill/>
          <a:ln w="20320">
            <a:solidFill>
              <a:srgbClr val="0F7186"/>
            </a:solidFill>
            <a:prstDash val="solid"/>
            <a:tailEnd type="triangle"/>
          </a:ln>
        </p:spPr>
      </p:sp>
      <p:sp>
        <p:nvSpPr>
          <p:cNvPr id="12" name="Shape 10"/>
          <p:cNvSpPr/>
          <p:nvPr/>
        </p:nvSpPr>
        <p:spPr>
          <a:xfrm>
            <a:off x="5120640" y="1965960"/>
            <a:ext cx="1965960" cy="731520"/>
          </a:xfrm>
          <a:prstGeom prst="roundRect">
            <a:avLst>
              <a:gd name="adj" fmla="val 6250"/>
            </a:avLst>
          </a:prstGeom>
          <a:solidFill>
            <a:srgbClr val="FAF0DA"/>
          </a:solidFill>
          <a:ln w="15875">
            <a:solidFill>
              <a:srgbClr val="B77B0C"/>
            </a:solidFill>
            <a:prstDash val="solid"/>
          </a:ln>
        </p:spPr>
      </p:sp>
      <p:sp>
        <p:nvSpPr>
          <p:cNvPr id="13" name="Text 11"/>
          <p:cNvSpPr txBox="1"/>
          <p:nvPr/>
        </p:nvSpPr>
        <p:spPr>
          <a:xfrm>
            <a:off x="5166360" y="1965960"/>
            <a:ext cx="1874520" cy="731520"/>
          </a:xfrm>
          <a:prstGeom prst="rect">
            <a:avLst/>
          </a:prstGeom>
          <a:noFill/>
          <a:ln/>
        </p:spPr>
        <p:txBody>
          <a:bodyPr wrap="square" lIns="0" tIns="0" rIns="0" bIns="0" rtlCol="0" anchor="ctr"/>
          <a:lstStyle/>
          <a:p>
            <a:pPr marL="0" indent="0" algn="ctr">
              <a:buNone/>
            </a:pPr>
            <a:r>
              <a:rPr lang="en-US" sz="1500" b="1" dirty="0">
                <a:solidFill>
                  <a:srgbClr val="B77B0C"/>
                </a:solidFill>
                <a:latin typeface="Calibri" pitchFamily="34" charset="0"/>
                <a:ea typeface="Calibri" pitchFamily="34" charset="-122"/>
                <a:cs typeface="Calibri" pitchFamily="34" charset="-120"/>
              </a:rPr>
              <a:t>STATE</a:t>
            </a:r>
            <a:endParaRPr lang="en-US" sz="1500" dirty="0"/>
          </a:p>
        </p:txBody>
      </p:sp>
      <p:sp>
        <p:nvSpPr>
          <p:cNvPr id="14" name="Text 12"/>
          <p:cNvSpPr txBox="1"/>
          <p:nvPr/>
        </p:nvSpPr>
        <p:spPr>
          <a:xfrm>
            <a:off x="5120640" y="2880360"/>
            <a:ext cx="1965960" cy="868680"/>
          </a:xfrm>
          <a:prstGeom prst="rect">
            <a:avLst/>
          </a:prstGeom>
          <a:noFill/>
          <a:ln/>
        </p:spPr>
        <p:txBody>
          <a:bodyPr wrap="square" lIns="0" tIns="0" rIns="0" bIns="0" rtlCol="0" anchor="t"/>
          <a:lstStyle/>
          <a:p>
            <a:pPr marL="0" indent="0" algn="ctr">
              <a:lnSpc>
                <a:spcPct val="110000"/>
              </a:lnSpc>
              <a:buNone/>
            </a:pPr>
            <a:r>
              <a:rPr lang="en-US" sz="1500" dirty="0">
                <a:solidFill>
                  <a:srgbClr val="566672"/>
                </a:solidFill>
                <a:latin typeface="Calibri" pitchFamily="34" charset="0"/>
                <a:ea typeface="Calibri" pitchFamily="34" charset="-122"/>
                <a:cs typeface="Calibri" pitchFamily="34" charset="-120"/>
              </a:rPr>
              <a:t>what is true now,</a:t>
            </a:r>
            <a:endParaRPr lang="en-US" sz="1500" dirty="0"/>
          </a:p>
          <a:p>
            <a:pPr marL="0" indent="0" algn="ctr">
              <a:lnSpc>
                <a:spcPct val="110000"/>
              </a:lnSpc>
              <a:buNone/>
            </a:pPr>
            <a:r>
              <a:rPr lang="en-US" sz="1500" dirty="0">
                <a:solidFill>
                  <a:srgbClr val="566672"/>
                </a:solidFill>
                <a:latin typeface="Calibri" pitchFamily="34" charset="0"/>
                <a:ea typeface="Calibri" pitchFamily="34" charset="-122"/>
                <a:cs typeface="Calibri" pitchFamily="34" charset="-120"/>
              </a:rPr>
              <a:t>and a moment ago</a:t>
            </a:r>
            <a:endParaRPr lang="en-US" sz="1500" dirty="0"/>
          </a:p>
        </p:txBody>
      </p:sp>
      <p:sp>
        <p:nvSpPr>
          <p:cNvPr id="15" name="Shape 13"/>
          <p:cNvSpPr/>
          <p:nvPr/>
        </p:nvSpPr>
        <p:spPr>
          <a:xfrm>
            <a:off x="7132320" y="2331720"/>
            <a:ext cx="182880" cy="0"/>
          </a:xfrm>
          <a:prstGeom prst="line">
            <a:avLst/>
          </a:prstGeom>
          <a:noFill/>
          <a:ln w="20320">
            <a:solidFill>
              <a:srgbClr val="B77B0C"/>
            </a:solidFill>
            <a:prstDash val="solid"/>
            <a:tailEnd type="triangle"/>
          </a:ln>
        </p:spPr>
      </p:sp>
      <p:sp>
        <p:nvSpPr>
          <p:cNvPr id="16" name="Shape 14"/>
          <p:cNvSpPr/>
          <p:nvPr/>
        </p:nvSpPr>
        <p:spPr>
          <a:xfrm>
            <a:off x="7360920" y="1965960"/>
            <a:ext cx="1965960" cy="731520"/>
          </a:xfrm>
          <a:prstGeom prst="roundRect">
            <a:avLst>
              <a:gd name="adj" fmla="val 6250"/>
            </a:avLst>
          </a:prstGeom>
          <a:solidFill>
            <a:srgbClr val="FBEBE1"/>
          </a:solidFill>
          <a:ln w="15875">
            <a:solidFill>
              <a:srgbClr val="C2571E"/>
            </a:solidFill>
            <a:prstDash val="solid"/>
          </a:ln>
        </p:spPr>
      </p:sp>
      <p:sp>
        <p:nvSpPr>
          <p:cNvPr id="17" name="Text 15"/>
          <p:cNvSpPr txBox="1"/>
          <p:nvPr/>
        </p:nvSpPr>
        <p:spPr>
          <a:xfrm>
            <a:off x="7406640" y="1965960"/>
            <a:ext cx="1874520" cy="731520"/>
          </a:xfrm>
          <a:prstGeom prst="rect">
            <a:avLst/>
          </a:prstGeom>
          <a:noFill/>
          <a:ln/>
        </p:spPr>
        <p:txBody>
          <a:bodyPr wrap="square" lIns="0" tIns="0" rIns="0" bIns="0" rtlCol="0" anchor="ctr"/>
          <a:lstStyle/>
          <a:p>
            <a:pPr marL="0" indent="0" algn="ctr">
              <a:buNone/>
            </a:pPr>
            <a:r>
              <a:rPr lang="en-US" sz="1500" b="1" dirty="0">
                <a:solidFill>
                  <a:srgbClr val="C2571E"/>
                </a:solidFill>
                <a:latin typeface="Calibri" pitchFamily="34" charset="0"/>
                <a:ea typeface="Calibri" pitchFamily="34" charset="-122"/>
                <a:cs typeface="Calibri" pitchFamily="34" charset="-120"/>
              </a:rPr>
              <a:t>POLICY</a:t>
            </a:r>
            <a:endParaRPr lang="en-US" sz="1500" dirty="0"/>
          </a:p>
        </p:txBody>
      </p:sp>
      <p:sp>
        <p:nvSpPr>
          <p:cNvPr id="18" name="Text 16"/>
          <p:cNvSpPr txBox="1"/>
          <p:nvPr/>
        </p:nvSpPr>
        <p:spPr>
          <a:xfrm>
            <a:off x="7360920" y="2880360"/>
            <a:ext cx="1965960" cy="868680"/>
          </a:xfrm>
          <a:prstGeom prst="rect">
            <a:avLst/>
          </a:prstGeom>
          <a:noFill/>
          <a:ln/>
        </p:spPr>
        <p:txBody>
          <a:bodyPr wrap="square" lIns="0" tIns="0" rIns="0" bIns="0" rtlCol="0" anchor="t"/>
          <a:lstStyle/>
          <a:p>
            <a:pPr marL="0" indent="0" algn="ctr">
              <a:lnSpc>
                <a:spcPct val="110000"/>
              </a:lnSpc>
              <a:buNone/>
            </a:pPr>
            <a:r>
              <a:rPr lang="en-US" sz="1500" dirty="0">
                <a:solidFill>
                  <a:srgbClr val="566672"/>
                </a:solidFill>
                <a:latin typeface="Calibri" pitchFamily="34" charset="0"/>
                <a:ea typeface="Calibri" pitchFamily="34" charset="-122"/>
                <a:cs typeface="Calibri" pitchFamily="34" charset="-120"/>
              </a:rPr>
              <a:t>the decision-maker:</a:t>
            </a:r>
            <a:endParaRPr lang="en-US" sz="1500" dirty="0"/>
          </a:p>
          <a:p>
            <a:pPr marL="0" indent="0" algn="ctr">
              <a:lnSpc>
                <a:spcPct val="110000"/>
              </a:lnSpc>
              <a:buNone/>
            </a:pPr>
            <a:r>
              <a:rPr lang="en-US" sz="1500" dirty="0">
                <a:solidFill>
                  <a:srgbClr val="566672"/>
                </a:solidFill>
                <a:latin typeface="Calibri" pitchFamily="34" charset="0"/>
                <a:ea typeface="Calibri" pitchFamily="34" charset="-122"/>
                <a:cs typeface="Calibri" pitchFamily="34" charset="-120"/>
              </a:rPr>
              <a:t>what do I do next?</a:t>
            </a:r>
            <a:endParaRPr lang="en-US" sz="1500" dirty="0"/>
          </a:p>
        </p:txBody>
      </p:sp>
      <p:sp>
        <p:nvSpPr>
          <p:cNvPr id="19" name="Shape 17"/>
          <p:cNvSpPr/>
          <p:nvPr/>
        </p:nvSpPr>
        <p:spPr>
          <a:xfrm>
            <a:off x="9372600" y="2331720"/>
            <a:ext cx="182880" cy="0"/>
          </a:xfrm>
          <a:prstGeom prst="line">
            <a:avLst/>
          </a:prstGeom>
          <a:noFill/>
          <a:ln w="20320">
            <a:solidFill>
              <a:srgbClr val="C2571E"/>
            </a:solidFill>
            <a:prstDash val="solid"/>
            <a:tailEnd type="triangle"/>
          </a:ln>
        </p:spPr>
      </p:sp>
      <p:sp>
        <p:nvSpPr>
          <p:cNvPr id="20" name="Shape 18"/>
          <p:cNvSpPr/>
          <p:nvPr/>
        </p:nvSpPr>
        <p:spPr>
          <a:xfrm>
            <a:off x="9601200" y="1965960"/>
            <a:ext cx="1965960" cy="731520"/>
          </a:xfrm>
          <a:prstGeom prst="roundRect">
            <a:avLst>
              <a:gd name="adj" fmla="val 6250"/>
            </a:avLst>
          </a:prstGeom>
          <a:solidFill>
            <a:srgbClr val="FBEBE1"/>
          </a:solidFill>
          <a:ln w="15875">
            <a:solidFill>
              <a:srgbClr val="C2571E"/>
            </a:solidFill>
            <a:prstDash val="solid"/>
          </a:ln>
        </p:spPr>
      </p:sp>
      <p:sp>
        <p:nvSpPr>
          <p:cNvPr id="21" name="Text 19"/>
          <p:cNvSpPr txBox="1"/>
          <p:nvPr/>
        </p:nvSpPr>
        <p:spPr>
          <a:xfrm>
            <a:off x="9646920" y="1965960"/>
            <a:ext cx="1874520" cy="731520"/>
          </a:xfrm>
          <a:prstGeom prst="rect">
            <a:avLst/>
          </a:prstGeom>
          <a:noFill/>
          <a:ln/>
        </p:spPr>
        <p:txBody>
          <a:bodyPr wrap="square" lIns="0" tIns="0" rIns="0" bIns="0" rtlCol="0" anchor="ctr"/>
          <a:lstStyle/>
          <a:p>
            <a:pPr marL="0" indent="0" algn="ctr">
              <a:buNone/>
            </a:pPr>
            <a:r>
              <a:rPr lang="en-US" sz="1500" b="1" dirty="0">
                <a:solidFill>
                  <a:srgbClr val="C2571E"/>
                </a:solidFill>
                <a:latin typeface="Calibri" pitchFamily="34" charset="0"/>
                <a:ea typeface="Calibri" pitchFamily="34" charset="-122"/>
                <a:cs typeface="Calibri" pitchFamily="34" charset="-120"/>
              </a:rPr>
              <a:t>ACTUATORS</a:t>
            </a:r>
            <a:endParaRPr lang="en-US" sz="1500" dirty="0"/>
          </a:p>
        </p:txBody>
      </p:sp>
      <p:sp>
        <p:nvSpPr>
          <p:cNvPr id="22" name="Text 20"/>
          <p:cNvSpPr txBox="1"/>
          <p:nvPr/>
        </p:nvSpPr>
        <p:spPr>
          <a:xfrm>
            <a:off x="9601200" y="2880360"/>
            <a:ext cx="1965960" cy="868680"/>
          </a:xfrm>
          <a:prstGeom prst="rect">
            <a:avLst/>
          </a:prstGeom>
          <a:noFill/>
          <a:ln/>
        </p:spPr>
        <p:txBody>
          <a:bodyPr wrap="square" lIns="0" tIns="0" rIns="0" bIns="0" rtlCol="0" anchor="t"/>
          <a:lstStyle/>
          <a:p>
            <a:pPr marL="0" indent="0" algn="ctr">
              <a:lnSpc>
                <a:spcPct val="110000"/>
              </a:lnSpc>
              <a:buNone/>
            </a:pPr>
            <a:r>
              <a:rPr lang="en-US" sz="1500" dirty="0">
                <a:solidFill>
                  <a:srgbClr val="566672"/>
                </a:solidFill>
                <a:latin typeface="Calibri" pitchFamily="34" charset="0"/>
                <a:ea typeface="Calibri" pitchFamily="34" charset="-122"/>
                <a:cs typeface="Calibri" pitchFamily="34" charset="-120"/>
              </a:rPr>
              <a:t>motors, wheels,</a:t>
            </a:r>
            <a:endParaRPr lang="en-US" sz="1500" dirty="0"/>
          </a:p>
          <a:p>
            <a:pPr marL="0" indent="0" algn="ctr">
              <a:lnSpc>
                <a:spcPct val="110000"/>
              </a:lnSpc>
              <a:buNone/>
            </a:pPr>
            <a:r>
              <a:rPr lang="en-US" sz="1500" dirty="0">
                <a:solidFill>
                  <a:srgbClr val="566672"/>
                </a:solidFill>
                <a:latin typeface="Calibri" pitchFamily="34" charset="0"/>
                <a:ea typeface="Calibri" pitchFamily="34" charset="-122"/>
                <a:cs typeface="Calibri" pitchFamily="34" charset="-120"/>
              </a:rPr>
              <a:t>brakes, grippers</a:t>
            </a:r>
            <a:endParaRPr lang="en-US" sz="1500" dirty="0"/>
          </a:p>
        </p:txBody>
      </p:sp>
      <p:sp>
        <p:nvSpPr>
          <p:cNvPr id="23" name="Shape 21"/>
          <p:cNvSpPr/>
          <p:nvPr/>
        </p:nvSpPr>
        <p:spPr>
          <a:xfrm>
            <a:off x="11567160" y="2331720"/>
            <a:ext cx="64008" cy="914"/>
          </a:xfrm>
          <a:prstGeom prst="line">
            <a:avLst/>
          </a:prstGeom>
          <a:noFill/>
          <a:ln w="20320">
            <a:solidFill>
              <a:srgbClr val="C2571E"/>
            </a:solidFill>
            <a:prstDash val="dash"/>
          </a:ln>
        </p:spPr>
      </p:sp>
      <p:sp>
        <p:nvSpPr>
          <p:cNvPr id="24" name="Shape 22"/>
          <p:cNvSpPr/>
          <p:nvPr/>
        </p:nvSpPr>
        <p:spPr>
          <a:xfrm>
            <a:off x="11631168" y="2331720"/>
            <a:ext cx="914" cy="1737360"/>
          </a:xfrm>
          <a:prstGeom prst="line">
            <a:avLst/>
          </a:prstGeom>
          <a:noFill/>
          <a:ln w="20320">
            <a:solidFill>
              <a:srgbClr val="C2571E"/>
            </a:solidFill>
            <a:prstDash val="dash"/>
          </a:ln>
        </p:spPr>
      </p:sp>
      <p:sp>
        <p:nvSpPr>
          <p:cNvPr id="25" name="Shape 23"/>
          <p:cNvSpPr/>
          <p:nvPr/>
        </p:nvSpPr>
        <p:spPr>
          <a:xfrm>
            <a:off x="548640" y="4069080"/>
            <a:ext cx="11082528" cy="914"/>
          </a:xfrm>
          <a:prstGeom prst="line">
            <a:avLst/>
          </a:prstGeom>
          <a:noFill/>
          <a:ln w="20320">
            <a:solidFill>
              <a:srgbClr val="C2571E"/>
            </a:solidFill>
            <a:prstDash val="dash"/>
          </a:ln>
        </p:spPr>
      </p:sp>
      <p:sp>
        <p:nvSpPr>
          <p:cNvPr id="26" name="Shape 24"/>
          <p:cNvSpPr/>
          <p:nvPr/>
        </p:nvSpPr>
        <p:spPr>
          <a:xfrm>
            <a:off x="548640" y="2331720"/>
            <a:ext cx="914" cy="1737360"/>
          </a:xfrm>
          <a:prstGeom prst="line">
            <a:avLst/>
          </a:prstGeom>
          <a:noFill/>
          <a:ln w="20320">
            <a:solidFill>
              <a:srgbClr val="C2571E"/>
            </a:solidFill>
            <a:prstDash val="dash"/>
          </a:ln>
        </p:spPr>
      </p:sp>
      <p:sp>
        <p:nvSpPr>
          <p:cNvPr id="27" name="Shape 25"/>
          <p:cNvSpPr/>
          <p:nvPr/>
        </p:nvSpPr>
        <p:spPr>
          <a:xfrm>
            <a:off x="548640" y="2331720"/>
            <a:ext cx="228600" cy="0"/>
          </a:xfrm>
          <a:prstGeom prst="line">
            <a:avLst/>
          </a:prstGeom>
          <a:noFill/>
          <a:ln w="20320">
            <a:solidFill>
              <a:srgbClr val="C2571E"/>
            </a:solidFill>
            <a:prstDash val="dash"/>
            <a:tailEnd type="triangle"/>
          </a:ln>
        </p:spPr>
      </p:sp>
      <p:sp>
        <p:nvSpPr>
          <p:cNvPr id="28" name="Text 26"/>
          <p:cNvSpPr txBox="1"/>
          <p:nvPr/>
        </p:nvSpPr>
        <p:spPr>
          <a:xfrm>
            <a:off x="2743200" y="4133088"/>
            <a:ext cx="6766560" cy="310896"/>
          </a:xfrm>
          <a:prstGeom prst="rect">
            <a:avLst/>
          </a:prstGeom>
          <a:noFill/>
          <a:ln/>
        </p:spPr>
        <p:txBody>
          <a:bodyPr wrap="square" lIns="0" tIns="0" rIns="0" bIns="0" rtlCol="0" anchor="ctr"/>
          <a:lstStyle/>
          <a:p>
            <a:pPr marL="0" indent="0" algn="ctr">
              <a:buNone/>
            </a:pPr>
            <a:r>
              <a:rPr lang="en-US" sz="1500" b="1" i="1" dirty="0">
                <a:solidFill>
                  <a:srgbClr val="C2571E"/>
                </a:solidFill>
                <a:latin typeface="Calibri" pitchFamily="34" charset="0"/>
                <a:ea typeface="Calibri" pitchFamily="34" charset="-122"/>
                <a:cs typeface="Calibri" pitchFamily="34" charset="-120"/>
              </a:rPr>
              <a:t>the loop closes here — what the robot did decides what it will see next</a:t>
            </a:r>
            <a:endParaRPr lang="en-US" sz="1500" dirty="0"/>
          </a:p>
        </p:txBody>
      </p:sp>
      <p:sp>
        <p:nvSpPr>
          <p:cNvPr id="29" name="Shape 27"/>
          <p:cNvSpPr/>
          <p:nvPr/>
        </p:nvSpPr>
        <p:spPr>
          <a:xfrm>
            <a:off x="640080" y="4800600"/>
            <a:ext cx="5349240" cy="1417320"/>
          </a:xfrm>
          <a:prstGeom prst="roundRect">
            <a:avLst>
              <a:gd name="adj" fmla="val 3871"/>
            </a:avLst>
          </a:prstGeom>
          <a:solidFill>
            <a:srgbClr val="E1EFF2"/>
          </a:solidFill>
          <a:ln w="9525">
            <a:solidFill>
              <a:srgbClr val="BCD8DE"/>
            </a:solidFill>
            <a:prstDash val="solid"/>
          </a:ln>
        </p:spPr>
      </p:sp>
      <p:sp>
        <p:nvSpPr>
          <p:cNvPr id="30" name="Text 28"/>
          <p:cNvSpPr txBox="1"/>
          <p:nvPr/>
        </p:nvSpPr>
        <p:spPr>
          <a:xfrm>
            <a:off x="960120" y="4983480"/>
            <a:ext cx="4754880" cy="292608"/>
          </a:xfrm>
          <a:prstGeom prst="rect">
            <a:avLst/>
          </a:prstGeom>
          <a:noFill/>
          <a:ln/>
        </p:spPr>
        <p:txBody>
          <a:bodyPr wrap="square" lIns="0" tIns="0" rIns="0" bIns="0" rtlCol="0" anchor="t"/>
          <a:lstStyle/>
          <a:p>
            <a:pPr marL="0" indent="0" algn="l">
              <a:lnSpc>
                <a:spcPct val="115000"/>
              </a:lnSpc>
              <a:buNone/>
            </a:pPr>
            <a:r>
              <a:rPr lang="en-US" sz="1600" b="1" dirty="0">
                <a:solidFill>
                  <a:srgbClr val="0F7186"/>
                </a:solidFill>
                <a:latin typeface="Calibri" pitchFamily="34" charset="0"/>
                <a:ea typeface="Calibri" pitchFamily="34" charset="-122"/>
                <a:cs typeface="Calibri" pitchFamily="34" charset="-120"/>
              </a:rPr>
              <a:t>Only one box is being replaced</a:t>
            </a:r>
            <a:endParaRPr lang="en-US" sz="1600" dirty="0"/>
          </a:p>
        </p:txBody>
      </p:sp>
      <p:sp>
        <p:nvSpPr>
          <p:cNvPr id="31" name="Text 29"/>
          <p:cNvSpPr txBox="1"/>
          <p:nvPr/>
        </p:nvSpPr>
        <p:spPr>
          <a:xfrm>
            <a:off x="960120" y="5321808"/>
            <a:ext cx="4754880" cy="777240"/>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Drivers, state estimation and low-level control stay classical. What foundation models change is the policy — and, increasingly, perception folded into it.</a:t>
            </a:r>
            <a:endParaRPr lang="en-US" sz="1500" dirty="0"/>
          </a:p>
        </p:txBody>
      </p:sp>
      <p:sp>
        <p:nvSpPr>
          <p:cNvPr id="32" name="Shape 30"/>
          <p:cNvSpPr/>
          <p:nvPr/>
        </p:nvSpPr>
        <p:spPr>
          <a:xfrm>
            <a:off x="6217920" y="4800600"/>
            <a:ext cx="5349240" cy="1417320"/>
          </a:xfrm>
          <a:prstGeom prst="roundRect">
            <a:avLst>
              <a:gd name="adj" fmla="val 3871"/>
            </a:avLst>
          </a:prstGeom>
          <a:solidFill>
            <a:srgbClr val="FBEBE1"/>
          </a:solidFill>
          <a:ln w="9525">
            <a:solidFill>
              <a:srgbClr val="EBC7B0"/>
            </a:solidFill>
            <a:prstDash val="solid"/>
          </a:ln>
        </p:spPr>
      </p:sp>
      <p:sp>
        <p:nvSpPr>
          <p:cNvPr id="33" name="Text 31"/>
          <p:cNvSpPr txBox="1"/>
          <p:nvPr/>
        </p:nvSpPr>
        <p:spPr>
          <a:xfrm>
            <a:off x="6537960" y="4983480"/>
            <a:ext cx="4754880" cy="292608"/>
          </a:xfrm>
          <a:prstGeom prst="rect">
            <a:avLst/>
          </a:prstGeom>
          <a:noFill/>
          <a:ln/>
        </p:spPr>
        <p:txBody>
          <a:bodyPr wrap="square" lIns="0" tIns="0" rIns="0" bIns="0" rtlCol="0" anchor="t"/>
          <a:lstStyle/>
          <a:p>
            <a:pPr marL="0" indent="0" algn="l">
              <a:lnSpc>
                <a:spcPct val="115000"/>
              </a:lnSpc>
              <a:buNone/>
            </a:pPr>
            <a:r>
              <a:rPr lang="en-US" sz="1600" b="1" dirty="0">
                <a:solidFill>
                  <a:srgbClr val="C2571E"/>
                </a:solidFill>
                <a:latin typeface="Calibri" pitchFamily="34" charset="0"/>
                <a:ea typeface="Calibri" pitchFamily="34" charset="-122"/>
                <a:cs typeface="Calibri" pitchFamily="34" charset="-120"/>
              </a:rPr>
              <a:t>How fast the loop runs</a:t>
            </a:r>
            <a:endParaRPr lang="en-US" sz="1600" dirty="0"/>
          </a:p>
        </p:txBody>
      </p:sp>
      <p:sp>
        <p:nvSpPr>
          <p:cNvPr id="34" name="Text 32"/>
          <p:cNvSpPr txBox="1"/>
          <p:nvPr/>
        </p:nvSpPr>
        <p:spPr>
          <a:xfrm>
            <a:off x="6537960" y="5321808"/>
            <a:ext cx="4754880" cy="777240"/>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A driving stack closes it 10–50 times a second. A walking robot's balance controller closer to 1,000 — late is the same as wrong.</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WHY IT IS HARD — 1 OF 4</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The easy things turned out to be the hard things</a:t>
            </a:r>
            <a:endParaRPr lang="en-US" sz="3800" dirty="0"/>
          </a:p>
        </p:txBody>
      </p:sp>
      <p:sp>
        <p:nvSpPr>
          <p:cNvPr id="4" name="Shape 2"/>
          <p:cNvSpPr/>
          <p:nvPr/>
        </p:nvSpPr>
        <p:spPr>
          <a:xfrm>
            <a:off x="640080" y="1783080"/>
            <a:ext cx="5349240" cy="2240280"/>
          </a:xfrm>
          <a:prstGeom prst="roundRect">
            <a:avLst>
              <a:gd name="adj" fmla="val 2449"/>
            </a:avLst>
          </a:prstGeom>
          <a:solidFill>
            <a:srgbClr val="EFE9F7"/>
          </a:solidFill>
          <a:ln w="9525">
            <a:solidFill>
              <a:srgbClr val="D9CDE9"/>
            </a:solidFill>
            <a:prstDash val="solid"/>
          </a:ln>
        </p:spPr>
      </p:sp>
      <p:sp>
        <p:nvSpPr>
          <p:cNvPr id="5" name="Text 3"/>
          <p:cNvSpPr txBox="1"/>
          <p:nvPr/>
        </p:nvSpPr>
        <p:spPr>
          <a:xfrm>
            <a:off x="960120" y="1993392"/>
            <a:ext cx="4754880" cy="292608"/>
          </a:xfrm>
          <a:prstGeom prst="rect">
            <a:avLst/>
          </a:prstGeom>
          <a:noFill/>
          <a:ln/>
        </p:spPr>
        <p:txBody>
          <a:bodyPr wrap="square" lIns="0" tIns="0" rIns="0" bIns="0" rtlCol="0" anchor="ctr"/>
          <a:lstStyle/>
          <a:p>
            <a:pPr marL="0" indent="0">
              <a:buNone/>
            </a:pPr>
            <a:r>
              <a:rPr lang="en-US" sz="1500" b="1" kern="0" spc="160" dirty="0">
                <a:solidFill>
                  <a:srgbClr val="6A3FA0"/>
                </a:solidFill>
                <a:latin typeface="Calibri" pitchFamily="34" charset="0"/>
                <a:ea typeface="Calibri" pitchFamily="34" charset="-122"/>
                <a:cs typeface="Calibri" pitchFamily="34" charset="-120"/>
              </a:rPr>
              <a:t>EASY FOR COMPUTERS</a:t>
            </a:r>
            <a:endParaRPr lang="en-US" sz="1500" dirty="0"/>
          </a:p>
        </p:txBody>
      </p:sp>
      <p:sp>
        <p:nvSpPr>
          <p:cNvPr id="6" name="Text 4"/>
          <p:cNvSpPr txBox="1"/>
          <p:nvPr/>
        </p:nvSpPr>
        <p:spPr>
          <a:xfrm>
            <a:off x="960120" y="2395728"/>
            <a:ext cx="4754880" cy="1463040"/>
          </a:xfrm>
          <a:prstGeom prst="rect">
            <a:avLst/>
          </a:prstGeom>
          <a:noFill/>
          <a:ln/>
        </p:spPr>
        <p:txBody>
          <a:bodyPr wrap="square" lIns="0" tIns="0" rIns="0" bIns="0" rtlCol="0" anchor="t"/>
          <a:lstStyle/>
          <a:p>
            <a:pPr marL="0" indent="0" algn="l">
              <a:lnSpc>
                <a:spcPct val="135000"/>
              </a:lnSpc>
              <a:buNone/>
            </a:pPr>
            <a:r>
              <a:rPr lang="en-US" sz="1600" dirty="0">
                <a:solidFill>
                  <a:srgbClr val="13222E"/>
                </a:solidFill>
                <a:latin typeface="Calibri" pitchFamily="34" charset="0"/>
                <a:ea typeface="Calibri" pitchFamily="34" charset="-122"/>
                <a:cs typeface="Calibri" pitchFamily="34" charset="-120"/>
              </a:rPr>
              <a:t>•  Winning at chess</a:t>
            </a:r>
            <a:endParaRPr lang="en-US" sz="1600" dirty="0"/>
          </a:p>
          <a:p>
            <a:pPr marL="0" indent="0" algn="l">
              <a:lnSpc>
                <a:spcPct val="135000"/>
              </a:lnSpc>
              <a:buNone/>
            </a:pPr>
            <a:r>
              <a:rPr lang="en-US" sz="1600" dirty="0">
                <a:solidFill>
                  <a:srgbClr val="13222E"/>
                </a:solidFill>
                <a:latin typeface="Calibri" pitchFamily="34" charset="0"/>
                <a:ea typeface="Calibri" pitchFamily="34" charset="-122"/>
                <a:cs typeface="Calibri" pitchFamily="34" charset="-120"/>
              </a:rPr>
              <a:t>•  Integrating a function</a:t>
            </a:r>
            <a:endParaRPr lang="en-US" sz="1600" dirty="0"/>
          </a:p>
          <a:p>
            <a:pPr marL="0" indent="0" algn="l">
              <a:lnSpc>
                <a:spcPct val="135000"/>
              </a:lnSpc>
              <a:buNone/>
            </a:pPr>
            <a:r>
              <a:rPr lang="en-US" sz="1600" dirty="0">
                <a:solidFill>
                  <a:srgbClr val="13222E"/>
                </a:solidFill>
                <a:latin typeface="Calibri" pitchFamily="34" charset="0"/>
                <a:ea typeface="Calibri" pitchFamily="34" charset="-122"/>
                <a:cs typeface="Calibri" pitchFamily="34" charset="-120"/>
              </a:rPr>
              <a:t>•  Passing a bar exam</a:t>
            </a:r>
            <a:endParaRPr lang="en-US" sz="1600" dirty="0"/>
          </a:p>
          <a:p>
            <a:pPr marL="0" indent="0" algn="l">
              <a:lnSpc>
                <a:spcPct val="135000"/>
              </a:lnSpc>
              <a:buNone/>
            </a:pPr>
            <a:r>
              <a:rPr lang="en-US" sz="1600" dirty="0">
                <a:solidFill>
                  <a:srgbClr val="13222E"/>
                </a:solidFill>
                <a:latin typeface="Calibri" pitchFamily="34" charset="0"/>
                <a:ea typeface="Calibri" pitchFamily="34" charset="-122"/>
                <a:cs typeface="Calibri" pitchFamily="34" charset="-120"/>
              </a:rPr>
              <a:t>•  Recalling a million facts</a:t>
            </a:r>
            <a:endParaRPr lang="en-US" sz="1600" dirty="0"/>
          </a:p>
        </p:txBody>
      </p:sp>
      <p:sp>
        <p:nvSpPr>
          <p:cNvPr id="7" name="Shape 5"/>
          <p:cNvSpPr/>
          <p:nvPr/>
        </p:nvSpPr>
        <p:spPr>
          <a:xfrm>
            <a:off x="6217920" y="1783080"/>
            <a:ext cx="5349240" cy="2240280"/>
          </a:xfrm>
          <a:prstGeom prst="roundRect">
            <a:avLst>
              <a:gd name="adj" fmla="val 2449"/>
            </a:avLst>
          </a:prstGeom>
          <a:solidFill>
            <a:srgbClr val="FBEBE1"/>
          </a:solidFill>
          <a:ln w="9525">
            <a:solidFill>
              <a:srgbClr val="EBC7B0"/>
            </a:solidFill>
            <a:prstDash val="solid"/>
          </a:ln>
        </p:spPr>
      </p:sp>
      <p:sp>
        <p:nvSpPr>
          <p:cNvPr id="8" name="Text 6"/>
          <p:cNvSpPr txBox="1"/>
          <p:nvPr/>
        </p:nvSpPr>
        <p:spPr>
          <a:xfrm>
            <a:off x="6537960" y="1993392"/>
            <a:ext cx="4754880" cy="292608"/>
          </a:xfrm>
          <a:prstGeom prst="rect">
            <a:avLst/>
          </a:prstGeom>
          <a:noFill/>
          <a:ln/>
        </p:spPr>
        <p:txBody>
          <a:bodyPr wrap="square" lIns="0" tIns="0" rIns="0" bIns="0" rtlCol="0" anchor="ctr"/>
          <a:lstStyle/>
          <a:p>
            <a:pPr marL="0" indent="0">
              <a:buNone/>
            </a:pPr>
            <a:r>
              <a:rPr lang="en-US" sz="1500" b="1" kern="0" spc="160" dirty="0">
                <a:solidFill>
                  <a:srgbClr val="C2571E"/>
                </a:solidFill>
                <a:latin typeface="Calibri" pitchFamily="34" charset="0"/>
                <a:ea typeface="Calibri" pitchFamily="34" charset="-122"/>
                <a:cs typeface="Calibri" pitchFamily="34" charset="-120"/>
              </a:rPr>
              <a:t>EASY FOR PEOPLE</a:t>
            </a:r>
            <a:endParaRPr lang="en-US" sz="1500" dirty="0"/>
          </a:p>
        </p:txBody>
      </p:sp>
      <p:sp>
        <p:nvSpPr>
          <p:cNvPr id="9" name="Text 7"/>
          <p:cNvSpPr txBox="1"/>
          <p:nvPr/>
        </p:nvSpPr>
        <p:spPr>
          <a:xfrm>
            <a:off x="6537960" y="2395728"/>
            <a:ext cx="4846320" cy="1463040"/>
          </a:xfrm>
          <a:prstGeom prst="rect">
            <a:avLst/>
          </a:prstGeom>
          <a:noFill/>
          <a:ln/>
        </p:spPr>
        <p:txBody>
          <a:bodyPr wrap="square" lIns="0" tIns="0" rIns="0" bIns="0" rtlCol="0" anchor="t"/>
          <a:lstStyle/>
          <a:p>
            <a:pPr marL="0" indent="0" algn="l">
              <a:lnSpc>
                <a:spcPct val="135000"/>
              </a:lnSpc>
              <a:buNone/>
            </a:pPr>
            <a:r>
              <a:rPr lang="en-US" sz="1600" dirty="0">
                <a:solidFill>
                  <a:srgbClr val="13222E"/>
                </a:solidFill>
                <a:latin typeface="Calibri" pitchFamily="34" charset="0"/>
                <a:ea typeface="Calibri" pitchFamily="34" charset="-122"/>
                <a:cs typeface="Calibri" pitchFamily="34" charset="-120"/>
              </a:rPr>
              <a:t>•  Picking a towel off a cluttered table</a:t>
            </a:r>
            <a:endParaRPr lang="en-US" sz="1600" dirty="0"/>
          </a:p>
          <a:p>
            <a:pPr marL="0" indent="0" algn="l">
              <a:lnSpc>
                <a:spcPct val="135000"/>
              </a:lnSpc>
              <a:buNone/>
            </a:pPr>
            <a:r>
              <a:rPr lang="en-US" sz="1600" dirty="0">
                <a:solidFill>
                  <a:srgbClr val="13222E"/>
                </a:solidFill>
                <a:latin typeface="Calibri" pitchFamily="34" charset="0"/>
                <a:ea typeface="Calibri" pitchFamily="34" charset="-122"/>
                <a:cs typeface="Calibri" pitchFamily="34" charset="-120"/>
              </a:rPr>
              <a:t>•  Walking over gravel</a:t>
            </a:r>
            <a:endParaRPr lang="en-US" sz="1600" dirty="0"/>
          </a:p>
          <a:p>
            <a:pPr marL="0" indent="0" algn="l">
              <a:lnSpc>
                <a:spcPct val="135000"/>
              </a:lnSpc>
              <a:buNone/>
            </a:pPr>
            <a:r>
              <a:rPr lang="en-US" sz="1600" dirty="0">
                <a:solidFill>
                  <a:srgbClr val="13222E"/>
                </a:solidFill>
                <a:latin typeface="Calibri" pitchFamily="34" charset="0"/>
                <a:ea typeface="Calibri" pitchFamily="34" charset="-122"/>
                <a:cs typeface="Calibri" pitchFamily="34" charset="-120"/>
              </a:rPr>
              <a:t>•  Opening a door with full hands</a:t>
            </a:r>
            <a:endParaRPr lang="en-US" sz="1600" dirty="0"/>
          </a:p>
          <a:p>
            <a:pPr marL="0" indent="0" algn="l">
              <a:lnSpc>
                <a:spcPct val="135000"/>
              </a:lnSpc>
              <a:buNone/>
            </a:pPr>
            <a:r>
              <a:rPr lang="en-US" sz="1600" dirty="0">
                <a:solidFill>
                  <a:srgbClr val="13222E"/>
                </a:solidFill>
                <a:latin typeface="Calibri" pitchFamily="34" charset="0"/>
                <a:ea typeface="Calibri" pitchFamily="34" charset="-122"/>
                <a:cs typeface="Calibri" pitchFamily="34" charset="-120"/>
              </a:rPr>
              <a:t>•  Catching a glass before it lands</a:t>
            </a:r>
            <a:endParaRPr lang="en-US" sz="1600" dirty="0"/>
          </a:p>
        </p:txBody>
      </p:sp>
      <p:sp>
        <p:nvSpPr>
          <p:cNvPr id="10" name="Shape 8"/>
          <p:cNvSpPr/>
          <p:nvPr/>
        </p:nvSpPr>
        <p:spPr>
          <a:xfrm>
            <a:off x="640080" y="4343400"/>
            <a:ext cx="10927080" cy="1874520"/>
          </a:xfrm>
          <a:prstGeom prst="roundRect">
            <a:avLst>
              <a:gd name="adj" fmla="val 2927"/>
            </a:avLst>
          </a:prstGeom>
          <a:solidFill>
            <a:srgbClr val="10202B"/>
          </a:solidFill>
          <a:ln/>
        </p:spPr>
      </p:sp>
      <p:sp>
        <p:nvSpPr>
          <p:cNvPr id="11" name="Text 9"/>
          <p:cNvSpPr txBox="1"/>
          <p:nvPr/>
        </p:nvSpPr>
        <p:spPr>
          <a:xfrm>
            <a:off x="1005840" y="4572000"/>
            <a:ext cx="3566160" cy="822960"/>
          </a:xfrm>
          <a:prstGeom prst="rect">
            <a:avLst/>
          </a:prstGeom>
          <a:noFill/>
          <a:ln/>
        </p:spPr>
        <p:txBody>
          <a:bodyPr wrap="square" lIns="0" tIns="0" rIns="0" bIns="0" rtlCol="0" anchor="ctr"/>
          <a:lstStyle/>
          <a:p>
            <a:pPr marL="0" indent="0">
              <a:buNone/>
            </a:pPr>
            <a:r>
              <a:rPr lang="en-US" sz="3400" b="1" dirty="0">
                <a:solidFill>
                  <a:srgbClr val="E8843F"/>
                </a:solidFill>
                <a:latin typeface="Cambria" pitchFamily="34" charset="0"/>
                <a:ea typeface="Cambria" pitchFamily="34" charset="-122"/>
                <a:cs typeface="Cambria" pitchFamily="34" charset="-120"/>
              </a:rPr>
              <a:t>100s of millions</a:t>
            </a:r>
            <a:endParaRPr lang="en-US" sz="3400" dirty="0"/>
          </a:p>
        </p:txBody>
      </p:sp>
      <p:sp>
        <p:nvSpPr>
          <p:cNvPr id="12" name="Text 10"/>
          <p:cNvSpPr txBox="1"/>
          <p:nvPr/>
        </p:nvSpPr>
        <p:spPr>
          <a:xfrm>
            <a:off x="1005840" y="5376672"/>
            <a:ext cx="3200400" cy="640080"/>
          </a:xfrm>
          <a:prstGeom prst="rect">
            <a:avLst/>
          </a:prstGeom>
          <a:noFill/>
          <a:ln/>
        </p:spPr>
        <p:txBody>
          <a:bodyPr wrap="square" lIns="0" tIns="0" rIns="0" bIns="0" rtlCol="0" anchor="ctr"/>
          <a:lstStyle/>
          <a:p>
            <a:pPr marL="0" indent="0">
              <a:buNone/>
            </a:pPr>
            <a:r>
              <a:rPr lang="en-US" sz="1500" dirty="0">
                <a:solidFill>
                  <a:srgbClr val="C9D8E2"/>
                </a:solidFill>
                <a:latin typeface="Calibri" pitchFamily="34" charset="0"/>
                <a:ea typeface="Calibri" pitchFamily="34" charset="-122"/>
                <a:cs typeface="Calibri" pitchFamily="34" charset="-120"/>
              </a:rPr>
              <a:t>of years of evolution behind perception and dexterity</a:t>
            </a:r>
            <a:endParaRPr lang="en-US" sz="1500" dirty="0"/>
          </a:p>
        </p:txBody>
      </p:sp>
      <p:sp>
        <p:nvSpPr>
          <p:cNvPr id="13" name="Text 11"/>
          <p:cNvSpPr txBox="1"/>
          <p:nvPr/>
        </p:nvSpPr>
        <p:spPr>
          <a:xfrm>
            <a:off x="4937760" y="4572000"/>
            <a:ext cx="2194560" cy="822960"/>
          </a:xfrm>
          <a:prstGeom prst="rect">
            <a:avLst/>
          </a:prstGeom>
          <a:noFill/>
          <a:ln/>
        </p:spPr>
        <p:txBody>
          <a:bodyPr wrap="square" lIns="0" tIns="0" rIns="0" bIns="0" rtlCol="0" anchor="ctr"/>
          <a:lstStyle/>
          <a:p>
            <a:pPr marL="0" indent="0">
              <a:buNone/>
            </a:pPr>
            <a:r>
              <a:rPr lang="en-US" sz="3400" b="1" dirty="0">
                <a:solidFill>
                  <a:srgbClr val="8FA8B8"/>
                </a:solidFill>
                <a:latin typeface="Cambria" pitchFamily="34" charset="0"/>
                <a:ea typeface="Cambria" pitchFamily="34" charset="-122"/>
                <a:cs typeface="Cambria" pitchFamily="34" charset="-120"/>
              </a:rPr>
              <a:t>5,000</a:t>
            </a:r>
            <a:endParaRPr lang="en-US" sz="3400" dirty="0"/>
          </a:p>
        </p:txBody>
      </p:sp>
      <p:sp>
        <p:nvSpPr>
          <p:cNvPr id="14" name="Text 12"/>
          <p:cNvSpPr txBox="1"/>
          <p:nvPr/>
        </p:nvSpPr>
        <p:spPr>
          <a:xfrm>
            <a:off x="4937760" y="5376672"/>
            <a:ext cx="2377440" cy="640080"/>
          </a:xfrm>
          <a:prstGeom prst="rect">
            <a:avLst/>
          </a:prstGeom>
          <a:noFill/>
          <a:ln/>
        </p:spPr>
        <p:txBody>
          <a:bodyPr wrap="square" lIns="0" tIns="0" rIns="0" bIns="0" rtlCol="0" anchor="ctr"/>
          <a:lstStyle/>
          <a:p>
            <a:pPr marL="0" indent="0">
              <a:buNone/>
            </a:pPr>
            <a:r>
              <a:rPr lang="en-US" sz="1500" dirty="0">
                <a:solidFill>
                  <a:srgbClr val="C9D8E2"/>
                </a:solidFill>
                <a:latin typeface="Calibri" pitchFamily="34" charset="0"/>
                <a:ea typeface="Calibri" pitchFamily="34" charset="-122"/>
                <a:cs typeface="Calibri" pitchFamily="34" charset="-120"/>
              </a:rPr>
              <a:t>years behind arithmetic and logic</a:t>
            </a:r>
            <a:endParaRPr lang="en-US" sz="1500" dirty="0"/>
          </a:p>
        </p:txBody>
      </p:sp>
      <p:sp>
        <p:nvSpPr>
          <p:cNvPr id="15" name="Text 13"/>
          <p:cNvSpPr txBox="1"/>
          <p:nvPr/>
        </p:nvSpPr>
        <p:spPr>
          <a:xfrm>
            <a:off x="7772400" y="4617720"/>
            <a:ext cx="3566160" cy="1371600"/>
          </a:xfrm>
          <a:prstGeom prst="rect">
            <a:avLst/>
          </a:prstGeom>
          <a:noFill/>
          <a:ln/>
        </p:spPr>
        <p:txBody>
          <a:bodyPr wrap="square" lIns="0" tIns="0" rIns="0" bIns="0" rtlCol="0" anchor="ctr"/>
          <a:lstStyle/>
          <a:p>
            <a:pPr marL="0" indent="0">
              <a:lnSpc>
                <a:spcPct val="120000"/>
              </a:lnSpc>
              <a:buNone/>
            </a:pPr>
            <a:r>
              <a:rPr lang="en-US" sz="1500" dirty="0">
                <a:solidFill>
                  <a:srgbClr val="FFFFFF"/>
                </a:solidFill>
                <a:latin typeface="Calibri" pitchFamily="34" charset="0"/>
                <a:ea typeface="Calibri" pitchFamily="34" charset="-122"/>
                <a:cs typeface="Calibri" pitchFamily="34" charset="-120"/>
              </a:rPr>
              <a:t>Moravec's paradox: the skills that feel effortless to us have the most machinery underneath — so they have the most to rebuild.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mnt/user-data/uploads/10.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WHY IT IS HARD — 3 OF 4</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99% reliable is a failing grade</a:t>
            </a:r>
            <a:endParaRPr lang="en-US" sz="3800" dirty="0"/>
          </a:p>
        </p:txBody>
      </p:sp>
      <p:graphicFrame>
        <p:nvGraphicFramePr>
          <p:cNvPr id="4" name="Chart 0"/>
          <p:cNvGraphicFramePr/>
          <p:nvPr/>
        </p:nvGraphicFramePr>
        <p:xfrm>
          <a:off x="594360" y="1828800"/>
          <a:ext cx="68580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726680" y="1965960"/>
            <a:ext cx="3840480" cy="548640"/>
          </a:xfrm>
          <a:prstGeom prst="rect">
            <a:avLst/>
          </a:prstGeom>
          <a:noFill/>
          <a:ln/>
        </p:spPr>
        <p:txBody>
          <a:bodyPr wrap="square" lIns="0" tIns="0" rIns="0" bIns="0" rtlCol="0" anchor="t"/>
          <a:lstStyle/>
          <a:p>
            <a:pPr marL="0" indent="0" algn="l">
              <a:lnSpc>
                <a:spcPct val="115000"/>
              </a:lnSpc>
              <a:buNone/>
            </a:pPr>
            <a:r>
              <a:rPr lang="en-US" sz="1800" b="1" dirty="0">
                <a:solidFill>
                  <a:srgbClr val="C2571E"/>
                </a:solidFill>
                <a:latin typeface="Calibri" pitchFamily="34" charset="0"/>
                <a:ea typeface="Calibri" pitchFamily="34" charset="-122"/>
                <a:cs typeface="Calibri" pitchFamily="34" charset="-120"/>
              </a:rPr>
              <a:t>Ten broken items a day is not a product.</a:t>
            </a:r>
            <a:endParaRPr lang="en-US" sz="1800" dirty="0"/>
          </a:p>
        </p:txBody>
      </p:sp>
      <p:sp>
        <p:nvSpPr>
          <p:cNvPr id="6" name="Text 3"/>
          <p:cNvSpPr txBox="1"/>
          <p:nvPr/>
        </p:nvSpPr>
        <p:spPr>
          <a:xfrm>
            <a:off x="7726680" y="2651760"/>
            <a:ext cx="3840480" cy="1188720"/>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Every extra nine costs about as much effort as all the nines before it — and there is no natural stopping point.</a:t>
            </a:r>
            <a:endParaRPr lang="en-US" sz="1500" dirty="0"/>
          </a:p>
        </p:txBody>
      </p:sp>
      <p:sp>
        <p:nvSpPr>
          <p:cNvPr id="7" name="Shape 4"/>
          <p:cNvSpPr/>
          <p:nvPr/>
        </p:nvSpPr>
        <p:spPr>
          <a:xfrm>
            <a:off x="7726680" y="4023360"/>
            <a:ext cx="3840480" cy="1645920"/>
          </a:xfrm>
          <a:prstGeom prst="roundRect">
            <a:avLst>
              <a:gd name="adj" fmla="val 3333"/>
            </a:avLst>
          </a:prstGeom>
          <a:solidFill>
            <a:srgbClr val="E1EFF2"/>
          </a:solidFill>
          <a:ln w="9525">
            <a:solidFill>
              <a:srgbClr val="BCD8DE"/>
            </a:solidFill>
            <a:prstDash val="solid"/>
          </a:ln>
        </p:spPr>
      </p:sp>
      <p:sp>
        <p:nvSpPr>
          <p:cNvPr id="8" name="Text 5"/>
          <p:cNvSpPr txBox="1"/>
          <p:nvPr/>
        </p:nvSpPr>
        <p:spPr>
          <a:xfrm>
            <a:off x="8001000" y="4206240"/>
            <a:ext cx="3383280" cy="292608"/>
          </a:xfrm>
          <a:prstGeom prst="rect">
            <a:avLst/>
          </a:prstGeom>
          <a:noFill/>
          <a:ln/>
        </p:spPr>
        <p:txBody>
          <a:bodyPr wrap="square" lIns="0" tIns="0" rIns="0" bIns="0" rtlCol="0" anchor="t"/>
          <a:lstStyle/>
          <a:p>
            <a:pPr marL="0" indent="0" algn="l">
              <a:lnSpc>
                <a:spcPct val="115000"/>
              </a:lnSpc>
              <a:buNone/>
            </a:pPr>
            <a:r>
              <a:rPr lang="en-US" sz="1500" b="1" kern="0" spc="160" dirty="0">
                <a:solidFill>
                  <a:srgbClr val="0F7186"/>
                </a:solidFill>
                <a:latin typeface="Calibri" pitchFamily="34" charset="0"/>
                <a:ea typeface="Calibri" pitchFamily="34" charset="-122"/>
                <a:cs typeface="Calibri" pitchFamily="34" charset="-120"/>
              </a:rPr>
              <a:t>THE LONG TAIL</a:t>
            </a:r>
            <a:endParaRPr lang="en-US" sz="1500" dirty="0"/>
          </a:p>
        </p:txBody>
      </p:sp>
      <p:sp>
        <p:nvSpPr>
          <p:cNvPr id="9" name="Text 6"/>
          <p:cNvSpPr txBox="1"/>
          <p:nvPr/>
        </p:nvSpPr>
        <p:spPr>
          <a:xfrm>
            <a:off x="8001000" y="4572000"/>
            <a:ext cx="3337560" cy="960120"/>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A wet floor. A child's balloon. Low sun through fog. Each is rare. Together they are constant.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WHY IT IS HARD — 4 OF 4</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There is no internet of robot data</a:t>
            </a:r>
            <a:endParaRPr lang="en-US" sz="3800" dirty="0"/>
          </a:p>
        </p:txBody>
      </p:sp>
      <p:pic>
        <p:nvPicPr>
          <p:cNvPr id="4" name="Image 0" descr="/home/claude/img/acc_pendant.png"/>
          <p:cNvPicPr>
            <a:picLocks noChangeAspect="1"/>
          </p:cNvPicPr>
          <p:nvPr/>
        </p:nvPicPr>
        <p:blipFill>
          <a:blip r:embed="rId3"/>
          <a:stretch>
            <a:fillRect/>
          </a:stretch>
        </p:blipFill>
        <p:spPr>
          <a:xfrm>
            <a:off x="10469880" y="411480"/>
            <a:ext cx="1097280" cy="749808"/>
          </a:xfrm>
          <a:prstGeom prst="rect">
            <a:avLst/>
          </a:prstGeom>
        </p:spPr>
      </p:pic>
      <p:sp>
        <p:nvSpPr>
          <p:cNvPr id="5" name="Shape 2"/>
          <p:cNvSpPr/>
          <p:nvPr/>
        </p:nvSpPr>
        <p:spPr>
          <a:xfrm>
            <a:off x="640080" y="1783080"/>
            <a:ext cx="5349240" cy="1691640"/>
          </a:xfrm>
          <a:prstGeom prst="roundRect">
            <a:avLst>
              <a:gd name="adj" fmla="val 3243"/>
            </a:avLst>
          </a:prstGeom>
          <a:solidFill>
            <a:srgbClr val="EFE9F7"/>
          </a:solidFill>
          <a:ln w="9525">
            <a:solidFill>
              <a:srgbClr val="D9CDE9"/>
            </a:solidFill>
            <a:prstDash val="solid"/>
          </a:ln>
        </p:spPr>
      </p:sp>
      <p:sp>
        <p:nvSpPr>
          <p:cNvPr id="6" name="Text 3"/>
          <p:cNvSpPr txBox="1"/>
          <p:nvPr/>
        </p:nvSpPr>
        <p:spPr>
          <a:xfrm>
            <a:off x="960120" y="1965960"/>
            <a:ext cx="4754880" cy="320040"/>
          </a:xfrm>
          <a:prstGeom prst="rect">
            <a:avLst/>
          </a:prstGeom>
          <a:noFill/>
          <a:ln/>
        </p:spPr>
        <p:txBody>
          <a:bodyPr wrap="square" lIns="0" tIns="0" rIns="0" bIns="0" rtlCol="0" anchor="t"/>
          <a:lstStyle/>
          <a:p>
            <a:pPr marL="0" indent="0" algn="l">
              <a:lnSpc>
                <a:spcPct val="115000"/>
              </a:lnSpc>
              <a:buNone/>
            </a:pPr>
            <a:r>
              <a:rPr lang="en-US" sz="1700" b="1" dirty="0">
                <a:solidFill>
                  <a:srgbClr val="6A3FA0"/>
                </a:solidFill>
                <a:latin typeface="Calibri" pitchFamily="34" charset="0"/>
                <a:ea typeface="Calibri" pitchFamily="34" charset="-122"/>
                <a:cs typeface="Calibri" pitchFamily="34" charset="-120"/>
              </a:rPr>
              <a:t>Text is free and infinite</a:t>
            </a:r>
            <a:endParaRPr lang="en-US" sz="1700" dirty="0"/>
          </a:p>
        </p:txBody>
      </p:sp>
      <p:sp>
        <p:nvSpPr>
          <p:cNvPr id="7" name="Text 4"/>
          <p:cNvSpPr txBox="1"/>
          <p:nvPr/>
        </p:nvSpPr>
        <p:spPr>
          <a:xfrm>
            <a:off x="960120" y="2377440"/>
            <a:ext cx="4754880" cy="914400"/>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The web is a warehouse of language somebody else already paid to write.</a:t>
            </a:r>
            <a:endParaRPr lang="en-US" sz="1500" dirty="0"/>
          </a:p>
        </p:txBody>
      </p:sp>
      <p:sp>
        <p:nvSpPr>
          <p:cNvPr id="8" name="Shape 5"/>
          <p:cNvSpPr/>
          <p:nvPr/>
        </p:nvSpPr>
        <p:spPr>
          <a:xfrm>
            <a:off x="6217920" y="1783080"/>
            <a:ext cx="5349240" cy="1691640"/>
          </a:xfrm>
          <a:prstGeom prst="roundRect">
            <a:avLst>
              <a:gd name="adj" fmla="val 3243"/>
            </a:avLst>
          </a:prstGeom>
          <a:solidFill>
            <a:srgbClr val="FBEBE1"/>
          </a:solidFill>
          <a:ln w="9525">
            <a:solidFill>
              <a:srgbClr val="EBC7B0"/>
            </a:solidFill>
            <a:prstDash val="solid"/>
          </a:ln>
        </p:spPr>
      </p:sp>
      <p:sp>
        <p:nvSpPr>
          <p:cNvPr id="9" name="Text 6"/>
          <p:cNvSpPr txBox="1"/>
          <p:nvPr/>
        </p:nvSpPr>
        <p:spPr>
          <a:xfrm>
            <a:off x="6537960" y="1965960"/>
            <a:ext cx="4754880" cy="320040"/>
          </a:xfrm>
          <a:prstGeom prst="rect">
            <a:avLst/>
          </a:prstGeom>
          <a:noFill/>
          <a:ln/>
        </p:spPr>
        <p:txBody>
          <a:bodyPr wrap="square" lIns="0" tIns="0" rIns="0" bIns="0" rtlCol="0" anchor="t"/>
          <a:lstStyle/>
          <a:p>
            <a:pPr marL="0" indent="0" algn="l">
              <a:lnSpc>
                <a:spcPct val="115000"/>
              </a:lnSpc>
              <a:buNone/>
            </a:pPr>
            <a:r>
              <a:rPr lang="en-US" sz="1700" b="1" dirty="0">
                <a:solidFill>
                  <a:srgbClr val="C2571E"/>
                </a:solidFill>
                <a:latin typeface="Calibri" pitchFamily="34" charset="0"/>
                <a:ea typeface="Calibri" pitchFamily="34" charset="-122"/>
                <a:cs typeface="Calibri" pitchFamily="34" charset="-120"/>
              </a:rPr>
              <a:t>Robot data is hand-made</a:t>
            </a:r>
            <a:endParaRPr lang="en-US" sz="1700" dirty="0"/>
          </a:p>
        </p:txBody>
      </p:sp>
      <p:sp>
        <p:nvSpPr>
          <p:cNvPr id="10" name="Text 7"/>
          <p:cNvSpPr txBox="1"/>
          <p:nvPr/>
        </p:nvSpPr>
        <p:spPr>
          <a:xfrm>
            <a:off x="6537960" y="2377440"/>
            <a:ext cx="4754880" cy="914400"/>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Someone teleoperates a real machine, hour by hour. Data is a real moat in robotics, and not in text.</a:t>
            </a:r>
            <a:endParaRPr lang="en-US" sz="1500" dirty="0"/>
          </a:p>
        </p:txBody>
      </p:sp>
      <p:sp>
        <p:nvSpPr>
          <p:cNvPr id="11" name="Shape 8"/>
          <p:cNvSpPr/>
          <p:nvPr/>
        </p:nvSpPr>
        <p:spPr>
          <a:xfrm>
            <a:off x="640080" y="3931920"/>
            <a:ext cx="4206240" cy="1097280"/>
          </a:xfrm>
          <a:prstGeom prst="roundRect">
            <a:avLst>
              <a:gd name="adj" fmla="val 4167"/>
            </a:avLst>
          </a:prstGeom>
          <a:solidFill>
            <a:srgbClr val="E1EFF2"/>
          </a:solidFill>
          <a:ln w="15875">
            <a:solidFill>
              <a:srgbClr val="0F7186"/>
            </a:solidFill>
            <a:prstDash val="solid"/>
          </a:ln>
        </p:spPr>
      </p:sp>
      <p:sp>
        <p:nvSpPr>
          <p:cNvPr id="12" name="Text 9"/>
          <p:cNvSpPr txBox="1"/>
          <p:nvPr/>
        </p:nvSpPr>
        <p:spPr>
          <a:xfrm>
            <a:off x="685800" y="3931920"/>
            <a:ext cx="4114800" cy="1097280"/>
          </a:xfrm>
          <a:prstGeom prst="rect">
            <a:avLst/>
          </a:prstGeom>
          <a:noFill/>
          <a:ln/>
        </p:spPr>
        <p:txBody>
          <a:bodyPr wrap="square" lIns="0" tIns="0" rIns="0" bIns="0" rtlCol="0" anchor="ctr"/>
          <a:lstStyle/>
          <a:p>
            <a:pPr marL="0" indent="0" algn="ctr">
              <a:buNone/>
            </a:pPr>
            <a:r>
              <a:rPr lang="en-US" sz="1600" b="1" dirty="0">
                <a:solidFill>
                  <a:srgbClr val="0F7186"/>
                </a:solidFill>
                <a:latin typeface="Calibri" pitchFamily="34" charset="0"/>
                <a:ea typeface="Calibri" pitchFamily="34" charset="-122"/>
                <a:cs typeface="Calibri" pitchFamily="34" charset="-120"/>
              </a:rPr>
              <a:t>SIMULATION</a:t>
            </a:r>
            <a:endParaRPr lang="en-US" sz="1600" dirty="0"/>
          </a:p>
        </p:txBody>
      </p:sp>
      <p:sp>
        <p:nvSpPr>
          <p:cNvPr id="13" name="Text 10"/>
          <p:cNvSpPr txBox="1"/>
          <p:nvPr/>
        </p:nvSpPr>
        <p:spPr>
          <a:xfrm>
            <a:off x="640080" y="5138928"/>
            <a:ext cx="4206240" cy="868680"/>
          </a:xfrm>
          <a:prstGeom prst="rect">
            <a:avLst/>
          </a:prstGeom>
          <a:noFill/>
          <a:ln/>
        </p:spPr>
        <p:txBody>
          <a:bodyPr wrap="square" lIns="0" tIns="0" rIns="0" bIns="0" rtlCol="0" anchor="t"/>
          <a:lstStyle/>
          <a:p>
            <a:pPr marL="0" indent="0" algn="ctr">
              <a:lnSpc>
                <a:spcPct val="110000"/>
              </a:lnSpc>
              <a:buNone/>
            </a:pPr>
            <a:r>
              <a:rPr lang="en-US" sz="1500" dirty="0">
                <a:solidFill>
                  <a:srgbClr val="566672"/>
                </a:solidFill>
                <a:latin typeface="Calibri" pitchFamily="34" charset="0"/>
                <a:ea typeface="Calibri" pitchFamily="34" charset="-122"/>
                <a:cs typeface="Calibri" pitchFamily="34" charset="-120"/>
              </a:rPr>
              <a:t>cheap, safe, repeatable, infinite</a:t>
            </a:r>
            <a:endParaRPr lang="en-US" sz="1500" dirty="0"/>
          </a:p>
        </p:txBody>
      </p:sp>
      <p:sp>
        <p:nvSpPr>
          <p:cNvPr id="14" name="Shape 11"/>
          <p:cNvSpPr/>
          <p:nvPr/>
        </p:nvSpPr>
        <p:spPr>
          <a:xfrm>
            <a:off x="7360920" y="3931920"/>
            <a:ext cx="4206240" cy="1097280"/>
          </a:xfrm>
          <a:prstGeom prst="roundRect">
            <a:avLst>
              <a:gd name="adj" fmla="val 4167"/>
            </a:avLst>
          </a:prstGeom>
          <a:solidFill>
            <a:srgbClr val="FBEBE1"/>
          </a:solidFill>
          <a:ln w="15875">
            <a:solidFill>
              <a:srgbClr val="C2571E"/>
            </a:solidFill>
            <a:prstDash val="solid"/>
          </a:ln>
        </p:spPr>
      </p:sp>
      <p:sp>
        <p:nvSpPr>
          <p:cNvPr id="15" name="Text 12"/>
          <p:cNvSpPr txBox="1"/>
          <p:nvPr/>
        </p:nvSpPr>
        <p:spPr>
          <a:xfrm>
            <a:off x="7406640" y="3931920"/>
            <a:ext cx="4114800" cy="1097280"/>
          </a:xfrm>
          <a:prstGeom prst="rect">
            <a:avLst/>
          </a:prstGeom>
          <a:noFill/>
          <a:ln/>
        </p:spPr>
        <p:txBody>
          <a:bodyPr wrap="square" lIns="0" tIns="0" rIns="0" bIns="0" rtlCol="0" anchor="ctr"/>
          <a:lstStyle/>
          <a:p>
            <a:pPr marL="0" indent="0" algn="ctr">
              <a:buNone/>
            </a:pPr>
            <a:r>
              <a:rPr lang="en-US" sz="1600" b="1" dirty="0">
                <a:solidFill>
                  <a:srgbClr val="C2571E"/>
                </a:solidFill>
                <a:latin typeface="Calibri" pitchFamily="34" charset="0"/>
                <a:ea typeface="Calibri" pitchFamily="34" charset="-122"/>
                <a:cs typeface="Calibri" pitchFamily="34" charset="-120"/>
              </a:rPr>
              <a:t>REALITY</a:t>
            </a:r>
            <a:endParaRPr lang="en-US" sz="1600" dirty="0"/>
          </a:p>
        </p:txBody>
      </p:sp>
      <p:sp>
        <p:nvSpPr>
          <p:cNvPr id="16" name="Text 13"/>
          <p:cNvSpPr txBox="1"/>
          <p:nvPr/>
        </p:nvSpPr>
        <p:spPr>
          <a:xfrm>
            <a:off x="7360920" y="5138928"/>
            <a:ext cx="4206240" cy="868680"/>
          </a:xfrm>
          <a:prstGeom prst="rect">
            <a:avLst/>
          </a:prstGeom>
          <a:noFill/>
          <a:ln/>
        </p:spPr>
        <p:txBody>
          <a:bodyPr wrap="square" lIns="0" tIns="0" rIns="0" bIns="0" rtlCol="0" anchor="t"/>
          <a:lstStyle/>
          <a:p>
            <a:pPr marL="0" indent="0" algn="ctr">
              <a:lnSpc>
                <a:spcPct val="110000"/>
              </a:lnSpc>
              <a:buNone/>
            </a:pPr>
            <a:r>
              <a:rPr lang="en-US" sz="1500" dirty="0">
                <a:solidFill>
                  <a:srgbClr val="566672"/>
                </a:solidFill>
                <a:latin typeface="Calibri" pitchFamily="34" charset="0"/>
                <a:ea typeface="Calibri" pitchFamily="34" charset="-122"/>
                <a:cs typeface="Calibri" pitchFamily="34" charset="-120"/>
              </a:rPr>
              <a:t>friction, squish, glare, wear</a:t>
            </a:r>
            <a:endParaRPr lang="en-US" sz="1500" dirty="0"/>
          </a:p>
        </p:txBody>
      </p:sp>
      <p:sp>
        <p:nvSpPr>
          <p:cNvPr id="17" name="Shape 14"/>
          <p:cNvSpPr/>
          <p:nvPr/>
        </p:nvSpPr>
        <p:spPr>
          <a:xfrm>
            <a:off x="5029200" y="4480560"/>
            <a:ext cx="2148840" cy="0"/>
          </a:xfrm>
          <a:prstGeom prst="line">
            <a:avLst/>
          </a:prstGeom>
          <a:noFill/>
          <a:ln w="20320">
            <a:solidFill>
              <a:srgbClr val="566672"/>
            </a:solidFill>
            <a:prstDash val="dash"/>
            <a:tailEnd type="triangle"/>
          </a:ln>
        </p:spPr>
      </p:sp>
      <p:sp>
        <p:nvSpPr>
          <p:cNvPr id="18" name="Text 15"/>
          <p:cNvSpPr txBox="1"/>
          <p:nvPr/>
        </p:nvSpPr>
        <p:spPr>
          <a:xfrm>
            <a:off x="4892040" y="3950208"/>
            <a:ext cx="2423160" cy="292608"/>
          </a:xfrm>
          <a:prstGeom prst="rect">
            <a:avLst/>
          </a:prstGeom>
          <a:noFill/>
          <a:ln/>
        </p:spPr>
        <p:txBody>
          <a:bodyPr wrap="square" lIns="0" tIns="0" rIns="0" bIns="0" rtlCol="0" anchor="ctr"/>
          <a:lstStyle/>
          <a:p>
            <a:pPr marL="0" indent="0" algn="ctr">
              <a:buNone/>
            </a:pPr>
            <a:r>
              <a:rPr lang="en-US" sz="1500" b="1" kern="0" spc="140" dirty="0">
                <a:solidFill>
                  <a:srgbClr val="13222E"/>
                </a:solidFill>
                <a:latin typeface="Calibri" pitchFamily="34" charset="0"/>
                <a:ea typeface="Calibri" pitchFamily="34" charset="-122"/>
                <a:cs typeface="Calibri" pitchFamily="34" charset="-120"/>
              </a:rPr>
              <a:t>THE REALITY GAP</a:t>
            </a:r>
            <a:endParaRPr lang="en-US" sz="1500" dirty="0"/>
          </a:p>
        </p:txBody>
      </p:sp>
      <p:sp>
        <p:nvSpPr>
          <p:cNvPr id="19" name="Text 16"/>
          <p:cNvSpPr txBox="1"/>
          <p:nvPr/>
        </p:nvSpPr>
        <p:spPr>
          <a:xfrm>
            <a:off x="4846320" y="4663440"/>
            <a:ext cx="2514600" cy="594360"/>
          </a:xfrm>
          <a:prstGeom prst="rect">
            <a:avLst/>
          </a:prstGeom>
          <a:noFill/>
          <a:ln/>
        </p:spPr>
        <p:txBody>
          <a:bodyPr wrap="square" lIns="0" tIns="0" rIns="0" bIns="0" rtlCol="0" anchor="ctr"/>
          <a:lstStyle/>
          <a:p>
            <a:pPr marL="0" indent="0" algn="ctr">
              <a:buNone/>
            </a:pPr>
            <a:r>
              <a:rPr lang="en-US" sz="1500" dirty="0">
                <a:solidFill>
                  <a:srgbClr val="566672"/>
                </a:solidFill>
                <a:latin typeface="Calibri" pitchFamily="34" charset="0"/>
                <a:ea typeface="Calibri" pitchFamily="34" charset="-122"/>
                <a:cs typeface="Calibri" pitchFamily="34" charset="-120"/>
              </a:rPr>
              <a:t>perfect in sim,</a:t>
            </a:r>
            <a:endParaRPr lang="en-US" sz="1500" dirty="0"/>
          </a:p>
          <a:p>
            <a:pPr marL="0" indent="0" algn="ctr">
              <a:buNone/>
            </a:pPr>
            <a:r>
              <a:rPr lang="en-US" sz="1500" dirty="0">
                <a:solidFill>
                  <a:srgbClr val="566672"/>
                </a:solidFill>
                <a:latin typeface="Calibri" pitchFamily="34" charset="0"/>
                <a:ea typeface="Calibri" pitchFamily="34" charset="-122"/>
                <a:cs typeface="Calibri" pitchFamily="34" charset="-120"/>
              </a:rPr>
              <a:t>fails on the machine</a:t>
            </a:r>
            <a:endParaRPr lang="en-US" sz="1500" dirty="0"/>
          </a:p>
        </p:txBody>
      </p:sp>
      <p:sp>
        <p:nvSpPr>
          <p:cNvPr id="20" name="Text 17"/>
          <p:cNvSpPr txBox="1"/>
          <p:nvPr/>
        </p:nvSpPr>
        <p:spPr>
          <a:xfrm>
            <a:off x="640080" y="5806440"/>
            <a:ext cx="10927080" cy="548640"/>
          </a:xfrm>
          <a:prstGeom prst="rect">
            <a:avLst/>
          </a:prstGeom>
          <a:noFill/>
          <a:ln/>
        </p:spPr>
        <p:txBody>
          <a:bodyPr wrap="square" lIns="0" tIns="0" rIns="0" bIns="0" rtlCol="0" anchor="t"/>
          <a:lstStyle/>
          <a:p>
            <a:pPr marL="0" indent="0" algn="l">
              <a:lnSpc>
                <a:spcPct val="115000"/>
              </a:lnSpc>
              <a:buNone/>
            </a:pPr>
            <a:r>
              <a:rPr lang="en-US" sz="1500" i="1" dirty="0">
                <a:solidFill>
                  <a:srgbClr val="13222E"/>
                </a:solidFill>
                <a:latin typeface="Calibri" pitchFamily="34" charset="0"/>
                <a:ea typeface="Calibri" pitchFamily="34" charset="-122"/>
                <a:cs typeface="Calibri" pitchFamily="34" charset="-120"/>
              </a:rPr>
              <a:t>The standard fix — domain randomisation: train across thousands of slightly wrong physics settings, so reality looks like one more variation the system already handled.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mnt/user-data/uploads/13.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THE TOOLS PEOPLE ACTUALLY USE</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The simulation landscape</a:t>
            </a:r>
            <a:endParaRPr lang="en-US" sz="3800" dirty="0"/>
          </a:p>
        </p:txBody>
      </p:sp>
      <p:sp>
        <p:nvSpPr>
          <p:cNvPr id="4" name="Shape 2"/>
          <p:cNvSpPr/>
          <p:nvPr/>
        </p:nvSpPr>
        <p:spPr>
          <a:xfrm>
            <a:off x="640080" y="1645920"/>
            <a:ext cx="3520440" cy="2194560"/>
          </a:xfrm>
          <a:prstGeom prst="roundRect">
            <a:avLst>
              <a:gd name="adj" fmla="val 2500"/>
            </a:avLst>
          </a:prstGeom>
          <a:solidFill>
            <a:srgbClr val="E1EFF2"/>
          </a:solidFill>
          <a:ln w="9525">
            <a:solidFill>
              <a:srgbClr val="BCD8DE"/>
            </a:solidFill>
            <a:prstDash val="solid"/>
          </a:ln>
        </p:spPr>
      </p:sp>
      <p:sp>
        <p:nvSpPr>
          <p:cNvPr id="5" name="Text 3"/>
          <p:cNvSpPr txBox="1"/>
          <p:nvPr/>
        </p:nvSpPr>
        <p:spPr>
          <a:xfrm>
            <a:off x="868680" y="1810512"/>
            <a:ext cx="3108960" cy="347472"/>
          </a:xfrm>
          <a:prstGeom prst="rect">
            <a:avLst/>
          </a:prstGeom>
          <a:noFill/>
          <a:ln/>
        </p:spPr>
        <p:txBody>
          <a:bodyPr wrap="square" lIns="0" tIns="0" rIns="0" bIns="0" rtlCol="0" anchor="t"/>
          <a:lstStyle/>
          <a:p>
            <a:pPr marL="0" indent="0" algn="l">
              <a:lnSpc>
                <a:spcPct val="115000"/>
              </a:lnSpc>
              <a:buNone/>
            </a:pPr>
            <a:r>
              <a:rPr lang="en-US" sz="1700" b="1" dirty="0">
                <a:solidFill>
                  <a:srgbClr val="0F7186"/>
                </a:solidFill>
                <a:latin typeface="Calibri" pitchFamily="34" charset="0"/>
                <a:ea typeface="Calibri" pitchFamily="34" charset="-122"/>
                <a:cs typeface="Calibri" pitchFamily="34" charset="-120"/>
              </a:rPr>
              <a:t>MuJoCo</a:t>
            </a:r>
            <a:endParaRPr lang="en-US" sz="1700" dirty="0"/>
          </a:p>
        </p:txBody>
      </p:sp>
      <p:sp>
        <p:nvSpPr>
          <p:cNvPr id="6" name="Text 4"/>
          <p:cNvSpPr txBox="1"/>
          <p:nvPr/>
        </p:nvSpPr>
        <p:spPr>
          <a:xfrm>
            <a:off x="868680" y="2176272"/>
            <a:ext cx="3108960" cy="292608"/>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physics engine · open, Apache 2.0</a:t>
            </a:r>
            <a:endParaRPr lang="en-US" sz="1500" dirty="0"/>
          </a:p>
        </p:txBody>
      </p:sp>
      <p:sp>
        <p:nvSpPr>
          <p:cNvPr id="7" name="Text 5"/>
          <p:cNvSpPr txBox="1"/>
          <p:nvPr/>
        </p:nvSpPr>
        <p:spPr>
          <a:xfrm>
            <a:off x="868680" y="2542032"/>
            <a:ext cx="3108960" cy="123444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DeepMind's contact-rich workhorse and the academic default. Easy to install, gold standard for grasping. MJX is the JAX rewrite that runs it on GPU.</a:t>
            </a:r>
            <a:endParaRPr lang="en-US" sz="1500" dirty="0"/>
          </a:p>
        </p:txBody>
      </p:sp>
      <p:sp>
        <p:nvSpPr>
          <p:cNvPr id="8" name="Shape 6"/>
          <p:cNvSpPr/>
          <p:nvPr/>
        </p:nvSpPr>
        <p:spPr>
          <a:xfrm>
            <a:off x="4366260" y="1645920"/>
            <a:ext cx="3520440" cy="2194560"/>
          </a:xfrm>
          <a:prstGeom prst="roundRect">
            <a:avLst>
              <a:gd name="adj" fmla="val 2500"/>
            </a:avLst>
          </a:prstGeom>
          <a:solidFill>
            <a:srgbClr val="EFE9F7"/>
          </a:solidFill>
          <a:ln w="9525">
            <a:solidFill>
              <a:srgbClr val="D9CDE9"/>
            </a:solidFill>
            <a:prstDash val="solid"/>
          </a:ln>
        </p:spPr>
      </p:sp>
      <p:sp>
        <p:nvSpPr>
          <p:cNvPr id="9" name="Text 7"/>
          <p:cNvSpPr txBox="1"/>
          <p:nvPr/>
        </p:nvSpPr>
        <p:spPr>
          <a:xfrm>
            <a:off x="4594860" y="1810512"/>
            <a:ext cx="3108960" cy="347472"/>
          </a:xfrm>
          <a:prstGeom prst="rect">
            <a:avLst/>
          </a:prstGeom>
          <a:noFill/>
          <a:ln/>
        </p:spPr>
        <p:txBody>
          <a:bodyPr wrap="square" lIns="0" tIns="0" rIns="0" bIns="0" rtlCol="0" anchor="t"/>
          <a:lstStyle/>
          <a:p>
            <a:pPr marL="0" indent="0" algn="l">
              <a:lnSpc>
                <a:spcPct val="115000"/>
              </a:lnSpc>
              <a:buNone/>
            </a:pPr>
            <a:r>
              <a:rPr lang="en-US" sz="1700" b="1" dirty="0">
                <a:solidFill>
                  <a:srgbClr val="6A3FA0"/>
                </a:solidFill>
                <a:latin typeface="Calibri" pitchFamily="34" charset="0"/>
                <a:ea typeface="Calibri" pitchFamily="34" charset="-122"/>
                <a:cs typeface="Calibri" pitchFamily="34" charset="-120"/>
              </a:rPr>
              <a:t>Isaac Sim</a:t>
            </a:r>
            <a:endParaRPr lang="en-US" sz="1700" dirty="0"/>
          </a:p>
        </p:txBody>
      </p:sp>
      <p:sp>
        <p:nvSpPr>
          <p:cNvPr id="10" name="Text 8"/>
          <p:cNvSpPr txBox="1"/>
          <p:nvPr/>
        </p:nvSpPr>
        <p:spPr>
          <a:xfrm>
            <a:off x="4594860" y="2176272"/>
            <a:ext cx="3108960" cy="292608"/>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full simulator · NVIDIA</a:t>
            </a:r>
            <a:endParaRPr lang="en-US" sz="1500" dirty="0"/>
          </a:p>
        </p:txBody>
      </p:sp>
      <p:sp>
        <p:nvSpPr>
          <p:cNvPr id="11" name="Text 9"/>
          <p:cNvSpPr txBox="1"/>
          <p:nvPr/>
        </p:nvSpPr>
        <p:spPr>
          <a:xfrm>
            <a:off x="4594860" y="2542032"/>
            <a:ext cx="3108960" cy="123444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Built on Omniverse with PhysX 5 and RTX rendering. Photoreal cameras, lidar and depth, aimed at synthetic data and digital twins as much as control.</a:t>
            </a:r>
            <a:endParaRPr lang="en-US" sz="1500" dirty="0"/>
          </a:p>
        </p:txBody>
      </p:sp>
      <p:sp>
        <p:nvSpPr>
          <p:cNvPr id="12" name="Shape 10"/>
          <p:cNvSpPr/>
          <p:nvPr/>
        </p:nvSpPr>
        <p:spPr>
          <a:xfrm>
            <a:off x="8092440" y="1645920"/>
            <a:ext cx="3520440" cy="2194560"/>
          </a:xfrm>
          <a:prstGeom prst="roundRect">
            <a:avLst>
              <a:gd name="adj" fmla="val 2500"/>
            </a:avLst>
          </a:prstGeom>
          <a:solidFill>
            <a:srgbClr val="FBEBE1"/>
          </a:solidFill>
          <a:ln w="9525">
            <a:solidFill>
              <a:srgbClr val="EBC7B0"/>
            </a:solidFill>
            <a:prstDash val="solid"/>
          </a:ln>
        </p:spPr>
      </p:sp>
      <p:sp>
        <p:nvSpPr>
          <p:cNvPr id="13" name="Text 11"/>
          <p:cNvSpPr txBox="1"/>
          <p:nvPr/>
        </p:nvSpPr>
        <p:spPr>
          <a:xfrm>
            <a:off x="8321040" y="1810512"/>
            <a:ext cx="3108960" cy="347472"/>
          </a:xfrm>
          <a:prstGeom prst="rect">
            <a:avLst/>
          </a:prstGeom>
          <a:noFill/>
          <a:ln/>
        </p:spPr>
        <p:txBody>
          <a:bodyPr wrap="square" lIns="0" tIns="0" rIns="0" bIns="0" rtlCol="0" anchor="t"/>
          <a:lstStyle/>
          <a:p>
            <a:pPr marL="0" indent="0" algn="l">
              <a:lnSpc>
                <a:spcPct val="115000"/>
              </a:lnSpc>
              <a:buNone/>
            </a:pPr>
            <a:r>
              <a:rPr lang="en-US" sz="1700" b="1" dirty="0">
                <a:solidFill>
                  <a:srgbClr val="C2571E"/>
                </a:solidFill>
                <a:latin typeface="Calibri" pitchFamily="34" charset="0"/>
                <a:ea typeface="Calibri" pitchFamily="34" charset="-122"/>
                <a:cs typeface="Calibri" pitchFamily="34" charset="-120"/>
              </a:rPr>
              <a:t>Isaac Lab</a:t>
            </a:r>
            <a:endParaRPr lang="en-US" sz="1700" dirty="0"/>
          </a:p>
        </p:txBody>
      </p:sp>
      <p:sp>
        <p:nvSpPr>
          <p:cNvPr id="14" name="Text 12"/>
          <p:cNvSpPr txBox="1"/>
          <p:nvPr/>
        </p:nvSpPr>
        <p:spPr>
          <a:xfrm>
            <a:off x="8321040" y="2176272"/>
            <a:ext cx="3108960" cy="292608"/>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learning framework, not a simulator</a:t>
            </a:r>
            <a:endParaRPr lang="en-US" sz="1500" dirty="0"/>
          </a:p>
        </p:txBody>
      </p:sp>
      <p:sp>
        <p:nvSpPr>
          <p:cNvPr id="15" name="Text 13"/>
          <p:cNvSpPr txBox="1"/>
          <p:nvPr/>
        </p:nvSpPr>
        <p:spPr>
          <a:xfrm>
            <a:off x="8321040" y="2542032"/>
            <a:ext cx="3108960" cy="123444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Sits on Isaac Sim and holds the reinforcement-learning workflow. Replaces the deprecated Isaac Gym and Orbit — don't start new work on those.</a:t>
            </a:r>
            <a:endParaRPr lang="en-US" sz="1500" dirty="0"/>
          </a:p>
        </p:txBody>
      </p:sp>
      <p:sp>
        <p:nvSpPr>
          <p:cNvPr id="16" name="Shape 14"/>
          <p:cNvSpPr/>
          <p:nvPr/>
        </p:nvSpPr>
        <p:spPr>
          <a:xfrm>
            <a:off x="640080" y="3977640"/>
            <a:ext cx="3520440" cy="2194560"/>
          </a:xfrm>
          <a:prstGeom prst="roundRect">
            <a:avLst>
              <a:gd name="adj" fmla="val 2500"/>
            </a:avLst>
          </a:prstGeom>
          <a:solidFill>
            <a:srgbClr val="FAF0DA"/>
          </a:solidFill>
          <a:ln w="9525">
            <a:solidFill>
              <a:srgbClr val="E5D3A6"/>
            </a:solidFill>
            <a:prstDash val="solid"/>
          </a:ln>
        </p:spPr>
      </p:sp>
      <p:sp>
        <p:nvSpPr>
          <p:cNvPr id="17" name="Text 15"/>
          <p:cNvSpPr txBox="1"/>
          <p:nvPr/>
        </p:nvSpPr>
        <p:spPr>
          <a:xfrm>
            <a:off x="868680" y="4142232"/>
            <a:ext cx="3108960" cy="347472"/>
          </a:xfrm>
          <a:prstGeom prst="rect">
            <a:avLst/>
          </a:prstGeom>
          <a:noFill/>
          <a:ln/>
        </p:spPr>
        <p:txBody>
          <a:bodyPr wrap="square" lIns="0" tIns="0" rIns="0" bIns="0" rtlCol="0" anchor="t"/>
          <a:lstStyle/>
          <a:p>
            <a:pPr marL="0" indent="0" algn="l">
              <a:lnSpc>
                <a:spcPct val="115000"/>
              </a:lnSpc>
              <a:buNone/>
            </a:pPr>
            <a:r>
              <a:rPr lang="en-US" sz="1700" b="1" dirty="0">
                <a:solidFill>
                  <a:srgbClr val="B77B0C"/>
                </a:solidFill>
                <a:latin typeface="Calibri" pitchFamily="34" charset="0"/>
                <a:ea typeface="Calibri" pitchFamily="34" charset="-122"/>
                <a:cs typeface="Calibri" pitchFamily="34" charset="-120"/>
              </a:rPr>
              <a:t>Omniverse + OpenUSD</a:t>
            </a:r>
            <a:endParaRPr lang="en-US" sz="1700" dirty="0"/>
          </a:p>
        </p:txBody>
      </p:sp>
      <p:sp>
        <p:nvSpPr>
          <p:cNvPr id="18" name="Text 16"/>
          <p:cNvSpPr txBox="1"/>
          <p:nvPr/>
        </p:nvSpPr>
        <p:spPr>
          <a:xfrm>
            <a:off x="868680" y="4507992"/>
            <a:ext cx="3108960" cy="292608"/>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scene layer · NVIDIA</a:t>
            </a:r>
            <a:endParaRPr lang="en-US" sz="1500" dirty="0"/>
          </a:p>
        </p:txBody>
      </p:sp>
      <p:sp>
        <p:nvSpPr>
          <p:cNvPr id="19" name="Text 17"/>
          <p:cNvSpPr txBox="1"/>
          <p:nvPr/>
        </p:nvSpPr>
        <p:spPr>
          <a:xfrm>
            <a:off x="868680" y="4873752"/>
            <a:ext cx="3108960" cy="123444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Not a physics engine: the format where robots, rooms, sensors and materials live, so scenes move between tools instead of being rebuilt.</a:t>
            </a:r>
            <a:endParaRPr lang="en-US" sz="1500" dirty="0"/>
          </a:p>
        </p:txBody>
      </p:sp>
      <p:sp>
        <p:nvSpPr>
          <p:cNvPr id="20" name="Shape 18"/>
          <p:cNvSpPr/>
          <p:nvPr/>
        </p:nvSpPr>
        <p:spPr>
          <a:xfrm>
            <a:off x="4366260" y="3977640"/>
            <a:ext cx="3520440" cy="2194560"/>
          </a:xfrm>
          <a:prstGeom prst="roundRect">
            <a:avLst>
              <a:gd name="adj" fmla="val 2500"/>
            </a:avLst>
          </a:prstGeom>
          <a:solidFill>
            <a:srgbClr val="E2F0EA"/>
          </a:solidFill>
          <a:ln w="9525">
            <a:solidFill>
              <a:srgbClr val="BEDACE"/>
            </a:solidFill>
            <a:prstDash val="solid"/>
          </a:ln>
        </p:spPr>
      </p:sp>
      <p:sp>
        <p:nvSpPr>
          <p:cNvPr id="21" name="Text 19"/>
          <p:cNvSpPr txBox="1"/>
          <p:nvPr/>
        </p:nvSpPr>
        <p:spPr>
          <a:xfrm>
            <a:off x="4594860" y="4142232"/>
            <a:ext cx="3108960" cy="347472"/>
          </a:xfrm>
          <a:prstGeom prst="rect">
            <a:avLst/>
          </a:prstGeom>
          <a:noFill/>
          <a:ln/>
        </p:spPr>
        <p:txBody>
          <a:bodyPr wrap="square" lIns="0" tIns="0" rIns="0" bIns="0" rtlCol="0" anchor="t"/>
          <a:lstStyle/>
          <a:p>
            <a:pPr marL="0" indent="0" algn="l">
              <a:lnSpc>
                <a:spcPct val="115000"/>
              </a:lnSpc>
              <a:buNone/>
            </a:pPr>
            <a:r>
              <a:rPr lang="en-US" sz="1700" b="1" dirty="0">
                <a:solidFill>
                  <a:srgbClr val="1F7A55"/>
                </a:solidFill>
                <a:latin typeface="Calibri" pitchFamily="34" charset="0"/>
                <a:ea typeface="Calibri" pitchFamily="34" charset="-122"/>
                <a:cs typeface="Calibri" pitchFamily="34" charset="-120"/>
              </a:rPr>
              <a:t>Newton</a:t>
            </a:r>
            <a:endParaRPr lang="en-US" sz="1700" dirty="0"/>
          </a:p>
        </p:txBody>
      </p:sp>
      <p:sp>
        <p:nvSpPr>
          <p:cNvPr id="22" name="Text 20"/>
          <p:cNvSpPr txBox="1"/>
          <p:nvPr/>
        </p:nvSpPr>
        <p:spPr>
          <a:xfrm>
            <a:off x="4594860" y="4507992"/>
            <a:ext cx="3108960" cy="292608"/>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new open engine</a:t>
            </a:r>
            <a:endParaRPr lang="en-US" sz="1500" dirty="0"/>
          </a:p>
        </p:txBody>
      </p:sp>
      <p:sp>
        <p:nvSpPr>
          <p:cNvPr id="23" name="Text 21"/>
          <p:cNvSpPr txBox="1"/>
          <p:nvPr/>
        </p:nvSpPr>
        <p:spPr>
          <a:xfrm>
            <a:off x="4594860" y="4873752"/>
            <a:ext cx="3108960" cy="123444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GPU-accelerated and differentiable, built on Warp with a MuJoCo Warp backend. Jointly built by NVIDIA, Google DeepMind and Disney Research.</a:t>
            </a:r>
            <a:endParaRPr lang="en-US" sz="1500" dirty="0"/>
          </a:p>
        </p:txBody>
      </p:sp>
      <p:sp>
        <p:nvSpPr>
          <p:cNvPr id="24" name="Shape 22"/>
          <p:cNvSpPr/>
          <p:nvPr/>
        </p:nvSpPr>
        <p:spPr>
          <a:xfrm>
            <a:off x="8092440" y="3977640"/>
            <a:ext cx="3520440" cy="2194560"/>
          </a:xfrm>
          <a:prstGeom prst="roundRect">
            <a:avLst>
              <a:gd name="adj" fmla="val 2500"/>
            </a:avLst>
          </a:prstGeom>
          <a:solidFill>
            <a:srgbClr val="EEF2F5"/>
          </a:solidFill>
          <a:ln w="9525">
            <a:solidFill>
              <a:srgbClr val="C9D3DA"/>
            </a:solidFill>
            <a:prstDash val="solid"/>
          </a:ln>
        </p:spPr>
      </p:sp>
      <p:sp>
        <p:nvSpPr>
          <p:cNvPr id="25" name="Text 23"/>
          <p:cNvSpPr txBox="1"/>
          <p:nvPr/>
        </p:nvSpPr>
        <p:spPr>
          <a:xfrm>
            <a:off x="8321040" y="4142232"/>
            <a:ext cx="3108960" cy="347472"/>
          </a:xfrm>
          <a:prstGeom prst="rect">
            <a:avLst/>
          </a:prstGeom>
          <a:noFill/>
          <a:ln/>
        </p:spPr>
        <p:txBody>
          <a:bodyPr wrap="square" lIns="0" tIns="0" rIns="0" bIns="0" rtlCol="0" anchor="t"/>
          <a:lstStyle/>
          <a:p>
            <a:pPr marL="0" indent="0" algn="l">
              <a:lnSpc>
                <a:spcPct val="115000"/>
              </a:lnSpc>
              <a:buNone/>
            </a:pPr>
            <a:r>
              <a:rPr lang="en-US" sz="1700" b="1" dirty="0">
                <a:solidFill>
                  <a:srgbClr val="566672"/>
                </a:solidFill>
                <a:latin typeface="Calibri" pitchFamily="34" charset="0"/>
                <a:ea typeface="Calibri" pitchFamily="34" charset="-122"/>
                <a:cs typeface="Calibri" pitchFamily="34" charset="-120"/>
              </a:rPr>
              <a:t>Also in use</a:t>
            </a:r>
            <a:endParaRPr lang="en-US" sz="1700" dirty="0"/>
          </a:p>
        </p:txBody>
      </p:sp>
      <p:sp>
        <p:nvSpPr>
          <p:cNvPr id="26" name="Text 24"/>
          <p:cNvSpPr txBox="1"/>
          <p:nvPr/>
        </p:nvSpPr>
        <p:spPr>
          <a:xfrm>
            <a:off x="8321040" y="4507992"/>
            <a:ext cx="3108960" cy="292608"/>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the rest of the field</a:t>
            </a:r>
            <a:endParaRPr lang="en-US" sz="1500" dirty="0"/>
          </a:p>
        </p:txBody>
      </p:sp>
      <p:sp>
        <p:nvSpPr>
          <p:cNvPr id="27" name="Text 25"/>
          <p:cNvSpPr txBox="1"/>
          <p:nvPr/>
        </p:nvSpPr>
        <p:spPr>
          <a:xfrm>
            <a:off x="8321040" y="4873752"/>
            <a:ext cx="3108960" cy="123444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Genesis for speed, Robosuite and MuJoCo Playground for benchmarks, Gazebo and PyBullet in older stacks, Drake for control theory.</a:t>
            </a:r>
            <a:endParaRPr lang="en-US" sz="1500" dirty="0"/>
          </a:p>
        </p:txBody>
      </p:sp>
      <p:sp>
        <p:nvSpPr>
          <p:cNvPr id="28" name="Text 26"/>
          <p:cNvSpPr txBox="1"/>
          <p:nvPr/>
        </p:nvSpPr>
        <p:spPr>
          <a:xfrm>
            <a:off x="640080" y="6309360"/>
            <a:ext cx="10927080" cy="457200"/>
          </a:xfrm>
          <a:prstGeom prst="rect">
            <a:avLst/>
          </a:prstGeom>
          <a:noFill/>
          <a:ln/>
        </p:spPr>
        <p:txBody>
          <a:bodyPr wrap="square" lIns="0" tIns="0" rIns="0" bIns="0" rtlCol="0" anchor="t"/>
          <a:lstStyle/>
          <a:p>
            <a:pPr marL="0" indent="0" algn="l">
              <a:lnSpc>
                <a:spcPct val="115000"/>
              </a:lnSpc>
              <a:buNone/>
            </a:pPr>
            <a:r>
              <a:rPr lang="en-US" sz="1500" b="1" i="1" dirty="0">
                <a:solidFill>
                  <a:srgbClr val="C2571E"/>
                </a:solidFill>
                <a:latin typeface="Calibri" pitchFamily="34" charset="0"/>
                <a:ea typeface="Calibri" pitchFamily="34" charset="-122"/>
                <a:cs typeface="Calibri" pitchFamily="34" charset="-120"/>
              </a:rPr>
              <a:t>Rule of thumb: MuJoCo to prototype and to evaluate, Isaac Lab when you need thousands of parallel worlds and photoreal sensors.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THE TREND</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Where simulation is heading</a:t>
            </a:r>
            <a:endParaRPr lang="en-US" sz="3800" dirty="0"/>
          </a:p>
        </p:txBody>
      </p:sp>
      <p:sp>
        <p:nvSpPr>
          <p:cNvPr id="4" name="Shape 2"/>
          <p:cNvSpPr/>
          <p:nvPr/>
        </p:nvSpPr>
        <p:spPr>
          <a:xfrm>
            <a:off x="640080" y="1645920"/>
            <a:ext cx="10927080" cy="1078992"/>
          </a:xfrm>
          <a:prstGeom prst="roundRect">
            <a:avLst>
              <a:gd name="adj" fmla="val 5085"/>
            </a:avLst>
          </a:prstGeom>
          <a:solidFill>
            <a:srgbClr val="E1EFF2"/>
          </a:solidFill>
          <a:ln w="9525">
            <a:solidFill>
              <a:srgbClr val="BCD8DE"/>
            </a:solidFill>
            <a:prstDash val="solid"/>
          </a:ln>
        </p:spPr>
      </p:sp>
      <p:sp>
        <p:nvSpPr>
          <p:cNvPr id="5" name="Text 3"/>
          <p:cNvSpPr txBox="1"/>
          <p:nvPr/>
        </p:nvSpPr>
        <p:spPr>
          <a:xfrm>
            <a:off x="914400" y="1920240"/>
            <a:ext cx="731520" cy="502920"/>
          </a:xfrm>
          <a:prstGeom prst="rect">
            <a:avLst/>
          </a:prstGeom>
          <a:noFill/>
          <a:ln/>
        </p:spPr>
        <p:txBody>
          <a:bodyPr wrap="square" lIns="0" tIns="0" rIns="0" bIns="0" rtlCol="0" anchor="ctr"/>
          <a:lstStyle/>
          <a:p>
            <a:pPr marL="0" indent="0">
              <a:buNone/>
            </a:pPr>
            <a:r>
              <a:rPr lang="en-US" sz="2400" b="1" dirty="0">
                <a:solidFill>
                  <a:srgbClr val="0F7186"/>
                </a:solidFill>
                <a:latin typeface="Cambria" pitchFamily="34" charset="0"/>
                <a:ea typeface="Cambria" pitchFamily="34" charset="-122"/>
                <a:cs typeface="Cambria" pitchFamily="34" charset="-120"/>
              </a:rPr>
              <a:t>01</a:t>
            </a:r>
            <a:endParaRPr lang="en-US" sz="2400" dirty="0"/>
          </a:p>
        </p:txBody>
      </p:sp>
      <p:sp>
        <p:nvSpPr>
          <p:cNvPr id="6" name="Text 4"/>
          <p:cNvSpPr txBox="1"/>
          <p:nvPr/>
        </p:nvSpPr>
        <p:spPr>
          <a:xfrm>
            <a:off x="1783080" y="1792224"/>
            <a:ext cx="9509760" cy="329184"/>
          </a:xfrm>
          <a:prstGeom prst="rect">
            <a:avLst/>
          </a:prstGeom>
          <a:noFill/>
          <a:ln/>
        </p:spPr>
        <p:txBody>
          <a:bodyPr wrap="square" lIns="0" tIns="0" rIns="0" bIns="0" rtlCol="0" anchor="t"/>
          <a:lstStyle/>
          <a:p>
            <a:pPr marL="0" indent="0" algn="l">
              <a:lnSpc>
                <a:spcPct val="115000"/>
              </a:lnSpc>
              <a:buNone/>
            </a:pPr>
            <a:r>
              <a:rPr lang="en-US" sz="1700" b="1" dirty="0">
                <a:solidFill>
                  <a:srgbClr val="0F7186"/>
                </a:solidFill>
                <a:latin typeface="Calibri" pitchFamily="34" charset="0"/>
                <a:ea typeface="Calibri" pitchFamily="34" charset="-122"/>
                <a:cs typeface="Calibri" pitchFamily="34" charset="-120"/>
              </a:rPr>
              <a:t>GPU-parallel is the baseline</a:t>
            </a:r>
            <a:endParaRPr lang="en-US" sz="1700" dirty="0"/>
          </a:p>
        </p:txBody>
      </p:sp>
      <p:sp>
        <p:nvSpPr>
          <p:cNvPr id="7" name="Text 5"/>
          <p:cNvSpPr txBox="1"/>
          <p:nvPr/>
        </p:nvSpPr>
        <p:spPr>
          <a:xfrm>
            <a:off x="1783080" y="2148840"/>
            <a:ext cx="9509760" cy="50292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Running one world at a time is now only for prototyping. Every serious training stack simulates thousands of worlds at once, and the engines are being rewritten to make that the default rather than a feature.</a:t>
            </a:r>
            <a:endParaRPr lang="en-US" sz="1500" dirty="0"/>
          </a:p>
        </p:txBody>
      </p:sp>
      <p:sp>
        <p:nvSpPr>
          <p:cNvPr id="8" name="Shape 6"/>
          <p:cNvSpPr/>
          <p:nvPr/>
        </p:nvSpPr>
        <p:spPr>
          <a:xfrm>
            <a:off x="640080" y="2852928"/>
            <a:ext cx="10927080" cy="1078992"/>
          </a:xfrm>
          <a:prstGeom prst="roundRect">
            <a:avLst>
              <a:gd name="adj" fmla="val 5085"/>
            </a:avLst>
          </a:prstGeom>
          <a:solidFill>
            <a:srgbClr val="EFE9F7"/>
          </a:solidFill>
          <a:ln w="9525">
            <a:solidFill>
              <a:srgbClr val="D9CDE9"/>
            </a:solidFill>
            <a:prstDash val="solid"/>
          </a:ln>
        </p:spPr>
      </p:sp>
      <p:sp>
        <p:nvSpPr>
          <p:cNvPr id="9" name="Text 7"/>
          <p:cNvSpPr txBox="1"/>
          <p:nvPr/>
        </p:nvSpPr>
        <p:spPr>
          <a:xfrm>
            <a:off x="914400" y="3127248"/>
            <a:ext cx="731520" cy="502920"/>
          </a:xfrm>
          <a:prstGeom prst="rect">
            <a:avLst/>
          </a:prstGeom>
          <a:noFill/>
          <a:ln/>
        </p:spPr>
        <p:txBody>
          <a:bodyPr wrap="square" lIns="0" tIns="0" rIns="0" bIns="0" rtlCol="0" anchor="ctr"/>
          <a:lstStyle/>
          <a:p>
            <a:pPr marL="0" indent="0">
              <a:buNone/>
            </a:pPr>
            <a:r>
              <a:rPr lang="en-US" sz="2400" b="1" dirty="0">
                <a:solidFill>
                  <a:srgbClr val="6A3FA0"/>
                </a:solidFill>
                <a:latin typeface="Cambria" pitchFamily="34" charset="0"/>
                <a:ea typeface="Cambria" pitchFamily="34" charset="-122"/>
                <a:cs typeface="Cambria" pitchFamily="34" charset="-120"/>
              </a:rPr>
              <a:t>02</a:t>
            </a:r>
            <a:endParaRPr lang="en-US" sz="2400" dirty="0"/>
          </a:p>
        </p:txBody>
      </p:sp>
      <p:sp>
        <p:nvSpPr>
          <p:cNvPr id="10" name="Text 8"/>
          <p:cNvSpPr txBox="1"/>
          <p:nvPr/>
        </p:nvSpPr>
        <p:spPr>
          <a:xfrm>
            <a:off x="1783080" y="2999232"/>
            <a:ext cx="9509760" cy="329184"/>
          </a:xfrm>
          <a:prstGeom prst="rect">
            <a:avLst/>
          </a:prstGeom>
          <a:noFill/>
          <a:ln/>
        </p:spPr>
        <p:txBody>
          <a:bodyPr wrap="square" lIns="0" tIns="0" rIns="0" bIns="0" rtlCol="0" anchor="t"/>
          <a:lstStyle/>
          <a:p>
            <a:pPr marL="0" indent="0" algn="l">
              <a:lnSpc>
                <a:spcPct val="115000"/>
              </a:lnSpc>
              <a:buNone/>
            </a:pPr>
            <a:r>
              <a:rPr lang="en-US" sz="1700" b="1" dirty="0">
                <a:solidFill>
                  <a:srgbClr val="6A3FA0"/>
                </a:solidFill>
                <a:latin typeface="Calibri" pitchFamily="34" charset="0"/>
                <a:ea typeface="Calibri" pitchFamily="34" charset="-122"/>
                <a:cs typeface="Calibri" pitchFamily="34" charset="-120"/>
              </a:rPr>
              <a:t>Consolidation on shared standards</a:t>
            </a:r>
            <a:endParaRPr lang="en-US" sz="1700" dirty="0"/>
          </a:p>
        </p:txBody>
      </p:sp>
      <p:sp>
        <p:nvSpPr>
          <p:cNvPr id="11" name="Text 9"/>
          <p:cNvSpPr txBox="1"/>
          <p:nvPr/>
        </p:nvSpPr>
        <p:spPr>
          <a:xfrm>
            <a:off x="1783080" y="3355848"/>
            <a:ext cx="9509760" cy="50292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Growing convergence on shared scene standards and GPU-accelerated physics — OpenUSD, and now Newton. That NVIDIA, DeepMind and Disney fund it jointly says the industry would rather share a physics layer than each maintain its own.</a:t>
            </a:r>
            <a:endParaRPr lang="en-US" sz="1500" dirty="0"/>
          </a:p>
        </p:txBody>
      </p:sp>
      <p:sp>
        <p:nvSpPr>
          <p:cNvPr id="12" name="Shape 10"/>
          <p:cNvSpPr/>
          <p:nvPr/>
        </p:nvSpPr>
        <p:spPr>
          <a:xfrm>
            <a:off x="640080" y="4059936"/>
            <a:ext cx="10927080" cy="1078992"/>
          </a:xfrm>
          <a:prstGeom prst="roundRect">
            <a:avLst>
              <a:gd name="adj" fmla="val 5085"/>
            </a:avLst>
          </a:prstGeom>
          <a:solidFill>
            <a:srgbClr val="FAF0DA"/>
          </a:solidFill>
          <a:ln w="9525">
            <a:solidFill>
              <a:srgbClr val="E5D3A6"/>
            </a:solidFill>
            <a:prstDash val="solid"/>
          </a:ln>
        </p:spPr>
      </p:sp>
      <p:sp>
        <p:nvSpPr>
          <p:cNvPr id="13" name="Text 11"/>
          <p:cNvSpPr txBox="1"/>
          <p:nvPr/>
        </p:nvSpPr>
        <p:spPr>
          <a:xfrm>
            <a:off x="914400" y="4334256"/>
            <a:ext cx="731520" cy="502920"/>
          </a:xfrm>
          <a:prstGeom prst="rect">
            <a:avLst/>
          </a:prstGeom>
          <a:noFill/>
          <a:ln/>
        </p:spPr>
        <p:txBody>
          <a:bodyPr wrap="square" lIns="0" tIns="0" rIns="0" bIns="0" rtlCol="0" anchor="ctr"/>
          <a:lstStyle/>
          <a:p>
            <a:pPr marL="0" indent="0">
              <a:buNone/>
            </a:pPr>
            <a:r>
              <a:rPr lang="en-US" sz="2400" b="1" dirty="0">
                <a:solidFill>
                  <a:srgbClr val="B77B0C"/>
                </a:solidFill>
                <a:latin typeface="Cambria" pitchFamily="34" charset="0"/>
                <a:ea typeface="Cambria" pitchFamily="34" charset="-122"/>
                <a:cs typeface="Cambria" pitchFamily="34" charset="-120"/>
              </a:rPr>
              <a:t>03</a:t>
            </a:r>
            <a:endParaRPr lang="en-US" sz="2400" dirty="0"/>
          </a:p>
        </p:txBody>
      </p:sp>
      <p:sp>
        <p:nvSpPr>
          <p:cNvPr id="14" name="Text 12"/>
          <p:cNvSpPr txBox="1"/>
          <p:nvPr/>
        </p:nvSpPr>
        <p:spPr>
          <a:xfrm>
            <a:off x="1783080" y="4206240"/>
            <a:ext cx="9509760" cy="329184"/>
          </a:xfrm>
          <a:prstGeom prst="rect">
            <a:avLst/>
          </a:prstGeom>
          <a:noFill/>
          <a:ln/>
        </p:spPr>
        <p:txBody>
          <a:bodyPr wrap="square" lIns="0" tIns="0" rIns="0" bIns="0" rtlCol="0" anchor="t"/>
          <a:lstStyle/>
          <a:p>
            <a:pPr marL="0" indent="0" algn="l">
              <a:lnSpc>
                <a:spcPct val="115000"/>
              </a:lnSpc>
              <a:buNone/>
            </a:pPr>
            <a:r>
              <a:rPr lang="en-US" sz="1700" b="1" dirty="0">
                <a:solidFill>
                  <a:srgbClr val="B77B0C"/>
                </a:solidFill>
                <a:latin typeface="Calibri" pitchFamily="34" charset="0"/>
                <a:ea typeface="Calibri" pitchFamily="34" charset="-122"/>
                <a:cs typeface="Calibri" pitchFamily="34" charset="-120"/>
              </a:rPr>
              <a:t>The simulator becomes a data factory</a:t>
            </a:r>
            <a:endParaRPr lang="en-US" sz="1700" dirty="0"/>
          </a:p>
        </p:txBody>
      </p:sp>
      <p:sp>
        <p:nvSpPr>
          <p:cNvPr id="15" name="Text 13"/>
          <p:cNvSpPr txBox="1"/>
          <p:nvPr/>
        </p:nvSpPr>
        <p:spPr>
          <a:xfrm>
            <a:off x="1783080" y="4562856"/>
            <a:ext cx="9509760" cy="50292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The output people want is no longer a demo but a dataset. Digital twins get reconstructed from scans, then varied endlessly. NVIDIA reports its synthetic-motion pipeline cut generation from months to about 36 hours.</a:t>
            </a:r>
            <a:endParaRPr lang="en-US" sz="1500" dirty="0"/>
          </a:p>
        </p:txBody>
      </p:sp>
      <p:sp>
        <p:nvSpPr>
          <p:cNvPr id="16" name="Shape 14"/>
          <p:cNvSpPr/>
          <p:nvPr/>
        </p:nvSpPr>
        <p:spPr>
          <a:xfrm>
            <a:off x="640080" y="5266944"/>
            <a:ext cx="10927080" cy="1078992"/>
          </a:xfrm>
          <a:prstGeom prst="roundRect">
            <a:avLst>
              <a:gd name="adj" fmla="val 5085"/>
            </a:avLst>
          </a:prstGeom>
          <a:solidFill>
            <a:srgbClr val="FBEBE1"/>
          </a:solidFill>
          <a:ln w="9525">
            <a:solidFill>
              <a:srgbClr val="EBC7B0"/>
            </a:solidFill>
            <a:prstDash val="solid"/>
          </a:ln>
        </p:spPr>
      </p:sp>
      <p:sp>
        <p:nvSpPr>
          <p:cNvPr id="17" name="Text 15"/>
          <p:cNvSpPr txBox="1"/>
          <p:nvPr/>
        </p:nvSpPr>
        <p:spPr>
          <a:xfrm>
            <a:off x="914400" y="5541264"/>
            <a:ext cx="731520" cy="502920"/>
          </a:xfrm>
          <a:prstGeom prst="rect">
            <a:avLst/>
          </a:prstGeom>
          <a:noFill/>
          <a:ln/>
        </p:spPr>
        <p:txBody>
          <a:bodyPr wrap="square" lIns="0" tIns="0" rIns="0" bIns="0" rtlCol="0" anchor="ctr"/>
          <a:lstStyle/>
          <a:p>
            <a:pPr marL="0" indent="0">
              <a:buNone/>
            </a:pPr>
            <a:r>
              <a:rPr lang="en-US" sz="2400" b="1" dirty="0">
                <a:solidFill>
                  <a:srgbClr val="C2571E"/>
                </a:solidFill>
                <a:latin typeface="Cambria" pitchFamily="34" charset="0"/>
                <a:ea typeface="Cambria" pitchFamily="34" charset="-122"/>
                <a:cs typeface="Cambria" pitchFamily="34" charset="-120"/>
              </a:rPr>
              <a:t>04</a:t>
            </a:r>
            <a:endParaRPr lang="en-US" sz="2400" dirty="0"/>
          </a:p>
        </p:txBody>
      </p:sp>
      <p:sp>
        <p:nvSpPr>
          <p:cNvPr id="18" name="Text 16"/>
          <p:cNvSpPr txBox="1"/>
          <p:nvPr/>
        </p:nvSpPr>
        <p:spPr>
          <a:xfrm>
            <a:off x="1783080" y="5413248"/>
            <a:ext cx="9509760" cy="329184"/>
          </a:xfrm>
          <a:prstGeom prst="rect">
            <a:avLst/>
          </a:prstGeom>
          <a:noFill/>
          <a:ln/>
        </p:spPr>
        <p:txBody>
          <a:bodyPr wrap="square" lIns="0" tIns="0" rIns="0" bIns="0" rtlCol="0" anchor="t"/>
          <a:lstStyle/>
          <a:p>
            <a:pPr marL="0" indent="0" algn="l">
              <a:lnSpc>
                <a:spcPct val="115000"/>
              </a:lnSpc>
              <a:buNone/>
            </a:pPr>
            <a:r>
              <a:rPr lang="en-US" sz="1700" b="1" dirty="0">
                <a:solidFill>
                  <a:srgbClr val="C2571E"/>
                </a:solidFill>
                <a:latin typeface="Calibri" pitchFamily="34" charset="0"/>
                <a:ea typeface="Calibri" pitchFamily="34" charset="-122"/>
                <a:cs typeface="Calibri" pitchFamily="34" charset="-120"/>
              </a:rPr>
              <a:t>Learned simulators start eating the edges</a:t>
            </a:r>
            <a:endParaRPr lang="en-US" sz="1700" dirty="0"/>
          </a:p>
        </p:txBody>
      </p:sp>
      <p:sp>
        <p:nvSpPr>
          <p:cNvPr id="19" name="Text 17"/>
          <p:cNvSpPr txBox="1"/>
          <p:nvPr/>
        </p:nvSpPr>
        <p:spPr>
          <a:xfrm>
            <a:off x="1783080" y="5769864"/>
            <a:ext cx="9509760" cy="50292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World models now generate interactive scenes directly from video. A 2026 survey of 200 systems finds they already substitute for hand-built simulators in narrow cases, but still lose on guaranteed physics and long-horizon consistency.</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THE OTHER HALF OF THE STACK</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ROS — the plumbing between model and machine</a:t>
            </a:r>
            <a:endParaRPr lang="en-US" sz="3800" dirty="0"/>
          </a:p>
        </p:txBody>
      </p:sp>
      <p:sp>
        <p:nvSpPr>
          <p:cNvPr id="4" name="Shape 2"/>
          <p:cNvSpPr/>
          <p:nvPr/>
        </p:nvSpPr>
        <p:spPr>
          <a:xfrm>
            <a:off x="640080" y="1600200"/>
            <a:ext cx="2560320" cy="566928"/>
          </a:xfrm>
          <a:prstGeom prst="roundRect">
            <a:avLst>
              <a:gd name="adj" fmla="val 8065"/>
            </a:avLst>
          </a:prstGeom>
          <a:solidFill>
            <a:srgbClr val="E1EFF2"/>
          </a:solidFill>
          <a:ln w="15875">
            <a:solidFill>
              <a:srgbClr val="0F7186"/>
            </a:solidFill>
            <a:prstDash val="solid"/>
          </a:ln>
        </p:spPr>
      </p:sp>
      <p:sp>
        <p:nvSpPr>
          <p:cNvPr id="5" name="Text 3"/>
          <p:cNvSpPr txBox="1"/>
          <p:nvPr/>
        </p:nvSpPr>
        <p:spPr>
          <a:xfrm>
            <a:off x="685800" y="1600200"/>
            <a:ext cx="2468880" cy="56692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camera driver</a:t>
            </a:r>
            <a:endParaRPr lang="en-US" sz="1500" dirty="0"/>
          </a:p>
        </p:txBody>
      </p:sp>
      <p:sp>
        <p:nvSpPr>
          <p:cNvPr id="6" name="Shape 4"/>
          <p:cNvSpPr/>
          <p:nvPr/>
        </p:nvSpPr>
        <p:spPr>
          <a:xfrm>
            <a:off x="1920240" y="2194560"/>
            <a:ext cx="0" cy="201168"/>
          </a:xfrm>
          <a:prstGeom prst="line">
            <a:avLst/>
          </a:prstGeom>
          <a:noFill/>
          <a:ln w="20320">
            <a:solidFill>
              <a:srgbClr val="0F7186"/>
            </a:solidFill>
            <a:prstDash val="solid"/>
            <a:tailEnd type="triangle"/>
          </a:ln>
        </p:spPr>
      </p:sp>
      <p:sp>
        <p:nvSpPr>
          <p:cNvPr id="7" name="Shape 5"/>
          <p:cNvSpPr/>
          <p:nvPr/>
        </p:nvSpPr>
        <p:spPr>
          <a:xfrm>
            <a:off x="3429000" y="1600200"/>
            <a:ext cx="2560320" cy="566928"/>
          </a:xfrm>
          <a:prstGeom prst="roundRect">
            <a:avLst>
              <a:gd name="adj" fmla="val 8065"/>
            </a:avLst>
          </a:prstGeom>
          <a:solidFill>
            <a:srgbClr val="E1EFF2"/>
          </a:solidFill>
          <a:ln w="15875">
            <a:solidFill>
              <a:srgbClr val="0F7186"/>
            </a:solidFill>
            <a:prstDash val="solid"/>
          </a:ln>
        </p:spPr>
      </p:sp>
      <p:sp>
        <p:nvSpPr>
          <p:cNvPr id="8" name="Text 6"/>
          <p:cNvSpPr txBox="1"/>
          <p:nvPr/>
        </p:nvSpPr>
        <p:spPr>
          <a:xfrm>
            <a:off x="3474720" y="1600200"/>
            <a:ext cx="2468880" cy="56692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lidar driver</a:t>
            </a:r>
            <a:endParaRPr lang="en-US" sz="1500" dirty="0"/>
          </a:p>
        </p:txBody>
      </p:sp>
      <p:sp>
        <p:nvSpPr>
          <p:cNvPr id="9" name="Shape 7"/>
          <p:cNvSpPr/>
          <p:nvPr/>
        </p:nvSpPr>
        <p:spPr>
          <a:xfrm>
            <a:off x="4709160" y="2194560"/>
            <a:ext cx="0" cy="201168"/>
          </a:xfrm>
          <a:prstGeom prst="line">
            <a:avLst/>
          </a:prstGeom>
          <a:noFill/>
          <a:ln w="20320">
            <a:solidFill>
              <a:srgbClr val="0F7186"/>
            </a:solidFill>
            <a:prstDash val="solid"/>
            <a:tailEnd type="triangle"/>
          </a:ln>
        </p:spPr>
      </p:sp>
      <p:sp>
        <p:nvSpPr>
          <p:cNvPr id="10" name="Shape 8"/>
          <p:cNvSpPr/>
          <p:nvPr/>
        </p:nvSpPr>
        <p:spPr>
          <a:xfrm>
            <a:off x="6217920" y="1600200"/>
            <a:ext cx="2560320" cy="566928"/>
          </a:xfrm>
          <a:prstGeom prst="roundRect">
            <a:avLst>
              <a:gd name="adj" fmla="val 8065"/>
            </a:avLst>
          </a:prstGeom>
          <a:solidFill>
            <a:srgbClr val="E1EFF2"/>
          </a:solidFill>
          <a:ln w="15875">
            <a:solidFill>
              <a:srgbClr val="0F7186"/>
            </a:solidFill>
            <a:prstDash val="solid"/>
          </a:ln>
        </p:spPr>
      </p:sp>
      <p:sp>
        <p:nvSpPr>
          <p:cNvPr id="11" name="Text 9"/>
          <p:cNvSpPr txBox="1"/>
          <p:nvPr/>
        </p:nvSpPr>
        <p:spPr>
          <a:xfrm>
            <a:off x="6263640" y="1600200"/>
            <a:ext cx="2468880" cy="56692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the learned policy</a:t>
            </a:r>
            <a:endParaRPr lang="en-US" sz="1500" dirty="0"/>
          </a:p>
        </p:txBody>
      </p:sp>
      <p:sp>
        <p:nvSpPr>
          <p:cNvPr id="12" name="Shape 10"/>
          <p:cNvSpPr/>
          <p:nvPr/>
        </p:nvSpPr>
        <p:spPr>
          <a:xfrm>
            <a:off x="7498080" y="2194560"/>
            <a:ext cx="0" cy="201168"/>
          </a:xfrm>
          <a:prstGeom prst="line">
            <a:avLst/>
          </a:prstGeom>
          <a:noFill/>
          <a:ln w="20320">
            <a:solidFill>
              <a:srgbClr val="0F7186"/>
            </a:solidFill>
            <a:prstDash val="solid"/>
            <a:tailEnd type="triangle"/>
          </a:ln>
        </p:spPr>
      </p:sp>
      <p:sp>
        <p:nvSpPr>
          <p:cNvPr id="13" name="Shape 11"/>
          <p:cNvSpPr/>
          <p:nvPr/>
        </p:nvSpPr>
        <p:spPr>
          <a:xfrm>
            <a:off x="9006840" y="1600200"/>
            <a:ext cx="2560320" cy="566928"/>
          </a:xfrm>
          <a:prstGeom prst="roundRect">
            <a:avLst>
              <a:gd name="adj" fmla="val 8065"/>
            </a:avLst>
          </a:prstGeom>
          <a:solidFill>
            <a:srgbClr val="E1EFF2"/>
          </a:solidFill>
          <a:ln w="15875">
            <a:solidFill>
              <a:srgbClr val="0F7186"/>
            </a:solidFill>
            <a:prstDash val="solid"/>
          </a:ln>
        </p:spPr>
      </p:sp>
      <p:sp>
        <p:nvSpPr>
          <p:cNvPr id="14" name="Text 12"/>
          <p:cNvSpPr txBox="1"/>
          <p:nvPr/>
        </p:nvSpPr>
        <p:spPr>
          <a:xfrm>
            <a:off x="9052560" y="1600200"/>
            <a:ext cx="2468880" cy="56692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planner: Nav2, MoveIt</a:t>
            </a:r>
            <a:endParaRPr lang="en-US" sz="1500" dirty="0"/>
          </a:p>
        </p:txBody>
      </p:sp>
      <p:sp>
        <p:nvSpPr>
          <p:cNvPr id="15" name="Shape 13"/>
          <p:cNvSpPr/>
          <p:nvPr/>
        </p:nvSpPr>
        <p:spPr>
          <a:xfrm>
            <a:off x="10287000" y="2194560"/>
            <a:ext cx="0" cy="201168"/>
          </a:xfrm>
          <a:prstGeom prst="line">
            <a:avLst/>
          </a:prstGeom>
          <a:noFill/>
          <a:ln w="20320">
            <a:solidFill>
              <a:srgbClr val="0F7186"/>
            </a:solidFill>
            <a:prstDash val="solid"/>
            <a:tailEnd type="triangle"/>
          </a:ln>
        </p:spPr>
      </p:sp>
      <p:sp>
        <p:nvSpPr>
          <p:cNvPr id="16" name="Shape 14"/>
          <p:cNvSpPr/>
          <p:nvPr/>
        </p:nvSpPr>
        <p:spPr>
          <a:xfrm>
            <a:off x="640080" y="2450592"/>
            <a:ext cx="10927080" cy="566928"/>
          </a:xfrm>
          <a:prstGeom prst="roundRect">
            <a:avLst>
              <a:gd name="adj" fmla="val 9677"/>
            </a:avLst>
          </a:prstGeom>
          <a:solidFill>
            <a:srgbClr val="10202B"/>
          </a:solidFill>
          <a:ln/>
        </p:spPr>
      </p:sp>
      <p:sp>
        <p:nvSpPr>
          <p:cNvPr id="17" name="Text 15"/>
          <p:cNvSpPr txBox="1"/>
          <p:nvPr/>
        </p:nvSpPr>
        <p:spPr>
          <a:xfrm>
            <a:off x="640080" y="2450592"/>
            <a:ext cx="10927080"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ROS 2 message bus — topics, services and actions over DDS</a:t>
            </a:r>
            <a:endParaRPr lang="en-US" sz="1600" dirty="0"/>
          </a:p>
        </p:txBody>
      </p:sp>
      <p:sp>
        <p:nvSpPr>
          <p:cNvPr id="18" name="Shape 16"/>
          <p:cNvSpPr/>
          <p:nvPr/>
        </p:nvSpPr>
        <p:spPr>
          <a:xfrm>
            <a:off x="1920240" y="3072384"/>
            <a:ext cx="0" cy="201168"/>
          </a:xfrm>
          <a:prstGeom prst="line">
            <a:avLst/>
          </a:prstGeom>
          <a:noFill/>
          <a:ln w="20320">
            <a:solidFill>
              <a:srgbClr val="C2571E"/>
            </a:solidFill>
            <a:prstDash val="solid"/>
            <a:tailEnd type="triangle"/>
          </a:ln>
        </p:spPr>
      </p:sp>
      <p:sp>
        <p:nvSpPr>
          <p:cNvPr id="19" name="Shape 17"/>
          <p:cNvSpPr/>
          <p:nvPr/>
        </p:nvSpPr>
        <p:spPr>
          <a:xfrm>
            <a:off x="640080" y="3328416"/>
            <a:ext cx="2560320" cy="566928"/>
          </a:xfrm>
          <a:prstGeom prst="roundRect">
            <a:avLst>
              <a:gd name="adj" fmla="val 8065"/>
            </a:avLst>
          </a:prstGeom>
          <a:solidFill>
            <a:srgbClr val="FBEBE1"/>
          </a:solidFill>
          <a:ln w="15875">
            <a:solidFill>
              <a:srgbClr val="C2571E"/>
            </a:solidFill>
            <a:prstDash val="solid"/>
          </a:ln>
        </p:spPr>
      </p:sp>
      <p:sp>
        <p:nvSpPr>
          <p:cNvPr id="20" name="Text 18"/>
          <p:cNvSpPr txBox="1"/>
          <p:nvPr/>
        </p:nvSpPr>
        <p:spPr>
          <a:xfrm>
            <a:off x="685800" y="3328416"/>
            <a:ext cx="2468880" cy="56692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ros2_control → joints</a:t>
            </a:r>
            <a:endParaRPr lang="en-US" sz="1500" dirty="0"/>
          </a:p>
        </p:txBody>
      </p:sp>
      <p:sp>
        <p:nvSpPr>
          <p:cNvPr id="21" name="Shape 19"/>
          <p:cNvSpPr/>
          <p:nvPr/>
        </p:nvSpPr>
        <p:spPr>
          <a:xfrm>
            <a:off x="4709160" y="3072384"/>
            <a:ext cx="0" cy="201168"/>
          </a:xfrm>
          <a:prstGeom prst="line">
            <a:avLst/>
          </a:prstGeom>
          <a:noFill/>
          <a:ln w="20320">
            <a:solidFill>
              <a:srgbClr val="C2571E"/>
            </a:solidFill>
            <a:prstDash val="solid"/>
            <a:tailEnd type="triangle"/>
          </a:ln>
        </p:spPr>
      </p:sp>
      <p:sp>
        <p:nvSpPr>
          <p:cNvPr id="22" name="Shape 20"/>
          <p:cNvSpPr/>
          <p:nvPr/>
        </p:nvSpPr>
        <p:spPr>
          <a:xfrm>
            <a:off x="3429000" y="3328416"/>
            <a:ext cx="2560320" cy="566928"/>
          </a:xfrm>
          <a:prstGeom prst="roundRect">
            <a:avLst>
              <a:gd name="adj" fmla="val 8065"/>
            </a:avLst>
          </a:prstGeom>
          <a:solidFill>
            <a:srgbClr val="FBEBE1"/>
          </a:solidFill>
          <a:ln w="15875">
            <a:solidFill>
              <a:srgbClr val="C2571E"/>
            </a:solidFill>
            <a:prstDash val="solid"/>
          </a:ln>
        </p:spPr>
      </p:sp>
      <p:sp>
        <p:nvSpPr>
          <p:cNvPr id="23" name="Text 21"/>
          <p:cNvSpPr txBox="1"/>
          <p:nvPr/>
        </p:nvSpPr>
        <p:spPr>
          <a:xfrm>
            <a:off x="3474720" y="3328416"/>
            <a:ext cx="2468880" cy="56692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base / wheel driver</a:t>
            </a:r>
            <a:endParaRPr lang="en-US" sz="1500" dirty="0"/>
          </a:p>
        </p:txBody>
      </p:sp>
      <p:sp>
        <p:nvSpPr>
          <p:cNvPr id="24" name="Shape 22"/>
          <p:cNvSpPr/>
          <p:nvPr/>
        </p:nvSpPr>
        <p:spPr>
          <a:xfrm>
            <a:off x="7498080" y="3072384"/>
            <a:ext cx="0" cy="201168"/>
          </a:xfrm>
          <a:prstGeom prst="line">
            <a:avLst/>
          </a:prstGeom>
          <a:noFill/>
          <a:ln w="20320">
            <a:solidFill>
              <a:srgbClr val="C2571E"/>
            </a:solidFill>
            <a:prstDash val="solid"/>
            <a:tailEnd type="triangle"/>
          </a:ln>
        </p:spPr>
      </p:sp>
      <p:sp>
        <p:nvSpPr>
          <p:cNvPr id="25" name="Shape 23"/>
          <p:cNvSpPr/>
          <p:nvPr/>
        </p:nvSpPr>
        <p:spPr>
          <a:xfrm>
            <a:off x="6217920" y="3328416"/>
            <a:ext cx="2560320" cy="566928"/>
          </a:xfrm>
          <a:prstGeom prst="roundRect">
            <a:avLst>
              <a:gd name="adj" fmla="val 8065"/>
            </a:avLst>
          </a:prstGeom>
          <a:solidFill>
            <a:srgbClr val="FBEBE1"/>
          </a:solidFill>
          <a:ln w="15875">
            <a:solidFill>
              <a:srgbClr val="C2571E"/>
            </a:solidFill>
            <a:prstDash val="solid"/>
          </a:ln>
        </p:spPr>
      </p:sp>
      <p:sp>
        <p:nvSpPr>
          <p:cNvPr id="26" name="Text 24"/>
          <p:cNvSpPr txBox="1"/>
          <p:nvPr/>
        </p:nvSpPr>
        <p:spPr>
          <a:xfrm>
            <a:off x="6263640" y="3328416"/>
            <a:ext cx="2468880" cy="56692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gripper driver</a:t>
            </a:r>
            <a:endParaRPr lang="en-US" sz="1500" dirty="0"/>
          </a:p>
        </p:txBody>
      </p:sp>
      <p:sp>
        <p:nvSpPr>
          <p:cNvPr id="27" name="Shape 25"/>
          <p:cNvSpPr/>
          <p:nvPr/>
        </p:nvSpPr>
        <p:spPr>
          <a:xfrm>
            <a:off x="10287000" y="3072384"/>
            <a:ext cx="0" cy="201168"/>
          </a:xfrm>
          <a:prstGeom prst="line">
            <a:avLst/>
          </a:prstGeom>
          <a:noFill/>
          <a:ln w="20320">
            <a:solidFill>
              <a:srgbClr val="C2571E"/>
            </a:solidFill>
            <a:prstDash val="solid"/>
            <a:tailEnd type="triangle"/>
          </a:ln>
        </p:spPr>
      </p:sp>
      <p:sp>
        <p:nvSpPr>
          <p:cNvPr id="28" name="Shape 26"/>
          <p:cNvSpPr/>
          <p:nvPr/>
        </p:nvSpPr>
        <p:spPr>
          <a:xfrm>
            <a:off x="9006840" y="3328416"/>
            <a:ext cx="2560320" cy="566928"/>
          </a:xfrm>
          <a:prstGeom prst="roundRect">
            <a:avLst>
              <a:gd name="adj" fmla="val 8065"/>
            </a:avLst>
          </a:prstGeom>
          <a:solidFill>
            <a:srgbClr val="FBEBE1"/>
          </a:solidFill>
          <a:ln w="15875">
            <a:solidFill>
              <a:srgbClr val="C2571E"/>
            </a:solidFill>
            <a:prstDash val="solid"/>
          </a:ln>
        </p:spPr>
      </p:sp>
      <p:sp>
        <p:nvSpPr>
          <p:cNvPr id="29" name="Text 27"/>
          <p:cNvSpPr txBox="1"/>
          <p:nvPr/>
        </p:nvSpPr>
        <p:spPr>
          <a:xfrm>
            <a:off x="9052560" y="3328416"/>
            <a:ext cx="2468880" cy="56692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rosbag · rviz</a:t>
            </a:r>
            <a:endParaRPr lang="en-US" sz="1500" dirty="0"/>
          </a:p>
        </p:txBody>
      </p:sp>
      <p:sp>
        <p:nvSpPr>
          <p:cNvPr id="30" name="Shape 28"/>
          <p:cNvSpPr/>
          <p:nvPr/>
        </p:nvSpPr>
        <p:spPr>
          <a:xfrm>
            <a:off x="640080" y="4206240"/>
            <a:ext cx="3429000" cy="1783080"/>
          </a:xfrm>
          <a:prstGeom prst="roundRect">
            <a:avLst>
              <a:gd name="adj" fmla="val 3077"/>
            </a:avLst>
          </a:prstGeom>
          <a:solidFill>
            <a:srgbClr val="EFE9F7"/>
          </a:solidFill>
          <a:ln w="9525">
            <a:solidFill>
              <a:srgbClr val="D9CDE9"/>
            </a:solidFill>
            <a:prstDash val="solid"/>
          </a:ln>
        </p:spPr>
      </p:sp>
      <p:sp>
        <p:nvSpPr>
          <p:cNvPr id="31" name="Text 29"/>
          <p:cNvSpPr txBox="1"/>
          <p:nvPr/>
        </p:nvSpPr>
        <p:spPr>
          <a:xfrm>
            <a:off x="914400" y="4370832"/>
            <a:ext cx="2926080" cy="329184"/>
          </a:xfrm>
          <a:prstGeom prst="rect">
            <a:avLst/>
          </a:prstGeom>
          <a:noFill/>
          <a:ln/>
        </p:spPr>
        <p:txBody>
          <a:bodyPr wrap="square" lIns="0" tIns="0" rIns="0" bIns="0" rtlCol="0" anchor="t"/>
          <a:lstStyle/>
          <a:p>
            <a:pPr marL="0" indent="0" algn="l">
              <a:lnSpc>
                <a:spcPct val="115000"/>
              </a:lnSpc>
              <a:buNone/>
            </a:pPr>
            <a:r>
              <a:rPr lang="en-US" sz="1600" b="1" dirty="0">
                <a:solidFill>
                  <a:srgbClr val="6A3FA0"/>
                </a:solidFill>
                <a:latin typeface="Calibri" pitchFamily="34" charset="0"/>
                <a:ea typeface="Calibri" pitchFamily="34" charset="-122"/>
                <a:cs typeface="Calibri" pitchFamily="34" charset="-120"/>
              </a:rPr>
              <a:t>What it actually is</a:t>
            </a:r>
            <a:endParaRPr lang="en-US" sz="1600" dirty="0"/>
          </a:p>
        </p:txBody>
      </p:sp>
      <p:sp>
        <p:nvSpPr>
          <p:cNvPr id="32" name="Text 30"/>
          <p:cNvSpPr txBox="1"/>
          <p:nvPr/>
        </p:nvSpPr>
        <p:spPr>
          <a:xfrm>
            <a:off x="914400" y="4754880"/>
            <a:ext cx="2926080" cy="114300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Not an operating system. A message bus plus a package ecosystem: one program publishes a topic, others subscribe, and nobody needs to know who is listening.</a:t>
            </a:r>
            <a:endParaRPr lang="en-US" sz="1500" dirty="0"/>
          </a:p>
        </p:txBody>
      </p:sp>
      <p:sp>
        <p:nvSpPr>
          <p:cNvPr id="33" name="Shape 31"/>
          <p:cNvSpPr/>
          <p:nvPr/>
        </p:nvSpPr>
        <p:spPr>
          <a:xfrm>
            <a:off x="4389120" y="4206240"/>
            <a:ext cx="3429000" cy="1783080"/>
          </a:xfrm>
          <a:prstGeom prst="roundRect">
            <a:avLst>
              <a:gd name="adj" fmla="val 3077"/>
            </a:avLst>
          </a:prstGeom>
          <a:solidFill>
            <a:srgbClr val="E1EFF2"/>
          </a:solidFill>
          <a:ln w="9525">
            <a:solidFill>
              <a:srgbClr val="BCD8DE"/>
            </a:solidFill>
            <a:prstDash val="solid"/>
          </a:ln>
        </p:spPr>
      </p:sp>
      <p:sp>
        <p:nvSpPr>
          <p:cNvPr id="34" name="Text 32"/>
          <p:cNvSpPr txBox="1"/>
          <p:nvPr/>
        </p:nvSpPr>
        <p:spPr>
          <a:xfrm>
            <a:off x="4663440" y="4370832"/>
            <a:ext cx="2926080" cy="329184"/>
          </a:xfrm>
          <a:prstGeom prst="rect">
            <a:avLst/>
          </a:prstGeom>
          <a:noFill/>
          <a:ln/>
        </p:spPr>
        <p:txBody>
          <a:bodyPr wrap="square" lIns="0" tIns="0" rIns="0" bIns="0" rtlCol="0" anchor="t"/>
          <a:lstStyle/>
          <a:p>
            <a:pPr marL="0" indent="0" algn="l">
              <a:lnSpc>
                <a:spcPct val="115000"/>
              </a:lnSpc>
              <a:buNone/>
            </a:pPr>
            <a:r>
              <a:rPr lang="en-US" sz="1600" b="1" dirty="0">
                <a:solidFill>
                  <a:srgbClr val="0F7186"/>
                </a:solidFill>
                <a:latin typeface="Calibri" pitchFamily="34" charset="0"/>
                <a:ea typeface="Calibri" pitchFamily="34" charset="-122"/>
                <a:cs typeface="Calibri" pitchFamily="34" charset="-120"/>
              </a:rPr>
              <a:t>What you get for free</a:t>
            </a:r>
            <a:endParaRPr lang="en-US" sz="1600" dirty="0"/>
          </a:p>
        </p:txBody>
      </p:sp>
      <p:sp>
        <p:nvSpPr>
          <p:cNvPr id="35" name="Text 33"/>
          <p:cNvSpPr txBox="1"/>
          <p:nvPr/>
        </p:nvSpPr>
        <p:spPr>
          <a:xfrm>
            <a:off x="4663440" y="4754880"/>
            <a:ext cx="2926080" cy="114300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Drivers for most sensors and arms, MoveIt for motion planning, Nav2 for navigation, ros2_control for joints, rviz to see what the robot thinks, rosbag to replay a failure.</a:t>
            </a:r>
            <a:endParaRPr lang="en-US" sz="1500" dirty="0"/>
          </a:p>
        </p:txBody>
      </p:sp>
      <p:sp>
        <p:nvSpPr>
          <p:cNvPr id="36" name="Shape 34"/>
          <p:cNvSpPr/>
          <p:nvPr/>
        </p:nvSpPr>
        <p:spPr>
          <a:xfrm>
            <a:off x="8138160" y="4206240"/>
            <a:ext cx="3429000" cy="1783080"/>
          </a:xfrm>
          <a:prstGeom prst="roundRect">
            <a:avLst>
              <a:gd name="adj" fmla="val 3077"/>
            </a:avLst>
          </a:prstGeom>
          <a:solidFill>
            <a:srgbClr val="EEF2F5"/>
          </a:solidFill>
          <a:ln w="9525">
            <a:solidFill>
              <a:srgbClr val="C9D3DA"/>
            </a:solidFill>
            <a:prstDash val="solid"/>
          </a:ln>
        </p:spPr>
      </p:sp>
      <p:sp>
        <p:nvSpPr>
          <p:cNvPr id="37" name="Text 35"/>
          <p:cNvSpPr txBox="1"/>
          <p:nvPr/>
        </p:nvSpPr>
        <p:spPr>
          <a:xfrm>
            <a:off x="8412480" y="4370832"/>
            <a:ext cx="2926080" cy="329184"/>
          </a:xfrm>
          <a:prstGeom prst="rect">
            <a:avLst/>
          </a:prstGeom>
          <a:noFill/>
          <a:ln/>
        </p:spPr>
        <p:txBody>
          <a:bodyPr wrap="square" lIns="0" tIns="0" rIns="0" bIns="0" rtlCol="0" anchor="t"/>
          <a:lstStyle/>
          <a:p>
            <a:pPr marL="0" indent="0" algn="l">
              <a:lnSpc>
                <a:spcPct val="115000"/>
              </a:lnSpc>
              <a:buNone/>
            </a:pPr>
            <a:r>
              <a:rPr lang="en-US" sz="1600" b="1" dirty="0">
                <a:solidFill>
                  <a:srgbClr val="566672"/>
                </a:solidFill>
                <a:latin typeface="Calibri" pitchFamily="34" charset="0"/>
                <a:ea typeface="Calibri" pitchFamily="34" charset="-122"/>
                <a:cs typeface="Calibri" pitchFamily="34" charset="-120"/>
              </a:rPr>
              <a:t>Where it stops</a:t>
            </a:r>
            <a:endParaRPr lang="en-US" sz="1600" dirty="0"/>
          </a:p>
        </p:txBody>
      </p:sp>
      <p:sp>
        <p:nvSpPr>
          <p:cNvPr id="38" name="Text 36"/>
          <p:cNvSpPr txBox="1"/>
          <p:nvPr/>
        </p:nvSpPr>
        <p:spPr>
          <a:xfrm>
            <a:off x="8412480" y="4754880"/>
            <a:ext cx="2926080" cy="114300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The fast loop usually runs outside it — a 100 Hz policy will not wait on middleware. Several humanoid stacks use almost none of ROS, keeping it for hardware I/O and logging.</a:t>
            </a:r>
            <a:endParaRPr lang="en-US" sz="1500" dirty="0"/>
          </a:p>
        </p:txBody>
      </p:sp>
      <p:sp>
        <p:nvSpPr>
          <p:cNvPr id="39" name="Text 37"/>
          <p:cNvSpPr txBox="1"/>
          <p:nvPr/>
        </p:nvSpPr>
        <p:spPr>
          <a:xfrm>
            <a:off x="640080" y="6172200"/>
            <a:ext cx="10927080" cy="411480"/>
          </a:xfrm>
          <a:prstGeom prst="rect">
            <a:avLst/>
          </a:prstGeom>
          <a:noFill/>
          <a:ln/>
        </p:spPr>
        <p:txBody>
          <a:bodyPr wrap="square" lIns="0" tIns="0" rIns="0" bIns="0" rtlCol="0" anchor="t"/>
          <a:lstStyle/>
          <a:p>
            <a:pPr marL="0" indent="0" algn="l">
              <a:lnSpc>
                <a:spcPct val="115000"/>
              </a:lnSpc>
              <a:buNone/>
            </a:pPr>
            <a:r>
              <a:rPr lang="en-US" sz="1500" b="1" i="1" dirty="0">
                <a:solidFill>
                  <a:srgbClr val="C2571E"/>
                </a:solidFill>
                <a:latin typeface="Calibri" pitchFamily="34" charset="0"/>
                <a:ea typeface="Calibri" pitchFamily="34" charset="-122"/>
                <a:cs typeface="Calibri" pitchFamily="34" charset="-120"/>
              </a:rPr>
              <a:t>ROS 1 is over: Noetic hit end of life in May 2025. ROS 2 only — Jazzy is LTS, supported to 2029.</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HOW THESE SYSTEMS GET BUILT</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Three approaches, roughly in historical order</a:t>
            </a:r>
            <a:endParaRPr lang="en-US" sz="3800" dirty="0"/>
          </a:p>
        </p:txBody>
      </p:sp>
      <p:sp>
        <p:nvSpPr>
          <p:cNvPr id="4" name="Text 2"/>
          <p:cNvSpPr txBox="1"/>
          <p:nvPr/>
        </p:nvSpPr>
        <p:spPr>
          <a:xfrm>
            <a:off x="640080" y="1737360"/>
            <a:ext cx="2286000" cy="777240"/>
          </a:xfrm>
          <a:prstGeom prst="rect">
            <a:avLst/>
          </a:prstGeom>
          <a:noFill/>
          <a:ln/>
        </p:spPr>
        <p:txBody>
          <a:bodyPr wrap="square" lIns="0" tIns="0" rIns="0" bIns="0" rtlCol="0" anchor="ctr"/>
          <a:lstStyle/>
          <a:p>
            <a:pPr marL="0" indent="0">
              <a:buNone/>
            </a:pPr>
            <a:r>
              <a:rPr lang="en-US" sz="1700" b="1" dirty="0">
                <a:solidFill>
                  <a:srgbClr val="B77B0C"/>
                </a:solidFill>
                <a:latin typeface="Calibri" pitchFamily="34" charset="0"/>
                <a:ea typeface="Calibri" pitchFamily="34" charset="-122"/>
                <a:cs typeface="Calibri" pitchFamily="34" charset="-120"/>
              </a:rPr>
              <a:t>Hand-built</a:t>
            </a:r>
            <a:endParaRPr lang="en-US" sz="1700" dirty="0"/>
          </a:p>
          <a:p>
            <a:pPr marL="0" indent="0">
              <a:buNone/>
            </a:pPr>
            <a:r>
              <a:rPr lang="en-US" sz="1700" b="1" dirty="0">
                <a:solidFill>
                  <a:srgbClr val="B77B0C"/>
                </a:solidFill>
                <a:latin typeface="Calibri" pitchFamily="34" charset="0"/>
                <a:ea typeface="Calibri" pitchFamily="34" charset="-122"/>
                <a:cs typeface="Calibri" pitchFamily="34" charset="-120"/>
              </a:rPr>
              <a:t>pipeline</a:t>
            </a:r>
            <a:endParaRPr lang="en-US" sz="1700" dirty="0"/>
          </a:p>
        </p:txBody>
      </p:sp>
      <p:sp>
        <p:nvSpPr>
          <p:cNvPr id="5" name="Shape 3"/>
          <p:cNvSpPr/>
          <p:nvPr/>
        </p:nvSpPr>
        <p:spPr>
          <a:xfrm>
            <a:off x="3017520" y="1783080"/>
            <a:ext cx="1539850" cy="658368"/>
          </a:xfrm>
          <a:prstGeom prst="roundRect">
            <a:avLst>
              <a:gd name="adj" fmla="val 6944"/>
            </a:avLst>
          </a:prstGeom>
          <a:solidFill>
            <a:srgbClr val="FAF0DA"/>
          </a:solidFill>
          <a:ln w="15875">
            <a:solidFill>
              <a:srgbClr val="B77B0C"/>
            </a:solidFill>
            <a:prstDash val="solid"/>
          </a:ln>
        </p:spPr>
      </p:sp>
      <p:sp>
        <p:nvSpPr>
          <p:cNvPr id="6" name="Text 4"/>
          <p:cNvSpPr txBox="1"/>
          <p:nvPr/>
        </p:nvSpPr>
        <p:spPr>
          <a:xfrm>
            <a:off x="3063240" y="1783080"/>
            <a:ext cx="1448410" cy="65836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sense</a:t>
            </a:r>
            <a:endParaRPr lang="en-US" sz="1500" dirty="0"/>
          </a:p>
        </p:txBody>
      </p:sp>
      <p:sp>
        <p:nvSpPr>
          <p:cNvPr id="7" name="Shape 5"/>
          <p:cNvSpPr/>
          <p:nvPr/>
        </p:nvSpPr>
        <p:spPr>
          <a:xfrm>
            <a:off x="4575658" y="2112264"/>
            <a:ext cx="164592" cy="0"/>
          </a:xfrm>
          <a:prstGeom prst="line">
            <a:avLst/>
          </a:prstGeom>
          <a:noFill/>
          <a:ln w="20320">
            <a:solidFill>
              <a:srgbClr val="B77B0C"/>
            </a:solidFill>
            <a:prstDash val="solid"/>
            <a:tailEnd type="triangle"/>
          </a:ln>
        </p:spPr>
      </p:sp>
      <p:sp>
        <p:nvSpPr>
          <p:cNvPr id="8" name="Shape 6"/>
          <p:cNvSpPr/>
          <p:nvPr/>
        </p:nvSpPr>
        <p:spPr>
          <a:xfrm>
            <a:off x="4758538" y="1783080"/>
            <a:ext cx="1539850" cy="658368"/>
          </a:xfrm>
          <a:prstGeom prst="roundRect">
            <a:avLst>
              <a:gd name="adj" fmla="val 6944"/>
            </a:avLst>
          </a:prstGeom>
          <a:solidFill>
            <a:srgbClr val="FAF0DA"/>
          </a:solidFill>
          <a:ln w="15875">
            <a:solidFill>
              <a:srgbClr val="B77B0C"/>
            </a:solidFill>
            <a:prstDash val="solid"/>
          </a:ln>
        </p:spPr>
      </p:sp>
      <p:sp>
        <p:nvSpPr>
          <p:cNvPr id="9" name="Text 7"/>
          <p:cNvSpPr txBox="1"/>
          <p:nvPr/>
        </p:nvSpPr>
        <p:spPr>
          <a:xfrm>
            <a:off x="4804258" y="1783080"/>
            <a:ext cx="1448410" cy="65836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detect</a:t>
            </a:r>
            <a:endParaRPr lang="en-US" sz="1500" dirty="0"/>
          </a:p>
        </p:txBody>
      </p:sp>
      <p:sp>
        <p:nvSpPr>
          <p:cNvPr id="10" name="Shape 8"/>
          <p:cNvSpPr/>
          <p:nvPr/>
        </p:nvSpPr>
        <p:spPr>
          <a:xfrm>
            <a:off x="6316675" y="2112264"/>
            <a:ext cx="164592" cy="0"/>
          </a:xfrm>
          <a:prstGeom prst="line">
            <a:avLst/>
          </a:prstGeom>
          <a:noFill/>
          <a:ln w="20320">
            <a:solidFill>
              <a:srgbClr val="B77B0C"/>
            </a:solidFill>
            <a:prstDash val="solid"/>
            <a:tailEnd type="triangle"/>
          </a:ln>
        </p:spPr>
      </p:sp>
      <p:sp>
        <p:nvSpPr>
          <p:cNvPr id="11" name="Shape 9"/>
          <p:cNvSpPr/>
          <p:nvPr/>
        </p:nvSpPr>
        <p:spPr>
          <a:xfrm>
            <a:off x="6499555" y="1783080"/>
            <a:ext cx="1539850" cy="658368"/>
          </a:xfrm>
          <a:prstGeom prst="roundRect">
            <a:avLst>
              <a:gd name="adj" fmla="val 6944"/>
            </a:avLst>
          </a:prstGeom>
          <a:solidFill>
            <a:srgbClr val="FAF0DA"/>
          </a:solidFill>
          <a:ln w="15875">
            <a:solidFill>
              <a:srgbClr val="B77B0C"/>
            </a:solidFill>
            <a:prstDash val="solid"/>
          </a:ln>
        </p:spPr>
      </p:sp>
      <p:sp>
        <p:nvSpPr>
          <p:cNvPr id="12" name="Text 10"/>
          <p:cNvSpPr txBox="1"/>
          <p:nvPr/>
        </p:nvSpPr>
        <p:spPr>
          <a:xfrm>
            <a:off x="6545275" y="1783080"/>
            <a:ext cx="1448410" cy="65836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predict</a:t>
            </a:r>
            <a:endParaRPr lang="en-US" sz="1500" dirty="0"/>
          </a:p>
        </p:txBody>
      </p:sp>
      <p:sp>
        <p:nvSpPr>
          <p:cNvPr id="13" name="Shape 11"/>
          <p:cNvSpPr/>
          <p:nvPr/>
        </p:nvSpPr>
        <p:spPr>
          <a:xfrm>
            <a:off x="8057693" y="2112264"/>
            <a:ext cx="164592" cy="0"/>
          </a:xfrm>
          <a:prstGeom prst="line">
            <a:avLst/>
          </a:prstGeom>
          <a:noFill/>
          <a:ln w="20320">
            <a:solidFill>
              <a:srgbClr val="B77B0C"/>
            </a:solidFill>
            <a:prstDash val="solid"/>
            <a:tailEnd type="triangle"/>
          </a:ln>
        </p:spPr>
      </p:sp>
      <p:sp>
        <p:nvSpPr>
          <p:cNvPr id="14" name="Shape 12"/>
          <p:cNvSpPr/>
          <p:nvPr/>
        </p:nvSpPr>
        <p:spPr>
          <a:xfrm>
            <a:off x="8240573" y="1783080"/>
            <a:ext cx="1539850" cy="658368"/>
          </a:xfrm>
          <a:prstGeom prst="roundRect">
            <a:avLst>
              <a:gd name="adj" fmla="val 6944"/>
            </a:avLst>
          </a:prstGeom>
          <a:solidFill>
            <a:srgbClr val="FAF0DA"/>
          </a:solidFill>
          <a:ln w="15875">
            <a:solidFill>
              <a:srgbClr val="B77B0C"/>
            </a:solidFill>
            <a:prstDash val="solid"/>
          </a:ln>
        </p:spPr>
      </p:sp>
      <p:sp>
        <p:nvSpPr>
          <p:cNvPr id="15" name="Text 13"/>
          <p:cNvSpPr txBox="1"/>
          <p:nvPr/>
        </p:nvSpPr>
        <p:spPr>
          <a:xfrm>
            <a:off x="8286293" y="1783080"/>
            <a:ext cx="1448410" cy="65836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plan</a:t>
            </a:r>
            <a:endParaRPr lang="en-US" sz="1500" dirty="0"/>
          </a:p>
        </p:txBody>
      </p:sp>
      <p:sp>
        <p:nvSpPr>
          <p:cNvPr id="16" name="Shape 14"/>
          <p:cNvSpPr/>
          <p:nvPr/>
        </p:nvSpPr>
        <p:spPr>
          <a:xfrm>
            <a:off x="9798710" y="2112264"/>
            <a:ext cx="164592" cy="0"/>
          </a:xfrm>
          <a:prstGeom prst="line">
            <a:avLst/>
          </a:prstGeom>
          <a:noFill/>
          <a:ln w="20320">
            <a:solidFill>
              <a:srgbClr val="B77B0C"/>
            </a:solidFill>
            <a:prstDash val="solid"/>
            <a:tailEnd type="triangle"/>
          </a:ln>
        </p:spPr>
      </p:sp>
      <p:sp>
        <p:nvSpPr>
          <p:cNvPr id="17" name="Shape 15"/>
          <p:cNvSpPr/>
          <p:nvPr/>
        </p:nvSpPr>
        <p:spPr>
          <a:xfrm>
            <a:off x="9981590" y="1783080"/>
            <a:ext cx="1539850" cy="658368"/>
          </a:xfrm>
          <a:prstGeom prst="roundRect">
            <a:avLst>
              <a:gd name="adj" fmla="val 6944"/>
            </a:avLst>
          </a:prstGeom>
          <a:solidFill>
            <a:srgbClr val="FAF0DA"/>
          </a:solidFill>
          <a:ln w="15875">
            <a:solidFill>
              <a:srgbClr val="B77B0C"/>
            </a:solidFill>
            <a:prstDash val="solid"/>
          </a:ln>
        </p:spPr>
      </p:sp>
      <p:sp>
        <p:nvSpPr>
          <p:cNvPr id="18" name="Text 16"/>
          <p:cNvSpPr txBox="1"/>
          <p:nvPr/>
        </p:nvSpPr>
        <p:spPr>
          <a:xfrm>
            <a:off x="10027310" y="1783080"/>
            <a:ext cx="1448410" cy="65836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track</a:t>
            </a:r>
            <a:endParaRPr lang="en-US" sz="1500" dirty="0"/>
          </a:p>
        </p:txBody>
      </p:sp>
      <p:sp>
        <p:nvSpPr>
          <p:cNvPr id="19" name="Text 17"/>
          <p:cNvSpPr txBox="1"/>
          <p:nvPr/>
        </p:nvSpPr>
        <p:spPr>
          <a:xfrm>
            <a:off x="3017520" y="2532888"/>
            <a:ext cx="8503920" cy="502920"/>
          </a:xfrm>
          <a:prstGeom prst="rect">
            <a:avLst/>
          </a:prstGeom>
          <a:noFill/>
          <a:ln/>
        </p:spPr>
        <p:txBody>
          <a:bodyPr wrap="square" lIns="0" tIns="0" rIns="0" bIns="0" rtlCol="0" anchor="ctr"/>
          <a:lstStyle/>
          <a:p>
            <a:pPr marL="0" indent="0">
              <a:lnSpc>
                <a:spcPct val="110000"/>
              </a:lnSpc>
              <a:buNone/>
            </a:pPr>
            <a:r>
              <a:rPr lang="en-US" sz="1500" dirty="0">
                <a:solidFill>
                  <a:srgbClr val="566672"/>
                </a:solidFill>
                <a:latin typeface="Calibri" pitchFamily="34" charset="0"/>
                <a:ea typeface="Calibri" pitchFamily="34" charset="-122"/>
                <a:cs typeface="Calibri" pitchFamily="34" charset="-120"/>
              </a:rPr>
              <a:t>Every box written and tuned by engineers. Inspectable — and brittle: each new situation needs a new rule.</a:t>
            </a:r>
            <a:endParaRPr lang="en-US" sz="1500" dirty="0"/>
          </a:p>
        </p:txBody>
      </p:sp>
      <p:sp>
        <p:nvSpPr>
          <p:cNvPr id="20" name="Text 18"/>
          <p:cNvSpPr txBox="1"/>
          <p:nvPr/>
        </p:nvSpPr>
        <p:spPr>
          <a:xfrm>
            <a:off x="640080" y="3200400"/>
            <a:ext cx="2286000" cy="777240"/>
          </a:xfrm>
          <a:prstGeom prst="rect">
            <a:avLst/>
          </a:prstGeom>
          <a:noFill/>
          <a:ln/>
        </p:spPr>
        <p:txBody>
          <a:bodyPr wrap="square" lIns="0" tIns="0" rIns="0" bIns="0" rtlCol="0" anchor="ctr"/>
          <a:lstStyle/>
          <a:p>
            <a:pPr marL="0" indent="0">
              <a:buNone/>
            </a:pPr>
            <a:r>
              <a:rPr lang="en-US" sz="1700" b="1" dirty="0">
                <a:solidFill>
                  <a:srgbClr val="0F7186"/>
                </a:solidFill>
                <a:latin typeface="Calibri" pitchFamily="34" charset="0"/>
                <a:ea typeface="Calibri" pitchFamily="34" charset="-122"/>
                <a:cs typeface="Calibri" pitchFamily="34" charset="-120"/>
              </a:rPr>
              <a:t>End-to-end</a:t>
            </a:r>
            <a:endParaRPr lang="en-US" sz="1700" dirty="0"/>
          </a:p>
          <a:p>
            <a:pPr marL="0" indent="0">
              <a:buNone/>
            </a:pPr>
            <a:r>
              <a:rPr lang="en-US" sz="1700" b="1" dirty="0">
                <a:solidFill>
                  <a:srgbClr val="0F7186"/>
                </a:solidFill>
                <a:latin typeface="Calibri" pitchFamily="34" charset="0"/>
                <a:ea typeface="Calibri" pitchFamily="34" charset="-122"/>
                <a:cs typeface="Calibri" pitchFamily="34" charset="-120"/>
              </a:rPr>
              <a:t>policy</a:t>
            </a:r>
            <a:endParaRPr lang="en-US" sz="1700" dirty="0"/>
          </a:p>
        </p:txBody>
      </p:sp>
      <p:sp>
        <p:nvSpPr>
          <p:cNvPr id="21" name="Shape 19"/>
          <p:cNvSpPr/>
          <p:nvPr/>
        </p:nvSpPr>
        <p:spPr>
          <a:xfrm>
            <a:off x="3017520" y="3246120"/>
            <a:ext cx="2700528" cy="658368"/>
          </a:xfrm>
          <a:prstGeom prst="roundRect">
            <a:avLst>
              <a:gd name="adj" fmla="val 6944"/>
            </a:avLst>
          </a:prstGeom>
          <a:solidFill>
            <a:srgbClr val="E1EFF2"/>
          </a:solidFill>
          <a:ln w="15875">
            <a:solidFill>
              <a:srgbClr val="0F7186"/>
            </a:solidFill>
            <a:prstDash val="solid"/>
          </a:ln>
        </p:spPr>
      </p:sp>
      <p:sp>
        <p:nvSpPr>
          <p:cNvPr id="22" name="Text 20"/>
          <p:cNvSpPr txBox="1"/>
          <p:nvPr/>
        </p:nvSpPr>
        <p:spPr>
          <a:xfrm>
            <a:off x="3063240" y="3246120"/>
            <a:ext cx="2609088" cy="65836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sense</a:t>
            </a:r>
            <a:endParaRPr lang="en-US" sz="1500" dirty="0"/>
          </a:p>
        </p:txBody>
      </p:sp>
      <p:sp>
        <p:nvSpPr>
          <p:cNvPr id="23" name="Shape 21"/>
          <p:cNvSpPr/>
          <p:nvPr/>
        </p:nvSpPr>
        <p:spPr>
          <a:xfrm>
            <a:off x="5736336" y="3575304"/>
            <a:ext cx="164592" cy="0"/>
          </a:xfrm>
          <a:prstGeom prst="line">
            <a:avLst/>
          </a:prstGeom>
          <a:noFill/>
          <a:ln w="20320">
            <a:solidFill>
              <a:srgbClr val="0F7186"/>
            </a:solidFill>
            <a:prstDash val="solid"/>
            <a:tailEnd type="triangle"/>
          </a:ln>
        </p:spPr>
      </p:sp>
      <p:sp>
        <p:nvSpPr>
          <p:cNvPr id="24" name="Shape 22"/>
          <p:cNvSpPr/>
          <p:nvPr/>
        </p:nvSpPr>
        <p:spPr>
          <a:xfrm>
            <a:off x="5919216" y="3246120"/>
            <a:ext cx="2700528" cy="658368"/>
          </a:xfrm>
          <a:prstGeom prst="roundRect">
            <a:avLst>
              <a:gd name="adj" fmla="val 6944"/>
            </a:avLst>
          </a:prstGeom>
          <a:solidFill>
            <a:srgbClr val="E1EFF2"/>
          </a:solidFill>
          <a:ln w="15875">
            <a:solidFill>
              <a:srgbClr val="0F7186"/>
            </a:solidFill>
            <a:prstDash val="solid"/>
          </a:ln>
        </p:spPr>
      </p:sp>
      <p:sp>
        <p:nvSpPr>
          <p:cNvPr id="25" name="Text 23"/>
          <p:cNvSpPr txBox="1"/>
          <p:nvPr/>
        </p:nvSpPr>
        <p:spPr>
          <a:xfrm>
            <a:off x="5964936" y="3246120"/>
            <a:ext cx="2609088" cy="65836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one big learned network</a:t>
            </a:r>
            <a:endParaRPr lang="en-US" sz="1500" dirty="0"/>
          </a:p>
        </p:txBody>
      </p:sp>
      <p:sp>
        <p:nvSpPr>
          <p:cNvPr id="26" name="Shape 24"/>
          <p:cNvSpPr/>
          <p:nvPr/>
        </p:nvSpPr>
        <p:spPr>
          <a:xfrm>
            <a:off x="8638032" y="3575304"/>
            <a:ext cx="164592" cy="0"/>
          </a:xfrm>
          <a:prstGeom prst="line">
            <a:avLst/>
          </a:prstGeom>
          <a:noFill/>
          <a:ln w="20320">
            <a:solidFill>
              <a:srgbClr val="0F7186"/>
            </a:solidFill>
            <a:prstDash val="solid"/>
            <a:tailEnd type="triangle"/>
          </a:ln>
        </p:spPr>
      </p:sp>
      <p:sp>
        <p:nvSpPr>
          <p:cNvPr id="27" name="Shape 25"/>
          <p:cNvSpPr/>
          <p:nvPr/>
        </p:nvSpPr>
        <p:spPr>
          <a:xfrm>
            <a:off x="8820912" y="3246120"/>
            <a:ext cx="2700528" cy="658368"/>
          </a:xfrm>
          <a:prstGeom prst="roundRect">
            <a:avLst>
              <a:gd name="adj" fmla="val 6944"/>
            </a:avLst>
          </a:prstGeom>
          <a:solidFill>
            <a:srgbClr val="E1EFF2"/>
          </a:solidFill>
          <a:ln w="15875">
            <a:solidFill>
              <a:srgbClr val="0F7186"/>
            </a:solidFill>
            <a:prstDash val="solid"/>
          </a:ln>
        </p:spPr>
      </p:sp>
      <p:sp>
        <p:nvSpPr>
          <p:cNvPr id="28" name="Text 26"/>
          <p:cNvSpPr txBox="1"/>
          <p:nvPr/>
        </p:nvSpPr>
        <p:spPr>
          <a:xfrm>
            <a:off x="8866632" y="3246120"/>
            <a:ext cx="2609088" cy="65836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act</a:t>
            </a:r>
            <a:endParaRPr lang="en-US" sz="1500" dirty="0"/>
          </a:p>
        </p:txBody>
      </p:sp>
      <p:sp>
        <p:nvSpPr>
          <p:cNvPr id="29" name="Text 27"/>
          <p:cNvSpPr txBox="1"/>
          <p:nvPr/>
        </p:nvSpPr>
        <p:spPr>
          <a:xfrm>
            <a:off x="3017520" y="3995928"/>
            <a:ext cx="8503920" cy="502920"/>
          </a:xfrm>
          <a:prstGeom prst="rect">
            <a:avLst/>
          </a:prstGeom>
          <a:noFill/>
          <a:ln/>
        </p:spPr>
        <p:txBody>
          <a:bodyPr wrap="square" lIns="0" tIns="0" rIns="0" bIns="0" rtlCol="0" anchor="ctr"/>
          <a:lstStyle/>
          <a:p>
            <a:pPr marL="0" indent="0">
              <a:lnSpc>
                <a:spcPct val="110000"/>
              </a:lnSpc>
              <a:buNone/>
            </a:pPr>
            <a:r>
              <a:rPr lang="en-US" sz="1500" dirty="0">
                <a:solidFill>
                  <a:srgbClr val="566672"/>
                </a:solidFill>
                <a:latin typeface="Calibri" pitchFamily="34" charset="0"/>
                <a:ea typeface="Calibri" pitchFamily="34" charset="-122"/>
                <a:cs typeface="Calibri" pitchFamily="34" charset="-120"/>
              </a:rPr>
              <a:t>Learned from demonstrations or trial and error. Handles mess nobody wrote a rule for — but it is opaque and data-hungry.</a:t>
            </a:r>
            <a:endParaRPr lang="en-US" sz="1500" dirty="0"/>
          </a:p>
        </p:txBody>
      </p:sp>
      <p:sp>
        <p:nvSpPr>
          <p:cNvPr id="30" name="Text 28"/>
          <p:cNvSpPr txBox="1"/>
          <p:nvPr/>
        </p:nvSpPr>
        <p:spPr>
          <a:xfrm>
            <a:off x="640080" y="4663440"/>
            <a:ext cx="2286000" cy="777240"/>
          </a:xfrm>
          <a:prstGeom prst="rect">
            <a:avLst/>
          </a:prstGeom>
          <a:noFill/>
          <a:ln/>
        </p:spPr>
        <p:txBody>
          <a:bodyPr wrap="square" lIns="0" tIns="0" rIns="0" bIns="0" rtlCol="0" anchor="ctr"/>
          <a:lstStyle/>
          <a:p>
            <a:pPr marL="0" indent="0">
              <a:buNone/>
            </a:pPr>
            <a:r>
              <a:rPr lang="en-US" sz="1700" b="1" dirty="0">
                <a:solidFill>
                  <a:srgbClr val="C2571E"/>
                </a:solidFill>
                <a:latin typeface="Calibri" pitchFamily="34" charset="0"/>
                <a:ea typeface="Calibri" pitchFamily="34" charset="-122"/>
                <a:cs typeface="Calibri" pitchFamily="34" charset="-120"/>
              </a:rPr>
              <a:t>Vision-language-</a:t>
            </a:r>
            <a:endParaRPr lang="en-US" sz="1700" dirty="0"/>
          </a:p>
          <a:p>
            <a:pPr marL="0" indent="0">
              <a:buNone/>
            </a:pPr>
            <a:r>
              <a:rPr lang="en-US" sz="1700" b="1" dirty="0">
                <a:solidFill>
                  <a:srgbClr val="C2571E"/>
                </a:solidFill>
                <a:latin typeface="Calibri" pitchFamily="34" charset="0"/>
                <a:ea typeface="Calibri" pitchFamily="34" charset="-122"/>
                <a:cs typeface="Calibri" pitchFamily="34" charset="-120"/>
              </a:rPr>
              <a:t>action</a:t>
            </a:r>
            <a:endParaRPr lang="en-US" sz="1700" dirty="0"/>
          </a:p>
        </p:txBody>
      </p:sp>
      <p:sp>
        <p:nvSpPr>
          <p:cNvPr id="31" name="Shape 29"/>
          <p:cNvSpPr/>
          <p:nvPr/>
        </p:nvSpPr>
        <p:spPr>
          <a:xfrm>
            <a:off x="3017520" y="4709160"/>
            <a:ext cx="2700528" cy="658368"/>
          </a:xfrm>
          <a:prstGeom prst="roundRect">
            <a:avLst>
              <a:gd name="adj" fmla="val 6944"/>
            </a:avLst>
          </a:prstGeom>
          <a:solidFill>
            <a:srgbClr val="FBEBE1"/>
          </a:solidFill>
          <a:ln w="15875">
            <a:solidFill>
              <a:srgbClr val="C2571E"/>
            </a:solidFill>
            <a:prstDash val="solid"/>
          </a:ln>
        </p:spPr>
      </p:sp>
      <p:sp>
        <p:nvSpPr>
          <p:cNvPr id="32" name="Text 30"/>
          <p:cNvSpPr txBox="1"/>
          <p:nvPr/>
        </p:nvSpPr>
        <p:spPr>
          <a:xfrm>
            <a:off x="3063240" y="4709160"/>
            <a:ext cx="2609088" cy="65836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camera + instruction</a:t>
            </a:r>
            <a:endParaRPr lang="en-US" sz="1500" dirty="0"/>
          </a:p>
        </p:txBody>
      </p:sp>
      <p:sp>
        <p:nvSpPr>
          <p:cNvPr id="33" name="Shape 31"/>
          <p:cNvSpPr/>
          <p:nvPr/>
        </p:nvSpPr>
        <p:spPr>
          <a:xfrm>
            <a:off x="5736336" y="5038344"/>
            <a:ext cx="164592" cy="0"/>
          </a:xfrm>
          <a:prstGeom prst="line">
            <a:avLst/>
          </a:prstGeom>
          <a:noFill/>
          <a:ln w="20320">
            <a:solidFill>
              <a:srgbClr val="C2571E"/>
            </a:solidFill>
            <a:prstDash val="solid"/>
            <a:tailEnd type="triangle"/>
          </a:ln>
        </p:spPr>
      </p:sp>
      <p:sp>
        <p:nvSpPr>
          <p:cNvPr id="34" name="Shape 32"/>
          <p:cNvSpPr/>
          <p:nvPr/>
        </p:nvSpPr>
        <p:spPr>
          <a:xfrm>
            <a:off x="5919216" y="4709160"/>
            <a:ext cx="2700528" cy="658368"/>
          </a:xfrm>
          <a:prstGeom prst="roundRect">
            <a:avLst>
              <a:gd name="adj" fmla="val 6944"/>
            </a:avLst>
          </a:prstGeom>
          <a:solidFill>
            <a:srgbClr val="FBEBE1"/>
          </a:solidFill>
          <a:ln w="15875">
            <a:solidFill>
              <a:srgbClr val="C2571E"/>
            </a:solidFill>
            <a:prstDash val="solid"/>
          </a:ln>
        </p:spPr>
      </p:sp>
      <p:sp>
        <p:nvSpPr>
          <p:cNvPr id="35" name="Text 33"/>
          <p:cNvSpPr txBox="1"/>
          <p:nvPr/>
        </p:nvSpPr>
        <p:spPr>
          <a:xfrm>
            <a:off x="5964936" y="4709160"/>
            <a:ext cx="2609088" cy="65836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pretrained model</a:t>
            </a:r>
            <a:endParaRPr lang="en-US" sz="1500" dirty="0"/>
          </a:p>
        </p:txBody>
      </p:sp>
      <p:sp>
        <p:nvSpPr>
          <p:cNvPr id="36" name="Shape 34"/>
          <p:cNvSpPr/>
          <p:nvPr/>
        </p:nvSpPr>
        <p:spPr>
          <a:xfrm>
            <a:off x="8638032" y="5038344"/>
            <a:ext cx="164592" cy="0"/>
          </a:xfrm>
          <a:prstGeom prst="line">
            <a:avLst/>
          </a:prstGeom>
          <a:noFill/>
          <a:ln w="20320">
            <a:solidFill>
              <a:srgbClr val="C2571E"/>
            </a:solidFill>
            <a:prstDash val="solid"/>
            <a:tailEnd type="triangle"/>
          </a:ln>
        </p:spPr>
      </p:sp>
      <p:sp>
        <p:nvSpPr>
          <p:cNvPr id="37" name="Shape 35"/>
          <p:cNvSpPr/>
          <p:nvPr/>
        </p:nvSpPr>
        <p:spPr>
          <a:xfrm>
            <a:off x="8820912" y="4709160"/>
            <a:ext cx="2700528" cy="658368"/>
          </a:xfrm>
          <a:prstGeom prst="roundRect">
            <a:avLst>
              <a:gd name="adj" fmla="val 6944"/>
            </a:avLst>
          </a:prstGeom>
          <a:solidFill>
            <a:srgbClr val="FBEBE1"/>
          </a:solidFill>
          <a:ln w="15875">
            <a:solidFill>
              <a:srgbClr val="C2571E"/>
            </a:solidFill>
            <a:prstDash val="solid"/>
          </a:ln>
        </p:spPr>
      </p:sp>
      <p:sp>
        <p:nvSpPr>
          <p:cNvPr id="38" name="Text 36"/>
          <p:cNvSpPr txBox="1"/>
          <p:nvPr/>
        </p:nvSpPr>
        <p:spPr>
          <a:xfrm>
            <a:off x="8866632" y="4709160"/>
            <a:ext cx="2609088" cy="658368"/>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motor commands</a:t>
            </a:r>
            <a:endParaRPr lang="en-US" sz="1500" dirty="0"/>
          </a:p>
        </p:txBody>
      </p:sp>
      <p:sp>
        <p:nvSpPr>
          <p:cNvPr id="39" name="Text 37"/>
          <p:cNvSpPr txBox="1"/>
          <p:nvPr/>
        </p:nvSpPr>
        <p:spPr>
          <a:xfrm>
            <a:off x="3017520" y="5458968"/>
            <a:ext cx="8503920" cy="502920"/>
          </a:xfrm>
          <a:prstGeom prst="rect">
            <a:avLst/>
          </a:prstGeom>
          <a:noFill/>
          <a:ln/>
        </p:spPr>
        <p:txBody>
          <a:bodyPr wrap="square" lIns="0" tIns="0" rIns="0" bIns="0" rtlCol="0" anchor="ctr"/>
          <a:lstStyle/>
          <a:p>
            <a:pPr marL="0" indent="0">
              <a:lnSpc>
                <a:spcPct val="110000"/>
              </a:lnSpc>
              <a:buNone/>
            </a:pPr>
            <a:r>
              <a:rPr lang="en-US" sz="1500" dirty="0">
                <a:solidFill>
                  <a:srgbClr val="566672"/>
                </a:solidFill>
                <a:latin typeface="Calibri" pitchFamily="34" charset="0"/>
                <a:ea typeface="Calibri" pitchFamily="34" charset="-122"/>
                <a:cs typeface="Calibri" pitchFamily="34" charset="-120"/>
              </a:rPr>
              <a:t>Starts from a model already trained on internet images and text, then taught to output motion. It already knows what a mug is.</a:t>
            </a:r>
            <a:endParaRPr lang="en-US" sz="1500" dirty="0"/>
          </a:p>
        </p:txBody>
      </p:sp>
      <p:sp>
        <p:nvSpPr>
          <p:cNvPr id="40" name="Shape 38"/>
          <p:cNvSpPr/>
          <p:nvPr/>
        </p:nvSpPr>
        <p:spPr>
          <a:xfrm>
            <a:off x="640080" y="3108960"/>
            <a:ext cx="10927080" cy="914"/>
          </a:xfrm>
          <a:prstGeom prst="line">
            <a:avLst/>
          </a:prstGeom>
          <a:noFill/>
          <a:ln w="9525">
            <a:solidFill>
              <a:srgbClr val="C9D3DA"/>
            </a:solidFill>
            <a:prstDash val="solid"/>
          </a:ln>
        </p:spPr>
      </p:sp>
      <p:sp>
        <p:nvSpPr>
          <p:cNvPr id="41" name="Shape 39"/>
          <p:cNvSpPr/>
          <p:nvPr/>
        </p:nvSpPr>
        <p:spPr>
          <a:xfrm>
            <a:off x="640080" y="4572000"/>
            <a:ext cx="10927080" cy="914"/>
          </a:xfrm>
          <a:prstGeom prst="line">
            <a:avLst/>
          </a:prstGeom>
          <a:noFill/>
          <a:ln w="9525">
            <a:solidFill>
              <a:srgbClr val="C9D3DA"/>
            </a:solidFill>
            <a:prstDash val="solid"/>
          </a:ln>
        </p:spPr>
      </p:sp>
      <p:sp>
        <p:nvSpPr>
          <p:cNvPr id="42" name="Text 40"/>
          <p:cNvSpPr txBox="1"/>
          <p:nvPr/>
        </p:nvSpPr>
        <p:spPr>
          <a:xfrm>
            <a:off x="640080" y="6126480"/>
            <a:ext cx="10927080" cy="365760"/>
          </a:xfrm>
          <a:prstGeom prst="rect">
            <a:avLst/>
          </a:prstGeom>
          <a:noFill/>
          <a:ln/>
        </p:spPr>
        <p:txBody>
          <a:bodyPr wrap="square" lIns="0" tIns="0" rIns="0" bIns="0" rtlCol="0" anchor="ctr"/>
          <a:lstStyle/>
          <a:p>
            <a:pPr marL="0" indent="0">
              <a:buNone/>
            </a:pPr>
            <a:r>
              <a:rPr lang="en-US" sz="1500" b="1" i="1" dirty="0">
                <a:solidFill>
                  <a:srgbClr val="C2571E"/>
                </a:solidFill>
                <a:latin typeface="Calibri" pitchFamily="34" charset="0"/>
                <a:ea typeface="Calibri" pitchFamily="34" charset="-122"/>
                <a:cs typeface="Calibri" pitchFamily="34" charset="-120"/>
              </a:rPr>
              <a:t>Approach 3 is where the frontier is — and it is why generative AI and robotics stopped being separate conversations.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HOW THE BRANCHES RELATE</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Three jobs, not three technologies</a:t>
            </a:r>
            <a:endParaRPr lang="en-US" sz="3800" dirty="0"/>
          </a:p>
        </p:txBody>
      </p:sp>
      <p:sp>
        <p:nvSpPr>
          <p:cNvPr id="4" name="Shape 2"/>
          <p:cNvSpPr/>
          <p:nvPr/>
        </p:nvSpPr>
        <p:spPr>
          <a:xfrm>
            <a:off x="3447288" y="1664208"/>
            <a:ext cx="3255264" cy="3255264"/>
          </a:xfrm>
          <a:prstGeom prst="ellipse">
            <a:avLst/>
          </a:prstGeom>
          <a:solidFill>
            <a:srgbClr val="0F7186">
              <a:alpha val="32000"/>
            </a:srgbClr>
          </a:solidFill>
          <a:ln w="22225">
            <a:solidFill>
              <a:srgbClr val="0F7186"/>
            </a:solidFill>
            <a:prstDash val="solid"/>
          </a:ln>
        </p:spPr>
      </p:sp>
      <p:sp>
        <p:nvSpPr>
          <p:cNvPr id="5" name="Shape 3"/>
          <p:cNvSpPr/>
          <p:nvPr/>
        </p:nvSpPr>
        <p:spPr>
          <a:xfrm>
            <a:off x="5367528" y="1664208"/>
            <a:ext cx="3255264" cy="3255264"/>
          </a:xfrm>
          <a:prstGeom prst="ellipse">
            <a:avLst/>
          </a:prstGeom>
          <a:solidFill>
            <a:srgbClr val="6A3FA0">
              <a:alpha val="32000"/>
            </a:srgbClr>
          </a:solidFill>
          <a:ln w="22225">
            <a:solidFill>
              <a:srgbClr val="6A3FA0"/>
            </a:solidFill>
            <a:prstDash val="solid"/>
          </a:ln>
        </p:spPr>
      </p:sp>
      <p:sp>
        <p:nvSpPr>
          <p:cNvPr id="6" name="Shape 4"/>
          <p:cNvSpPr/>
          <p:nvPr/>
        </p:nvSpPr>
        <p:spPr>
          <a:xfrm>
            <a:off x="4407408" y="3108960"/>
            <a:ext cx="3255264" cy="3255264"/>
          </a:xfrm>
          <a:prstGeom prst="ellipse">
            <a:avLst/>
          </a:prstGeom>
          <a:solidFill>
            <a:srgbClr val="C2571E">
              <a:alpha val="32000"/>
            </a:srgbClr>
          </a:solidFill>
          <a:ln w="22225">
            <a:solidFill>
              <a:srgbClr val="C2571E"/>
            </a:solidFill>
            <a:prstDash val="solid"/>
          </a:ln>
        </p:spPr>
      </p:sp>
      <p:sp>
        <p:nvSpPr>
          <p:cNvPr id="7" name="Text 5"/>
          <p:cNvSpPr txBox="1"/>
          <p:nvPr/>
        </p:nvSpPr>
        <p:spPr>
          <a:xfrm>
            <a:off x="3474720" y="2267712"/>
            <a:ext cx="1828800" cy="548640"/>
          </a:xfrm>
          <a:prstGeom prst="rect">
            <a:avLst/>
          </a:prstGeom>
          <a:noFill/>
          <a:ln/>
        </p:spPr>
        <p:txBody>
          <a:bodyPr wrap="square" lIns="0" tIns="0" rIns="0" bIns="0" rtlCol="0" anchor="ctr"/>
          <a:lstStyle/>
          <a:p>
            <a:pPr marL="0" indent="0" algn="ctr">
              <a:buNone/>
            </a:pPr>
            <a:r>
              <a:rPr lang="en-US" sz="1500" b="1" dirty="0">
                <a:solidFill>
                  <a:srgbClr val="0B5A6B"/>
                </a:solidFill>
                <a:latin typeface="Calibri" pitchFamily="34" charset="0"/>
                <a:ea typeface="Calibri" pitchFamily="34" charset="-122"/>
                <a:cs typeface="Calibri" pitchFamily="34" charset="-120"/>
              </a:rPr>
              <a:t>PERCEPTUAL</a:t>
            </a:r>
            <a:endParaRPr lang="en-US" sz="1500" dirty="0"/>
          </a:p>
          <a:p>
            <a:pPr marL="0" indent="0" algn="ctr">
              <a:buNone/>
            </a:pPr>
            <a:r>
              <a:rPr lang="en-US" sz="1500" b="1" dirty="0">
                <a:solidFill>
                  <a:srgbClr val="0B5A6B"/>
                </a:solidFill>
                <a:latin typeface="Calibri" pitchFamily="34" charset="0"/>
                <a:ea typeface="Calibri" pitchFamily="34" charset="-122"/>
                <a:cs typeface="Calibri" pitchFamily="34" charset="-120"/>
              </a:rPr>
              <a:t>vision · speech</a:t>
            </a:r>
            <a:endParaRPr lang="en-US" sz="1500" dirty="0"/>
          </a:p>
        </p:txBody>
      </p:sp>
      <p:sp>
        <p:nvSpPr>
          <p:cNvPr id="8" name="Text 6"/>
          <p:cNvSpPr txBox="1"/>
          <p:nvPr/>
        </p:nvSpPr>
        <p:spPr>
          <a:xfrm>
            <a:off x="6766560" y="2267712"/>
            <a:ext cx="1828800" cy="548640"/>
          </a:xfrm>
          <a:prstGeom prst="rect">
            <a:avLst/>
          </a:prstGeom>
          <a:noFill/>
          <a:ln/>
        </p:spPr>
        <p:txBody>
          <a:bodyPr wrap="square" lIns="0" tIns="0" rIns="0" bIns="0" rtlCol="0" anchor="ctr"/>
          <a:lstStyle/>
          <a:p>
            <a:pPr marL="0" indent="0" algn="ctr">
              <a:buNone/>
            </a:pPr>
            <a:r>
              <a:rPr lang="en-US" sz="1500" b="1" dirty="0">
                <a:solidFill>
                  <a:srgbClr val="4B2C75"/>
                </a:solidFill>
                <a:latin typeface="Calibri" pitchFamily="34" charset="0"/>
                <a:ea typeface="Calibri" pitchFamily="34" charset="-122"/>
                <a:cs typeface="Calibri" pitchFamily="34" charset="-120"/>
              </a:rPr>
              <a:t>GENERATIVE</a:t>
            </a:r>
            <a:endParaRPr lang="en-US" sz="1500" dirty="0"/>
          </a:p>
          <a:p>
            <a:pPr marL="0" indent="0" algn="ctr">
              <a:buNone/>
            </a:pPr>
            <a:r>
              <a:rPr lang="en-US" sz="1500" b="1" dirty="0">
                <a:solidFill>
                  <a:srgbClr val="4B2C75"/>
                </a:solidFill>
                <a:latin typeface="Calibri" pitchFamily="34" charset="0"/>
                <a:ea typeface="Calibri" pitchFamily="34" charset="-122"/>
                <a:cs typeface="Calibri" pitchFamily="34" charset="-120"/>
              </a:rPr>
              <a:t>text · images</a:t>
            </a:r>
            <a:endParaRPr lang="en-US" sz="1500" dirty="0"/>
          </a:p>
        </p:txBody>
      </p:sp>
      <p:sp>
        <p:nvSpPr>
          <p:cNvPr id="9" name="Text 7"/>
          <p:cNvSpPr txBox="1"/>
          <p:nvPr/>
        </p:nvSpPr>
        <p:spPr>
          <a:xfrm>
            <a:off x="4800600" y="5376672"/>
            <a:ext cx="2468880" cy="548640"/>
          </a:xfrm>
          <a:prstGeom prst="rect">
            <a:avLst/>
          </a:prstGeom>
          <a:noFill/>
          <a:ln/>
        </p:spPr>
        <p:txBody>
          <a:bodyPr wrap="square" lIns="0" tIns="0" rIns="0" bIns="0" rtlCol="0" anchor="ctr"/>
          <a:lstStyle/>
          <a:p>
            <a:pPr marL="0" indent="0" algn="ctr">
              <a:buNone/>
            </a:pPr>
            <a:r>
              <a:rPr lang="en-US" sz="1500" b="1" dirty="0">
                <a:solidFill>
                  <a:srgbClr val="8A3C12"/>
                </a:solidFill>
                <a:latin typeface="Calibri" pitchFamily="34" charset="0"/>
                <a:ea typeface="Calibri" pitchFamily="34" charset="-122"/>
                <a:cs typeface="Calibri" pitchFamily="34" charset="-120"/>
              </a:rPr>
              <a:t>EMBODIED</a:t>
            </a:r>
            <a:endParaRPr lang="en-US" sz="1500" dirty="0"/>
          </a:p>
          <a:p>
            <a:pPr marL="0" indent="0" algn="ctr">
              <a:buNone/>
            </a:pPr>
            <a:r>
              <a:rPr lang="en-US" sz="1500" b="1" dirty="0">
                <a:solidFill>
                  <a:srgbClr val="8A3C12"/>
                </a:solidFill>
                <a:latin typeface="Calibri" pitchFamily="34" charset="0"/>
                <a:ea typeface="Calibri" pitchFamily="34" charset="-122"/>
                <a:cs typeface="Calibri" pitchFamily="34" charset="-120"/>
              </a:rPr>
              <a:t>robots · cars · drones</a:t>
            </a:r>
            <a:endParaRPr lang="en-US" sz="1500" dirty="0"/>
          </a:p>
        </p:txBody>
      </p:sp>
      <p:sp>
        <p:nvSpPr>
          <p:cNvPr id="10" name="Text 8"/>
          <p:cNvSpPr txBox="1"/>
          <p:nvPr/>
        </p:nvSpPr>
        <p:spPr>
          <a:xfrm>
            <a:off x="5394960" y="2377440"/>
            <a:ext cx="1280160" cy="548640"/>
          </a:xfrm>
          <a:prstGeom prst="rect">
            <a:avLst/>
          </a:prstGeom>
          <a:noFill/>
          <a:ln/>
        </p:spPr>
        <p:txBody>
          <a:bodyPr wrap="square" lIns="0" tIns="0" rIns="0" bIns="0" rtlCol="0" anchor="ctr"/>
          <a:lstStyle/>
          <a:p>
            <a:pPr marL="0" indent="0" algn="ctr">
              <a:buNone/>
            </a:pPr>
            <a:r>
              <a:rPr lang="en-US" sz="1500" dirty="0">
                <a:solidFill>
                  <a:srgbClr val="2A3550"/>
                </a:solidFill>
                <a:latin typeface="Calibri" pitchFamily="34" charset="0"/>
                <a:ea typeface="Calibri" pitchFamily="34" charset="-122"/>
                <a:cs typeface="Calibri" pitchFamily="34" charset="-120"/>
              </a:rPr>
              <a:t>multimodal</a:t>
            </a:r>
            <a:endParaRPr lang="en-US" sz="1500" dirty="0"/>
          </a:p>
        </p:txBody>
      </p:sp>
      <p:sp>
        <p:nvSpPr>
          <p:cNvPr id="11" name="Text 9"/>
          <p:cNvSpPr txBox="1"/>
          <p:nvPr/>
        </p:nvSpPr>
        <p:spPr>
          <a:xfrm>
            <a:off x="4549140" y="3931920"/>
            <a:ext cx="1234440" cy="548640"/>
          </a:xfrm>
          <a:prstGeom prst="rect">
            <a:avLst/>
          </a:prstGeom>
          <a:noFill/>
          <a:ln/>
        </p:spPr>
        <p:txBody>
          <a:bodyPr wrap="square" lIns="0" tIns="0" rIns="0" bIns="0" rtlCol="0" anchor="ctr"/>
          <a:lstStyle/>
          <a:p>
            <a:pPr marL="0" indent="0" algn="ctr">
              <a:buNone/>
            </a:pPr>
            <a:r>
              <a:rPr lang="en-US" sz="1500" dirty="0">
                <a:solidFill>
                  <a:srgbClr val="3D4430"/>
                </a:solidFill>
                <a:latin typeface="Calibri" pitchFamily="34" charset="0"/>
                <a:ea typeface="Calibri" pitchFamily="34" charset="-122"/>
                <a:cs typeface="Calibri" pitchFamily="34" charset="-120"/>
              </a:rPr>
              <a:t>robot</a:t>
            </a:r>
            <a:endParaRPr lang="en-US" sz="1500" dirty="0"/>
          </a:p>
          <a:p>
            <a:pPr marL="0" indent="0" algn="ctr">
              <a:buNone/>
            </a:pPr>
            <a:r>
              <a:rPr lang="en-US" sz="1500" dirty="0">
                <a:solidFill>
                  <a:srgbClr val="3D4430"/>
                </a:solidFill>
                <a:latin typeface="Calibri" pitchFamily="34" charset="0"/>
                <a:ea typeface="Calibri" pitchFamily="34" charset="-122"/>
                <a:cs typeface="Calibri" pitchFamily="34" charset="-120"/>
              </a:rPr>
              <a:t>sensing</a:t>
            </a:r>
            <a:endParaRPr lang="en-US" sz="1500" dirty="0"/>
          </a:p>
        </p:txBody>
      </p:sp>
      <p:sp>
        <p:nvSpPr>
          <p:cNvPr id="12" name="Text 10"/>
          <p:cNvSpPr txBox="1"/>
          <p:nvPr/>
        </p:nvSpPr>
        <p:spPr>
          <a:xfrm>
            <a:off x="6286500" y="3931920"/>
            <a:ext cx="1234440" cy="548640"/>
          </a:xfrm>
          <a:prstGeom prst="rect">
            <a:avLst/>
          </a:prstGeom>
          <a:noFill/>
          <a:ln/>
        </p:spPr>
        <p:txBody>
          <a:bodyPr wrap="square" lIns="0" tIns="0" rIns="0" bIns="0" rtlCol="0" anchor="ctr"/>
          <a:lstStyle/>
          <a:p>
            <a:pPr marL="0" indent="0" algn="ctr">
              <a:buNone/>
            </a:pPr>
            <a:r>
              <a:rPr lang="en-US" sz="1500" dirty="0">
                <a:solidFill>
                  <a:srgbClr val="5A3320"/>
                </a:solidFill>
                <a:latin typeface="Calibri" pitchFamily="34" charset="0"/>
                <a:ea typeface="Calibri" pitchFamily="34" charset="-122"/>
                <a:cs typeface="Calibri" pitchFamily="34" charset="-120"/>
              </a:rPr>
              <a:t>world</a:t>
            </a:r>
            <a:endParaRPr lang="en-US" sz="1500" dirty="0"/>
          </a:p>
          <a:p>
            <a:pPr marL="0" indent="0" algn="ctr">
              <a:buNone/>
            </a:pPr>
            <a:r>
              <a:rPr lang="en-US" sz="1500" dirty="0">
                <a:solidFill>
                  <a:srgbClr val="5A3320"/>
                </a:solidFill>
                <a:latin typeface="Calibri" pitchFamily="34" charset="0"/>
                <a:ea typeface="Calibri" pitchFamily="34" charset="-122"/>
                <a:cs typeface="Calibri" pitchFamily="34" charset="-120"/>
              </a:rPr>
              <a:t>models</a:t>
            </a:r>
            <a:endParaRPr lang="en-US" sz="1500" dirty="0"/>
          </a:p>
        </p:txBody>
      </p:sp>
      <p:sp>
        <p:nvSpPr>
          <p:cNvPr id="13" name="Text 11"/>
          <p:cNvSpPr txBox="1"/>
          <p:nvPr/>
        </p:nvSpPr>
        <p:spPr>
          <a:xfrm>
            <a:off x="5417820" y="3364992"/>
            <a:ext cx="1234440" cy="548640"/>
          </a:xfrm>
          <a:prstGeom prst="rect">
            <a:avLst/>
          </a:prstGeom>
          <a:noFill/>
          <a:ln/>
        </p:spPr>
        <p:txBody>
          <a:bodyPr wrap="square" lIns="0" tIns="0" rIns="0" bIns="0" rtlCol="0" anchor="ctr"/>
          <a:lstStyle/>
          <a:p>
            <a:pPr marL="0" indent="0" algn="ctr">
              <a:buNone/>
            </a:pPr>
            <a:r>
              <a:rPr lang="en-US" sz="1500" b="1" dirty="0">
                <a:solidFill>
                  <a:srgbClr val="231A2E"/>
                </a:solidFill>
                <a:latin typeface="Calibri" pitchFamily="34" charset="0"/>
                <a:ea typeface="Calibri" pitchFamily="34" charset="-122"/>
                <a:cs typeface="Calibri" pitchFamily="34" charset="-120"/>
              </a:rPr>
              <a:t>VLA</a:t>
            </a:r>
            <a:endParaRPr lang="en-US" sz="1500" dirty="0"/>
          </a:p>
          <a:p>
            <a:pPr marL="0" indent="0" algn="ctr">
              <a:buNone/>
            </a:pPr>
            <a:r>
              <a:rPr lang="en-US" sz="1500" b="1" dirty="0">
                <a:solidFill>
                  <a:srgbClr val="231A2E"/>
                </a:solidFill>
                <a:latin typeface="Calibri" pitchFamily="34" charset="0"/>
                <a:ea typeface="Calibri" pitchFamily="34" charset="-122"/>
                <a:cs typeface="Calibri" pitchFamily="34" charset="-120"/>
              </a:rPr>
              <a:t>models</a:t>
            </a:r>
            <a:endParaRPr lang="en-US" sz="1500" dirty="0"/>
          </a:p>
        </p:txBody>
      </p:sp>
      <p:sp>
        <p:nvSpPr>
          <p:cNvPr id="14" name="Text 12"/>
          <p:cNvSpPr txBox="1"/>
          <p:nvPr/>
        </p:nvSpPr>
        <p:spPr>
          <a:xfrm>
            <a:off x="640080" y="1874520"/>
            <a:ext cx="3108960" cy="292608"/>
          </a:xfrm>
          <a:prstGeom prst="rect">
            <a:avLst/>
          </a:prstGeom>
          <a:noFill/>
          <a:ln/>
        </p:spPr>
        <p:txBody>
          <a:bodyPr wrap="square" lIns="0" tIns="0" rIns="0" bIns="0" rtlCol="0" anchor="t"/>
          <a:lstStyle/>
          <a:p>
            <a:pPr marL="0" indent="0" algn="l">
              <a:lnSpc>
                <a:spcPct val="115000"/>
              </a:lnSpc>
              <a:buNone/>
            </a:pPr>
            <a:r>
              <a:rPr lang="en-US" sz="1500" b="1" kern="0" spc="140" dirty="0">
                <a:solidFill>
                  <a:srgbClr val="C2571E"/>
                </a:solidFill>
                <a:latin typeface="Calibri" pitchFamily="34" charset="0"/>
                <a:ea typeface="Calibri" pitchFamily="34" charset="-122"/>
                <a:cs typeface="Calibri" pitchFamily="34" charset="-120"/>
              </a:rPr>
              <a:t>READ IT AS ROLES</a:t>
            </a:r>
            <a:endParaRPr lang="en-US" sz="1500" dirty="0"/>
          </a:p>
        </p:txBody>
      </p:sp>
      <p:sp>
        <p:nvSpPr>
          <p:cNvPr id="15" name="Text 13"/>
          <p:cNvSpPr txBox="1"/>
          <p:nvPr/>
        </p:nvSpPr>
        <p:spPr>
          <a:xfrm>
            <a:off x="640080" y="2286000"/>
            <a:ext cx="2788920" cy="3291840"/>
          </a:xfrm>
          <a:prstGeom prst="rect">
            <a:avLst/>
          </a:prstGeom>
          <a:noFill/>
          <a:ln/>
        </p:spPr>
        <p:txBody>
          <a:bodyPr wrap="square" lIns="0" tIns="0" rIns="0" bIns="0" rtlCol="0" anchor="t"/>
          <a:lstStyle/>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Perceptual: world → understanding</a:t>
            </a:r>
            <a:endParaRPr lang="en-US" sz="1500" dirty="0"/>
          </a:p>
          <a:p>
            <a:pPr marL="0" indent="0" algn="l">
              <a:lnSpc>
                <a:spcPct val="110000"/>
              </a:lnSpc>
              <a:buNone/>
            </a:pPr>
            <a:endParaRPr lang="en-US" sz="1500" dirty="0"/>
          </a:p>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Generative: understanding → content</a:t>
            </a:r>
            <a:endParaRPr lang="en-US" sz="1500" dirty="0"/>
          </a:p>
          <a:p>
            <a:pPr marL="0" indent="0" algn="l">
              <a:lnSpc>
                <a:spcPct val="110000"/>
              </a:lnSpc>
              <a:buNone/>
            </a:pPr>
            <a:endParaRPr lang="en-US" sz="1500" dirty="0"/>
          </a:p>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Embodied: understanding → action</a:t>
            </a:r>
            <a:endParaRPr lang="en-US" sz="1500" dirty="0"/>
          </a:p>
          <a:p>
            <a:pPr marL="0" indent="0" algn="l">
              <a:lnSpc>
                <a:spcPct val="110000"/>
              </a:lnSpc>
              <a:buNone/>
            </a:pPr>
            <a:endParaRPr lang="en-US" sz="1500" dirty="0"/>
          </a:p>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Most systems do more than one, which is why the circles overlap.</a:t>
            </a:r>
            <a:endParaRPr lang="en-US" sz="1500" dirty="0"/>
          </a:p>
        </p:txBody>
      </p:sp>
      <p:sp>
        <p:nvSpPr>
          <p:cNvPr id="16" name="Text 14"/>
          <p:cNvSpPr txBox="1"/>
          <p:nvPr/>
        </p:nvSpPr>
        <p:spPr>
          <a:xfrm>
            <a:off x="8732520" y="1874520"/>
            <a:ext cx="2834640" cy="292608"/>
          </a:xfrm>
          <a:prstGeom prst="rect">
            <a:avLst/>
          </a:prstGeom>
          <a:noFill/>
          <a:ln/>
        </p:spPr>
        <p:txBody>
          <a:bodyPr wrap="square" lIns="0" tIns="0" rIns="0" bIns="0" rtlCol="0" anchor="t"/>
          <a:lstStyle/>
          <a:p>
            <a:pPr marL="0" indent="0" algn="l">
              <a:lnSpc>
                <a:spcPct val="115000"/>
              </a:lnSpc>
              <a:buNone/>
            </a:pPr>
            <a:r>
              <a:rPr lang="en-US" sz="1500" b="1" kern="0" spc="140" dirty="0">
                <a:solidFill>
                  <a:srgbClr val="C2571E"/>
                </a:solidFill>
                <a:latin typeface="Calibri" pitchFamily="34" charset="0"/>
                <a:ea typeface="Calibri" pitchFamily="34" charset="-122"/>
                <a:cs typeface="Calibri" pitchFamily="34" charset="-120"/>
              </a:rPr>
              <a:t>THE OVERLAPS</a:t>
            </a:r>
            <a:endParaRPr lang="en-US" sz="1500" dirty="0"/>
          </a:p>
        </p:txBody>
      </p:sp>
      <p:sp>
        <p:nvSpPr>
          <p:cNvPr id="17" name="Text 15"/>
          <p:cNvSpPr txBox="1"/>
          <p:nvPr/>
        </p:nvSpPr>
        <p:spPr>
          <a:xfrm>
            <a:off x="8686800" y="2286000"/>
            <a:ext cx="2880360" cy="3840480"/>
          </a:xfrm>
          <a:prstGeom prst="rect">
            <a:avLst/>
          </a:prstGeom>
          <a:noFill/>
          <a:ln/>
        </p:spPr>
        <p:txBody>
          <a:bodyPr wrap="square" lIns="0" tIns="0" rIns="0" bIns="0" rtlCol="0" anchor="t"/>
          <a:lstStyle/>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Multimodal — sees, then describes: captioning, visual Q&amp;A</a:t>
            </a:r>
            <a:endParaRPr lang="en-US" sz="1500" dirty="0"/>
          </a:p>
          <a:p>
            <a:pPr marL="0" indent="0" algn="l">
              <a:lnSpc>
                <a:spcPct val="110000"/>
              </a:lnSpc>
              <a:buNone/>
            </a:pPr>
            <a:endParaRPr lang="en-US" sz="1500" dirty="0"/>
          </a:p>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Robot sensing — perceive well enough to control safely</a:t>
            </a:r>
            <a:endParaRPr lang="en-US" sz="1500" dirty="0"/>
          </a:p>
          <a:p>
            <a:pPr marL="0" indent="0" algn="l">
              <a:lnSpc>
                <a:spcPct val="110000"/>
              </a:lnSpc>
              <a:buNone/>
            </a:pPr>
            <a:endParaRPr lang="en-US" sz="1500" dirty="0"/>
          </a:p>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World models — generation aimed at the physical world</a:t>
            </a:r>
            <a:endParaRPr lang="en-US" sz="1500" dirty="0"/>
          </a:p>
          <a:p>
            <a:pPr marL="0" indent="0" algn="l">
              <a:lnSpc>
                <a:spcPct val="110000"/>
              </a:lnSpc>
              <a:buNone/>
            </a:pPr>
            <a:endParaRPr lang="en-US" sz="1500" dirty="0"/>
          </a:p>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VLA models — all three at once, the current frontier</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mnt/user-data/uploads/19.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THE MODEL FAMILY — 1 OF 4</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LLM — the reasoning backbone</a:t>
            </a:r>
            <a:endParaRPr lang="en-US" sz="3800" dirty="0"/>
          </a:p>
        </p:txBody>
      </p:sp>
      <p:sp>
        <p:nvSpPr>
          <p:cNvPr id="4" name="Shape 2"/>
          <p:cNvSpPr/>
          <p:nvPr/>
        </p:nvSpPr>
        <p:spPr>
          <a:xfrm>
            <a:off x="640080" y="1691640"/>
            <a:ext cx="3246120" cy="960120"/>
          </a:xfrm>
          <a:prstGeom prst="roundRect">
            <a:avLst>
              <a:gd name="adj" fmla="val 4762"/>
            </a:avLst>
          </a:prstGeom>
          <a:solidFill>
            <a:srgbClr val="FFFFFF"/>
          </a:solidFill>
          <a:ln w="15875">
            <a:solidFill>
              <a:srgbClr val="566672"/>
            </a:solidFill>
            <a:prstDash val="solid"/>
          </a:ln>
        </p:spPr>
      </p:sp>
      <p:sp>
        <p:nvSpPr>
          <p:cNvPr id="5" name="Text 3"/>
          <p:cNvSpPr txBox="1"/>
          <p:nvPr/>
        </p:nvSpPr>
        <p:spPr>
          <a:xfrm>
            <a:off x="685800" y="1691640"/>
            <a:ext cx="3154680" cy="960120"/>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text: an instruction,</a:t>
            </a:r>
            <a:endParaRPr lang="en-US" sz="1500" dirty="0"/>
          </a:p>
          <a:p>
            <a:pPr marL="0" indent="0" algn="ctr">
              <a:buNone/>
            </a:pPr>
            <a:r>
              <a:rPr lang="en-US" sz="1500" dirty="0">
                <a:solidFill>
                  <a:srgbClr val="13222E"/>
                </a:solidFill>
                <a:latin typeface="Calibri" pitchFamily="34" charset="0"/>
                <a:ea typeface="Calibri" pitchFamily="34" charset="-122"/>
                <a:cs typeface="Calibri" pitchFamily="34" charset="-120"/>
              </a:rPr>
              <a:t>a question, a document</a:t>
            </a:r>
            <a:endParaRPr lang="en-US" sz="1500" dirty="0"/>
          </a:p>
        </p:txBody>
      </p:sp>
      <p:sp>
        <p:nvSpPr>
          <p:cNvPr id="6" name="Shape 4"/>
          <p:cNvSpPr/>
          <p:nvPr/>
        </p:nvSpPr>
        <p:spPr>
          <a:xfrm>
            <a:off x="4480560" y="1691640"/>
            <a:ext cx="3246120" cy="960120"/>
          </a:xfrm>
          <a:prstGeom prst="roundRect">
            <a:avLst>
              <a:gd name="adj" fmla="val 4762"/>
            </a:avLst>
          </a:prstGeom>
          <a:solidFill>
            <a:srgbClr val="EFE9F7"/>
          </a:solidFill>
          <a:ln w="15875">
            <a:solidFill>
              <a:srgbClr val="6A3FA0"/>
            </a:solidFill>
            <a:prstDash val="solid"/>
          </a:ln>
        </p:spPr>
      </p:sp>
      <p:sp>
        <p:nvSpPr>
          <p:cNvPr id="7" name="Text 5"/>
          <p:cNvSpPr txBox="1"/>
          <p:nvPr/>
        </p:nvSpPr>
        <p:spPr>
          <a:xfrm>
            <a:off x="4526280" y="1691640"/>
            <a:ext cx="3154680" cy="960120"/>
          </a:xfrm>
          <a:prstGeom prst="rect">
            <a:avLst/>
          </a:prstGeom>
          <a:noFill/>
          <a:ln/>
        </p:spPr>
        <p:txBody>
          <a:bodyPr wrap="square" lIns="0" tIns="0" rIns="0" bIns="0" rtlCol="0" anchor="ctr"/>
          <a:lstStyle/>
          <a:p>
            <a:pPr marL="0" indent="0" algn="ctr">
              <a:buNone/>
            </a:pPr>
            <a:r>
              <a:rPr lang="en-US" sz="1600" b="1" dirty="0">
                <a:solidFill>
                  <a:srgbClr val="6A3FA0"/>
                </a:solidFill>
                <a:latin typeface="Calibri" pitchFamily="34" charset="0"/>
                <a:ea typeface="Calibri" pitchFamily="34" charset="-122"/>
                <a:cs typeface="Calibri" pitchFamily="34" charset="-120"/>
              </a:rPr>
              <a:t>LLM</a:t>
            </a:r>
            <a:endParaRPr lang="en-US" sz="1600" dirty="0"/>
          </a:p>
        </p:txBody>
      </p:sp>
      <p:sp>
        <p:nvSpPr>
          <p:cNvPr id="8" name="Shape 6"/>
          <p:cNvSpPr/>
          <p:nvPr/>
        </p:nvSpPr>
        <p:spPr>
          <a:xfrm>
            <a:off x="8321040" y="1691640"/>
            <a:ext cx="3246120" cy="960120"/>
          </a:xfrm>
          <a:prstGeom prst="roundRect">
            <a:avLst>
              <a:gd name="adj" fmla="val 4762"/>
            </a:avLst>
          </a:prstGeom>
          <a:solidFill>
            <a:srgbClr val="FFFFFF"/>
          </a:solidFill>
          <a:ln w="15875">
            <a:solidFill>
              <a:srgbClr val="566672"/>
            </a:solidFill>
            <a:prstDash val="solid"/>
          </a:ln>
        </p:spPr>
      </p:sp>
      <p:sp>
        <p:nvSpPr>
          <p:cNvPr id="9" name="Text 7"/>
          <p:cNvSpPr txBox="1"/>
          <p:nvPr/>
        </p:nvSpPr>
        <p:spPr>
          <a:xfrm>
            <a:off x="8366760" y="1691640"/>
            <a:ext cx="3154680" cy="960120"/>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text: an answer,</a:t>
            </a:r>
            <a:endParaRPr lang="en-US" sz="1500" dirty="0"/>
          </a:p>
          <a:p>
            <a:pPr marL="0" indent="0" algn="ctr">
              <a:buNone/>
            </a:pPr>
            <a:r>
              <a:rPr lang="en-US" sz="1500" dirty="0">
                <a:solidFill>
                  <a:srgbClr val="13222E"/>
                </a:solidFill>
                <a:latin typeface="Calibri" pitchFamily="34" charset="0"/>
                <a:ea typeface="Calibri" pitchFamily="34" charset="-122"/>
                <a:cs typeface="Calibri" pitchFamily="34" charset="-120"/>
              </a:rPr>
              <a:t>a plan, some code</a:t>
            </a:r>
            <a:endParaRPr lang="en-US" sz="1500" dirty="0"/>
          </a:p>
        </p:txBody>
      </p:sp>
      <p:sp>
        <p:nvSpPr>
          <p:cNvPr id="10" name="Shape 8"/>
          <p:cNvSpPr/>
          <p:nvPr/>
        </p:nvSpPr>
        <p:spPr>
          <a:xfrm>
            <a:off x="3931920" y="2167128"/>
            <a:ext cx="502920" cy="0"/>
          </a:xfrm>
          <a:prstGeom prst="line">
            <a:avLst/>
          </a:prstGeom>
          <a:noFill/>
          <a:ln w="20320">
            <a:solidFill>
              <a:srgbClr val="6A3FA0"/>
            </a:solidFill>
            <a:prstDash val="solid"/>
            <a:tailEnd type="triangle"/>
          </a:ln>
        </p:spPr>
      </p:sp>
      <p:sp>
        <p:nvSpPr>
          <p:cNvPr id="11" name="Shape 9"/>
          <p:cNvSpPr/>
          <p:nvPr/>
        </p:nvSpPr>
        <p:spPr>
          <a:xfrm>
            <a:off x="7772400" y="2167128"/>
            <a:ext cx="502920" cy="0"/>
          </a:xfrm>
          <a:prstGeom prst="line">
            <a:avLst/>
          </a:prstGeom>
          <a:noFill/>
          <a:ln w="20320">
            <a:solidFill>
              <a:srgbClr val="6A3FA0"/>
            </a:solidFill>
            <a:prstDash val="solid"/>
            <a:tailEnd type="triangle"/>
          </a:ln>
        </p:spPr>
      </p:sp>
      <p:sp>
        <p:nvSpPr>
          <p:cNvPr id="12" name="Text 10"/>
          <p:cNvSpPr txBox="1"/>
          <p:nvPr/>
        </p:nvSpPr>
        <p:spPr>
          <a:xfrm>
            <a:off x="640080" y="2697480"/>
            <a:ext cx="3246120" cy="292608"/>
          </a:xfrm>
          <a:prstGeom prst="rect">
            <a:avLst/>
          </a:prstGeom>
          <a:noFill/>
          <a:ln/>
        </p:spPr>
        <p:txBody>
          <a:bodyPr wrap="square" lIns="0" tIns="0" rIns="0" bIns="0" rtlCol="0" anchor="ctr"/>
          <a:lstStyle/>
          <a:p>
            <a:pPr marL="0" indent="0" algn="ctr">
              <a:buNone/>
            </a:pPr>
            <a:r>
              <a:rPr lang="en-US" sz="1500" i="1" dirty="0">
                <a:solidFill>
                  <a:srgbClr val="566672"/>
                </a:solidFill>
                <a:latin typeface="Calibri" pitchFamily="34" charset="0"/>
                <a:ea typeface="Calibri" pitchFamily="34" charset="-122"/>
                <a:cs typeface="Calibri" pitchFamily="34" charset="-120"/>
              </a:rPr>
              <a:t>what goes in</a:t>
            </a:r>
            <a:endParaRPr lang="en-US" sz="1500" dirty="0"/>
          </a:p>
        </p:txBody>
      </p:sp>
      <p:sp>
        <p:nvSpPr>
          <p:cNvPr id="13" name="Text 11"/>
          <p:cNvSpPr txBox="1"/>
          <p:nvPr/>
        </p:nvSpPr>
        <p:spPr>
          <a:xfrm>
            <a:off x="8321040" y="2697480"/>
            <a:ext cx="3246120" cy="292608"/>
          </a:xfrm>
          <a:prstGeom prst="rect">
            <a:avLst/>
          </a:prstGeom>
          <a:noFill/>
          <a:ln/>
        </p:spPr>
        <p:txBody>
          <a:bodyPr wrap="square" lIns="0" tIns="0" rIns="0" bIns="0" rtlCol="0" anchor="ctr"/>
          <a:lstStyle/>
          <a:p>
            <a:pPr marL="0" indent="0" algn="ctr">
              <a:buNone/>
            </a:pPr>
            <a:r>
              <a:rPr lang="en-US" sz="1500" i="1" dirty="0">
                <a:solidFill>
                  <a:srgbClr val="566672"/>
                </a:solidFill>
                <a:latin typeface="Calibri" pitchFamily="34" charset="0"/>
                <a:ea typeface="Calibri" pitchFamily="34" charset="-122"/>
                <a:cs typeface="Calibri" pitchFamily="34" charset="-120"/>
              </a:rPr>
              <a:t>what comes out</a:t>
            </a:r>
            <a:endParaRPr lang="en-US" sz="1500" dirty="0"/>
          </a:p>
        </p:txBody>
      </p:sp>
      <p:sp>
        <p:nvSpPr>
          <p:cNvPr id="14" name="Shape 12"/>
          <p:cNvSpPr/>
          <p:nvPr/>
        </p:nvSpPr>
        <p:spPr>
          <a:xfrm>
            <a:off x="640080" y="3154680"/>
            <a:ext cx="3429000" cy="2286000"/>
          </a:xfrm>
          <a:prstGeom prst="roundRect">
            <a:avLst>
              <a:gd name="adj" fmla="val 2400"/>
            </a:avLst>
          </a:prstGeom>
          <a:solidFill>
            <a:srgbClr val="EFE9F7"/>
          </a:solidFill>
          <a:ln w="9525">
            <a:solidFill>
              <a:srgbClr val="D9CDE9"/>
            </a:solidFill>
            <a:prstDash val="solid"/>
          </a:ln>
        </p:spPr>
      </p:sp>
      <p:sp>
        <p:nvSpPr>
          <p:cNvPr id="15" name="Text 13"/>
          <p:cNvSpPr txBox="1"/>
          <p:nvPr/>
        </p:nvSpPr>
        <p:spPr>
          <a:xfrm>
            <a:off x="914400" y="3337560"/>
            <a:ext cx="2926080" cy="329184"/>
          </a:xfrm>
          <a:prstGeom prst="rect">
            <a:avLst/>
          </a:prstGeom>
          <a:noFill/>
          <a:ln/>
        </p:spPr>
        <p:txBody>
          <a:bodyPr wrap="square" lIns="0" tIns="0" rIns="0" bIns="0" rtlCol="0" anchor="t"/>
          <a:lstStyle/>
          <a:p>
            <a:pPr marL="0" indent="0" algn="l">
              <a:lnSpc>
                <a:spcPct val="115000"/>
              </a:lnSpc>
              <a:buNone/>
            </a:pPr>
            <a:r>
              <a:rPr lang="en-US" sz="1600" b="1" dirty="0">
                <a:solidFill>
                  <a:srgbClr val="6A3FA0"/>
                </a:solidFill>
                <a:latin typeface="Calibri" pitchFamily="34" charset="0"/>
                <a:ea typeface="Calibri" pitchFamily="34" charset="-122"/>
                <a:cs typeface="Calibri" pitchFamily="34" charset="-120"/>
              </a:rPr>
              <a:t>What it adds</a:t>
            </a:r>
            <a:endParaRPr lang="en-US" sz="1600" dirty="0"/>
          </a:p>
        </p:txBody>
      </p:sp>
      <p:sp>
        <p:nvSpPr>
          <p:cNvPr id="16" name="Text 14"/>
          <p:cNvSpPr txBox="1"/>
          <p:nvPr/>
        </p:nvSpPr>
        <p:spPr>
          <a:xfrm>
            <a:off x="914400" y="3730752"/>
            <a:ext cx="2926080" cy="1600200"/>
          </a:xfrm>
          <a:prstGeom prst="rect">
            <a:avLst/>
          </a:prstGeom>
          <a:noFill/>
          <a:ln/>
        </p:spPr>
        <p:txBody>
          <a:bodyPr wrap="square" lIns="0" tIns="0" rIns="0" bIns="0" rtlCol="0" anchor="t"/>
          <a:lstStyle/>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Language. It can break “tidy the kitchen” into steps, argue about which order they go in, and write code to call a robot's existing skills.</a:t>
            </a:r>
            <a:endParaRPr lang="en-US" sz="1500" dirty="0"/>
          </a:p>
        </p:txBody>
      </p:sp>
      <p:sp>
        <p:nvSpPr>
          <p:cNvPr id="17" name="Shape 15"/>
          <p:cNvSpPr/>
          <p:nvPr/>
        </p:nvSpPr>
        <p:spPr>
          <a:xfrm>
            <a:off x="4389120" y="3154680"/>
            <a:ext cx="3429000" cy="2286000"/>
          </a:xfrm>
          <a:prstGeom prst="roundRect">
            <a:avLst>
              <a:gd name="adj" fmla="val 2400"/>
            </a:avLst>
          </a:prstGeom>
          <a:solidFill>
            <a:srgbClr val="EEF2F5"/>
          </a:solidFill>
          <a:ln w="9525">
            <a:solidFill>
              <a:srgbClr val="C9D3DA"/>
            </a:solidFill>
            <a:prstDash val="solid"/>
          </a:ln>
        </p:spPr>
      </p:sp>
      <p:sp>
        <p:nvSpPr>
          <p:cNvPr id="18" name="Text 16"/>
          <p:cNvSpPr txBox="1"/>
          <p:nvPr/>
        </p:nvSpPr>
        <p:spPr>
          <a:xfrm>
            <a:off x="4663440" y="3337560"/>
            <a:ext cx="2926080" cy="329184"/>
          </a:xfrm>
          <a:prstGeom prst="rect">
            <a:avLst/>
          </a:prstGeom>
          <a:noFill/>
          <a:ln/>
        </p:spPr>
        <p:txBody>
          <a:bodyPr wrap="square" lIns="0" tIns="0" rIns="0" bIns="0" rtlCol="0" anchor="t"/>
          <a:lstStyle/>
          <a:p>
            <a:pPr marL="0" indent="0" algn="l">
              <a:lnSpc>
                <a:spcPct val="115000"/>
              </a:lnSpc>
              <a:buNone/>
            </a:pPr>
            <a:r>
              <a:rPr lang="en-US" sz="1600" b="1" dirty="0">
                <a:solidFill>
                  <a:srgbClr val="566672"/>
                </a:solidFill>
                <a:latin typeface="Calibri" pitchFamily="34" charset="0"/>
                <a:ea typeface="Calibri" pitchFamily="34" charset="-122"/>
                <a:cs typeface="Calibri" pitchFamily="34" charset="-120"/>
              </a:rPr>
              <a:t>Where it stops</a:t>
            </a:r>
            <a:endParaRPr lang="en-US" sz="1600" dirty="0"/>
          </a:p>
        </p:txBody>
      </p:sp>
      <p:sp>
        <p:nvSpPr>
          <p:cNvPr id="19" name="Text 17"/>
          <p:cNvSpPr txBox="1"/>
          <p:nvPr/>
        </p:nvSpPr>
        <p:spPr>
          <a:xfrm>
            <a:off x="4663440" y="3730752"/>
            <a:ext cx="2926080" cy="1600200"/>
          </a:xfrm>
          <a:prstGeom prst="rect">
            <a:avLst/>
          </a:prstGeom>
          <a:noFill/>
          <a:ln/>
        </p:spPr>
        <p:txBody>
          <a:bodyPr wrap="square" lIns="0" tIns="0" rIns="0" bIns="0" rtlCol="0" anchor="t"/>
          <a:lstStyle/>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It has never seen the kitchen. With no eyes it cannot tell whether the mug is where it assumed, so its plan is only as good as whatever description it was handed.</a:t>
            </a:r>
            <a:endParaRPr lang="en-US" sz="1500" dirty="0"/>
          </a:p>
        </p:txBody>
      </p:sp>
      <p:sp>
        <p:nvSpPr>
          <p:cNvPr id="20" name="Shape 18"/>
          <p:cNvSpPr/>
          <p:nvPr/>
        </p:nvSpPr>
        <p:spPr>
          <a:xfrm>
            <a:off x="8138160" y="3154680"/>
            <a:ext cx="3429000" cy="2286000"/>
          </a:xfrm>
          <a:prstGeom prst="roundRect">
            <a:avLst>
              <a:gd name="adj" fmla="val 2400"/>
            </a:avLst>
          </a:prstGeom>
          <a:solidFill>
            <a:srgbClr val="EFE9F7"/>
          </a:solidFill>
          <a:ln w="9525">
            <a:solidFill>
              <a:srgbClr val="D9CDE9"/>
            </a:solidFill>
            <a:prstDash val="solid"/>
          </a:ln>
        </p:spPr>
      </p:sp>
      <p:sp>
        <p:nvSpPr>
          <p:cNvPr id="21" name="Text 19"/>
          <p:cNvSpPr txBox="1"/>
          <p:nvPr/>
        </p:nvSpPr>
        <p:spPr>
          <a:xfrm>
            <a:off x="8412480" y="3337560"/>
            <a:ext cx="2926080" cy="329184"/>
          </a:xfrm>
          <a:prstGeom prst="rect">
            <a:avLst/>
          </a:prstGeom>
          <a:noFill/>
          <a:ln/>
        </p:spPr>
        <p:txBody>
          <a:bodyPr wrap="square" lIns="0" tIns="0" rIns="0" bIns="0" rtlCol="0" anchor="t"/>
          <a:lstStyle/>
          <a:p>
            <a:pPr marL="0" indent="0" algn="l">
              <a:lnSpc>
                <a:spcPct val="115000"/>
              </a:lnSpc>
              <a:buNone/>
            </a:pPr>
            <a:r>
              <a:rPr lang="en-US" sz="1600" b="1" dirty="0">
                <a:solidFill>
                  <a:srgbClr val="6A3FA0"/>
                </a:solidFill>
                <a:latin typeface="Calibri" pitchFamily="34" charset="0"/>
                <a:ea typeface="Calibri" pitchFamily="34" charset="-122"/>
                <a:cs typeface="Calibri" pitchFamily="34" charset="-120"/>
              </a:rPr>
              <a:t>Where you meet it</a:t>
            </a:r>
            <a:endParaRPr lang="en-US" sz="1600" dirty="0"/>
          </a:p>
        </p:txBody>
      </p:sp>
      <p:sp>
        <p:nvSpPr>
          <p:cNvPr id="22" name="Text 20"/>
          <p:cNvSpPr txBox="1"/>
          <p:nvPr/>
        </p:nvSpPr>
        <p:spPr>
          <a:xfrm>
            <a:off x="8412480" y="3730752"/>
            <a:ext cx="2926080" cy="1600200"/>
          </a:xfrm>
          <a:prstGeom prst="rect">
            <a:avLst/>
          </a:prstGeom>
          <a:noFill/>
          <a:ln/>
        </p:spPr>
        <p:txBody>
          <a:bodyPr wrap="square" lIns="0" tIns="0" rIns="0" bIns="0" rtlCol="0" anchor="t"/>
          <a:lstStyle/>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As the high-level planner sitting above a robot stack, and as the backbone every other model on the next three slides is built from.</a:t>
            </a:r>
            <a:endParaRPr lang="en-US" sz="1500" dirty="0"/>
          </a:p>
        </p:txBody>
      </p:sp>
      <p:sp>
        <p:nvSpPr>
          <p:cNvPr id="23" name="Shape 21"/>
          <p:cNvSpPr/>
          <p:nvPr/>
        </p:nvSpPr>
        <p:spPr>
          <a:xfrm>
            <a:off x="640080" y="5669280"/>
            <a:ext cx="10927080" cy="868680"/>
          </a:xfrm>
          <a:prstGeom prst="roundRect">
            <a:avLst>
              <a:gd name="adj" fmla="val 6316"/>
            </a:avLst>
          </a:prstGeom>
          <a:solidFill>
            <a:srgbClr val="10202B"/>
          </a:solidFill>
          <a:ln/>
        </p:spPr>
      </p:sp>
      <p:sp>
        <p:nvSpPr>
          <p:cNvPr id="24" name="Text 22"/>
          <p:cNvSpPr txBox="1"/>
          <p:nvPr/>
        </p:nvSpPr>
        <p:spPr>
          <a:xfrm>
            <a:off x="960120" y="5669280"/>
            <a:ext cx="1028700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Examples: the GPT, Claude and Gemini families — general-purpose models, used in robotics as planners rather than controllers.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THE MODEL FAMILY — 2 OF 4</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VLM — the model that can see</a:t>
            </a:r>
            <a:endParaRPr lang="en-US" sz="3800" dirty="0"/>
          </a:p>
        </p:txBody>
      </p:sp>
      <p:sp>
        <p:nvSpPr>
          <p:cNvPr id="4" name="Shape 2"/>
          <p:cNvSpPr/>
          <p:nvPr/>
        </p:nvSpPr>
        <p:spPr>
          <a:xfrm>
            <a:off x="640080" y="1691640"/>
            <a:ext cx="3246120" cy="960120"/>
          </a:xfrm>
          <a:prstGeom prst="roundRect">
            <a:avLst>
              <a:gd name="adj" fmla="val 4762"/>
            </a:avLst>
          </a:prstGeom>
          <a:solidFill>
            <a:srgbClr val="FFFFFF"/>
          </a:solidFill>
          <a:ln w="15875">
            <a:solidFill>
              <a:srgbClr val="566672"/>
            </a:solidFill>
            <a:prstDash val="solid"/>
          </a:ln>
        </p:spPr>
      </p:sp>
      <p:sp>
        <p:nvSpPr>
          <p:cNvPr id="5" name="Text 3"/>
          <p:cNvSpPr txBox="1"/>
          <p:nvPr/>
        </p:nvSpPr>
        <p:spPr>
          <a:xfrm>
            <a:off x="685800" y="1691640"/>
            <a:ext cx="3154680" cy="960120"/>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images or video,</a:t>
            </a:r>
            <a:endParaRPr lang="en-US" sz="1500" dirty="0"/>
          </a:p>
          <a:p>
            <a:pPr marL="0" indent="0" algn="ctr">
              <a:buNone/>
            </a:pPr>
            <a:r>
              <a:rPr lang="en-US" sz="1500" dirty="0">
                <a:solidFill>
                  <a:srgbClr val="13222E"/>
                </a:solidFill>
                <a:latin typeface="Calibri" pitchFamily="34" charset="0"/>
                <a:ea typeface="Calibri" pitchFamily="34" charset="-122"/>
                <a:cs typeface="Calibri" pitchFamily="34" charset="-120"/>
              </a:rPr>
              <a:t>plus text</a:t>
            </a:r>
            <a:endParaRPr lang="en-US" sz="1500" dirty="0"/>
          </a:p>
        </p:txBody>
      </p:sp>
      <p:sp>
        <p:nvSpPr>
          <p:cNvPr id="6" name="Shape 4"/>
          <p:cNvSpPr/>
          <p:nvPr/>
        </p:nvSpPr>
        <p:spPr>
          <a:xfrm>
            <a:off x="4480560" y="1691640"/>
            <a:ext cx="3246120" cy="960120"/>
          </a:xfrm>
          <a:prstGeom prst="roundRect">
            <a:avLst>
              <a:gd name="adj" fmla="val 4762"/>
            </a:avLst>
          </a:prstGeom>
          <a:solidFill>
            <a:srgbClr val="E1EFF2"/>
          </a:solidFill>
          <a:ln w="15875">
            <a:solidFill>
              <a:srgbClr val="0F7186"/>
            </a:solidFill>
            <a:prstDash val="solid"/>
          </a:ln>
        </p:spPr>
      </p:sp>
      <p:sp>
        <p:nvSpPr>
          <p:cNvPr id="7" name="Text 5"/>
          <p:cNvSpPr txBox="1"/>
          <p:nvPr/>
        </p:nvSpPr>
        <p:spPr>
          <a:xfrm>
            <a:off x="4526280" y="1691640"/>
            <a:ext cx="3154680" cy="960120"/>
          </a:xfrm>
          <a:prstGeom prst="rect">
            <a:avLst/>
          </a:prstGeom>
          <a:noFill/>
          <a:ln/>
        </p:spPr>
        <p:txBody>
          <a:bodyPr wrap="square" lIns="0" tIns="0" rIns="0" bIns="0" rtlCol="0" anchor="ctr"/>
          <a:lstStyle/>
          <a:p>
            <a:pPr marL="0" indent="0" algn="ctr">
              <a:buNone/>
            </a:pPr>
            <a:r>
              <a:rPr lang="en-US" sz="1600" b="1" dirty="0">
                <a:solidFill>
                  <a:srgbClr val="0F7186"/>
                </a:solidFill>
                <a:latin typeface="Calibri" pitchFamily="34" charset="0"/>
                <a:ea typeface="Calibri" pitchFamily="34" charset="-122"/>
                <a:cs typeface="Calibri" pitchFamily="34" charset="-120"/>
              </a:rPr>
              <a:t>VLM</a:t>
            </a:r>
            <a:endParaRPr lang="en-US" sz="1600" dirty="0"/>
          </a:p>
        </p:txBody>
      </p:sp>
      <p:sp>
        <p:nvSpPr>
          <p:cNvPr id="8" name="Shape 6"/>
          <p:cNvSpPr/>
          <p:nvPr/>
        </p:nvSpPr>
        <p:spPr>
          <a:xfrm>
            <a:off x="8321040" y="1691640"/>
            <a:ext cx="3246120" cy="960120"/>
          </a:xfrm>
          <a:prstGeom prst="roundRect">
            <a:avLst>
              <a:gd name="adj" fmla="val 4762"/>
            </a:avLst>
          </a:prstGeom>
          <a:solidFill>
            <a:srgbClr val="FFFFFF"/>
          </a:solidFill>
          <a:ln w="15875">
            <a:solidFill>
              <a:srgbClr val="566672"/>
            </a:solidFill>
            <a:prstDash val="solid"/>
          </a:ln>
        </p:spPr>
      </p:sp>
      <p:sp>
        <p:nvSpPr>
          <p:cNvPr id="9" name="Text 7"/>
          <p:cNvSpPr txBox="1"/>
          <p:nvPr/>
        </p:nvSpPr>
        <p:spPr>
          <a:xfrm>
            <a:off x="8366760" y="1691640"/>
            <a:ext cx="3154680" cy="960120"/>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text: a description,</a:t>
            </a:r>
            <a:endParaRPr lang="en-US" sz="1500" dirty="0"/>
          </a:p>
          <a:p>
            <a:pPr marL="0" indent="0" algn="ctr">
              <a:buNone/>
            </a:pPr>
            <a:r>
              <a:rPr lang="en-US" sz="1500" dirty="0">
                <a:solidFill>
                  <a:srgbClr val="13222E"/>
                </a:solidFill>
                <a:latin typeface="Calibri" pitchFamily="34" charset="0"/>
                <a:ea typeface="Calibri" pitchFamily="34" charset="-122"/>
                <a:cs typeface="Calibri" pitchFamily="34" charset="-120"/>
              </a:rPr>
              <a:t>an answer, a plan</a:t>
            </a:r>
            <a:endParaRPr lang="en-US" sz="1500" dirty="0"/>
          </a:p>
        </p:txBody>
      </p:sp>
      <p:sp>
        <p:nvSpPr>
          <p:cNvPr id="10" name="Shape 8"/>
          <p:cNvSpPr/>
          <p:nvPr/>
        </p:nvSpPr>
        <p:spPr>
          <a:xfrm>
            <a:off x="3931920" y="2167128"/>
            <a:ext cx="502920" cy="0"/>
          </a:xfrm>
          <a:prstGeom prst="line">
            <a:avLst/>
          </a:prstGeom>
          <a:noFill/>
          <a:ln w="20320">
            <a:solidFill>
              <a:srgbClr val="0F7186"/>
            </a:solidFill>
            <a:prstDash val="solid"/>
            <a:tailEnd type="triangle"/>
          </a:ln>
        </p:spPr>
      </p:sp>
      <p:sp>
        <p:nvSpPr>
          <p:cNvPr id="11" name="Shape 9"/>
          <p:cNvSpPr/>
          <p:nvPr/>
        </p:nvSpPr>
        <p:spPr>
          <a:xfrm>
            <a:off x="7772400" y="2167128"/>
            <a:ext cx="502920" cy="0"/>
          </a:xfrm>
          <a:prstGeom prst="line">
            <a:avLst/>
          </a:prstGeom>
          <a:noFill/>
          <a:ln w="20320">
            <a:solidFill>
              <a:srgbClr val="0F7186"/>
            </a:solidFill>
            <a:prstDash val="solid"/>
            <a:tailEnd type="triangle"/>
          </a:ln>
        </p:spPr>
      </p:sp>
      <p:sp>
        <p:nvSpPr>
          <p:cNvPr id="12" name="Text 10"/>
          <p:cNvSpPr txBox="1"/>
          <p:nvPr/>
        </p:nvSpPr>
        <p:spPr>
          <a:xfrm>
            <a:off x="640080" y="2697480"/>
            <a:ext cx="3246120" cy="292608"/>
          </a:xfrm>
          <a:prstGeom prst="rect">
            <a:avLst/>
          </a:prstGeom>
          <a:noFill/>
          <a:ln/>
        </p:spPr>
        <p:txBody>
          <a:bodyPr wrap="square" lIns="0" tIns="0" rIns="0" bIns="0" rtlCol="0" anchor="ctr"/>
          <a:lstStyle/>
          <a:p>
            <a:pPr marL="0" indent="0" algn="ctr">
              <a:buNone/>
            </a:pPr>
            <a:r>
              <a:rPr lang="en-US" sz="1500" i="1" dirty="0">
                <a:solidFill>
                  <a:srgbClr val="566672"/>
                </a:solidFill>
                <a:latin typeface="Calibri" pitchFamily="34" charset="0"/>
                <a:ea typeface="Calibri" pitchFamily="34" charset="-122"/>
                <a:cs typeface="Calibri" pitchFamily="34" charset="-120"/>
              </a:rPr>
              <a:t>what goes in</a:t>
            </a:r>
            <a:endParaRPr lang="en-US" sz="1500" dirty="0"/>
          </a:p>
        </p:txBody>
      </p:sp>
      <p:sp>
        <p:nvSpPr>
          <p:cNvPr id="13" name="Text 11"/>
          <p:cNvSpPr txBox="1"/>
          <p:nvPr/>
        </p:nvSpPr>
        <p:spPr>
          <a:xfrm>
            <a:off x="8321040" y="2697480"/>
            <a:ext cx="3246120" cy="292608"/>
          </a:xfrm>
          <a:prstGeom prst="rect">
            <a:avLst/>
          </a:prstGeom>
          <a:noFill/>
          <a:ln/>
        </p:spPr>
        <p:txBody>
          <a:bodyPr wrap="square" lIns="0" tIns="0" rIns="0" bIns="0" rtlCol="0" anchor="ctr"/>
          <a:lstStyle/>
          <a:p>
            <a:pPr marL="0" indent="0" algn="ctr">
              <a:buNone/>
            </a:pPr>
            <a:r>
              <a:rPr lang="en-US" sz="1500" i="1" dirty="0">
                <a:solidFill>
                  <a:srgbClr val="566672"/>
                </a:solidFill>
                <a:latin typeface="Calibri" pitchFamily="34" charset="0"/>
                <a:ea typeface="Calibri" pitchFamily="34" charset="-122"/>
                <a:cs typeface="Calibri" pitchFamily="34" charset="-120"/>
              </a:rPr>
              <a:t>what comes out</a:t>
            </a:r>
            <a:endParaRPr lang="en-US" sz="1500" dirty="0"/>
          </a:p>
        </p:txBody>
      </p:sp>
      <p:sp>
        <p:nvSpPr>
          <p:cNvPr id="14" name="Shape 12"/>
          <p:cNvSpPr/>
          <p:nvPr/>
        </p:nvSpPr>
        <p:spPr>
          <a:xfrm>
            <a:off x="640080" y="3154680"/>
            <a:ext cx="3429000" cy="2286000"/>
          </a:xfrm>
          <a:prstGeom prst="roundRect">
            <a:avLst>
              <a:gd name="adj" fmla="val 2400"/>
            </a:avLst>
          </a:prstGeom>
          <a:solidFill>
            <a:srgbClr val="E1EFF2"/>
          </a:solidFill>
          <a:ln w="9525">
            <a:solidFill>
              <a:srgbClr val="BCD8DE"/>
            </a:solidFill>
            <a:prstDash val="solid"/>
          </a:ln>
        </p:spPr>
      </p:sp>
      <p:sp>
        <p:nvSpPr>
          <p:cNvPr id="15" name="Text 13"/>
          <p:cNvSpPr txBox="1"/>
          <p:nvPr/>
        </p:nvSpPr>
        <p:spPr>
          <a:xfrm>
            <a:off x="914400" y="3337560"/>
            <a:ext cx="2926080" cy="329184"/>
          </a:xfrm>
          <a:prstGeom prst="rect">
            <a:avLst/>
          </a:prstGeom>
          <a:noFill/>
          <a:ln/>
        </p:spPr>
        <p:txBody>
          <a:bodyPr wrap="square" lIns="0" tIns="0" rIns="0" bIns="0" rtlCol="0" anchor="t"/>
          <a:lstStyle/>
          <a:p>
            <a:pPr marL="0" indent="0" algn="l">
              <a:lnSpc>
                <a:spcPct val="115000"/>
              </a:lnSpc>
              <a:buNone/>
            </a:pPr>
            <a:r>
              <a:rPr lang="en-US" sz="1600" b="1" dirty="0">
                <a:solidFill>
                  <a:srgbClr val="0F7186"/>
                </a:solidFill>
                <a:latin typeface="Calibri" pitchFamily="34" charset="0"/>
                <a:ea typeface="Calibri" pitchFamily="34" charset="-122"/>
                <a:cs typeface="Calibri" pitchFamily="34" charset="-120"/>
              </a:rPr>
              <a:t>What it adds</a:t>
            </a:r>
            <a:endParaRPr lang="en-US" sz="1600" dirty="0"/>
          </a:p>
        </p:txBody>
      </p:sp>
      <p:sp>
        <p:nvSpPr>
          <p:cNvPr id="16" name="Text 14"/>
          <p:cNvSpPr txBox="1"/>
          <p:nvPr/>
        </p:nvSpPr>
        <p:spPr>
          <a:xfrm>
            <a:off x="914400" y="3730752"/>
            <a:ext cx="2926080" cy="1600200"/>
          </a:xfrm>
          <a:prstGeom prst="rect">
            <a:avLst/>
          </a:prstGeom>
          <a:noFill/>
          <a:ln/>
        </p:spPr>
        <p:txBody>
          <a:bodyPr wrap="square" lIns="0" tIns="0" rIns="0" bIns="0" rtlCol="0" anchor="t"/>
          <a:lstStyle/>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Grounding. It can say what is on the table, roughly where it is, and whether the drawer is open — tying the words to the actual scene in front of the robot.</a:t>
            </a:r>
            <a:endParaRPr lang="en-US" sz="1500" dirty="0"/>
          </a:p>
        </p:txBody>
      </p:sp>
      <p:sp>
        <p:nvSpPr>
          <p:cNvPr id="17" name="Shape 15"/>
          <p:cNvSpPr/>
          <p:nvPr/>
        </p:nvSpPr>
        <p:spPr>
          <a:xfrm>
            <a:off x="4389120" y="3154680"/>
            <a:ext cx="3429000" cy="2286000"/>
          </a:xfrm>
          <a:prstGeom prst="roundRect">
            <a:avLst>
              <a:gd name="adj" fmla="val 2400"/>
            </a:avLst>
          </a:prstGeom>
          <a:solidFill>
            <a:srgbClr val="EEF2F5"/>
          </a:solidFill>
          <a:ln w="9525">
            <a:solidFill>
              <a:srgbClr val="C9D3DA"/>
            </a:solidFill>
            <a:prstDash val="solid"/>
          </a:ln>
        </p:spPr>
      </p:sp>
      <p:sp>
        <p:nvSpPr>
          <p:cNvPr id="18" name="Text 16"/>
          <p:cNvSpPr txBox="1"/>
          <p:nvPr/>
        </p:nvSpPr>
        <p:spPr>
          <a:xfrm>
            <a:off x="4663440" y="3337560"/>
            <a:ext cx="2926080" cy="329184"/>
          </a:xfrm>
          <a:prstGeom prst="rect">
            <a:avLst/>
          </a:prstGeom>
          <a:noFill/>
          <a:ln/>
        </p:spPr>
        <p:txBody>
          <a:bodyPr wrap="square" lIns="0" tIns="0" rIns="0" bIns="0" rtlCol="0" anchor="t"/>
          <a:lstStyle/>
          <a:p>
            <a:pPr marL="0" indent="0" algn="l">
              <a:lnSpc>
                <a:spcPct val="115000"/>
              </a:lnSpc>
              <a:buNone/>
            </a:pPr>
            <a:r>
              <a:rPr lang="en-US" sz="1600" b="1" dirty="0">
                <a:solidFill>
                  <a:srgbClr val="566672"/>
                </a:solidFill>
                <a:latin typeface="Calibri" pitchFamily="34" charset="0"/>
                <a:ea typeface="Calibri" pitchFamily="34" charset="-122"/>
                <a:cs typeface="Calibri" pitchFamily="34" charset="-120"/>
              </a:rPr>
              <a:t>Where it stops</a:t>
            </a:r>
            <a:endParaRPr lang="en-US" sz="1600" dirty="0"/>
          </a:p>
        </p:txBody>
      </p:sp>
      <p:sp>
        <p:nvSpPr>
          <p:cNvPr id="19" name="Text 17"/>
          <p:cNvSpPr txBox="1"/>
          <p:nvPr/>
        </p:nvSpPr>
        <p:spPr>
          <a:xfrm>
            <a:off x="4663440" y="3730752"/>
            <a:ext cx="2926080" cy="1600200"/>
          </a:xfrm>
          <a:prstGeom prst="rect">
            <a:avLst/>
          </a:prstGeom>
          <a:noFill/>
          <a:ln/>
        </p:spPr>
        <p:txBody>
          <a:bodyPr wrap="square" lIns="0" tIns="0" rIns="0" bIns="0" rtlCol="0" anchor="t"/>
          <a:lstStyle/>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The output is still language. It can tell you the mug is left of the kettle; it cannot move an arm 12 centimetres to reach it.</a:t>
            </a:r>
            <a:endParaRPr lang="en-US" sz="1500" dirty="0"/>
          </a:p>
        </p:txBody>
      </p:sp>
      <p:sp>
        <p:nvSpPr>
          <p:cNvPr id="20" name="Shape 18"/>
          <p:cNvSpPr/>
          <p:nvPr/>
        </p:nvSpPr>
        <p:spPr>
          <a:xfrm>
            <a:off x="8138160" y="3154680"/>
            <a:ext cx="3429000" cy="2286000"/>
          </a:xfrm>
          <a:prstGeom prst="roundRect">
            <a:avLst>
              <a:gd name="adj" fmla="val 2400"/>
            </a:avLst>
          </a:prstGeom>
          <a:solidFill>
            <a:srgbClr val="E1EFF2"/>
          </a:solidFill>
          <a:ln w="9525">
            <a:solidFill>
              <a:srgbClr val="BCD8DE"/>
            </a:solidFill>
            <a:prstDash val="solid"/>
          </a:ln>
        </p:spPr>
      </p:sp>
      <p:sp>
        <p:nvSpPr>
          <p:cNvPr id="21" name="Text 19"/>
          <p:cNvSpPr txBox="1"/>
          <p:nvPr/>
        </p:nvSpPr>
        <p:spPr>
          <a:xfrm>
            <a:off x="8412480" y="3337560"/>
            <a:ext cx="2926080" cy="329184"/>
          </a:xfrm>
          <a:prstGeom prst="rect">
            <a:avLst/>
          </a:prstGeom>
          <a:noFill/>
          <a:ln/>
        </p:spPr>
        <p:txBody>
          <a:bodyPr wrap="square" lIns="0" tIns="0" rIns="0" bIns="0" rtlCol="0" anchor="t"/>
          <a:lstStyle/>
          <a:p>
            <a:pPr marL="0" indent="0" algn="l">
              <a:lnSpc>
                <a:spcPct val="115000"/>
              </a:lnSpc>
              <a:buNone/>
            </a:pPr>
            <a:r>
              <a:rPr lang="en-US" sz="1600" b="1" dirty="0">
                <a:solidFill>
                  <a:srgbClr val="0F7186"/>
                </a:solidFill>
                <a:latin typeface="Calibri" pitchFamily="34" charset="0"/>
                <a:ea typeface="Calibri" pitchFamily="34" charset="-122"/>
                <a:cs typeface="Calibri" pitchFamily="34" charset="-120"/>
              </a:rPr>
              <a:t>Where you meet it</a:t>
            </a:r>
            <a:endParaRPr lang="en-US" sz="1600" dirty="0"/>
          </a:p>
        </p:txBody>
      </p:sp>
      <p:sp>
        <p:nvSpPr>
          <p:cNvPr id="22" name="Text 20"/>
          <p:cNvSpPr txBox="1"/>
          <p:nvPr/>
        </p:nvSpPr>
        <p:spPr>
          <a:xfrm>
            <a:off x="8412480" y="3730752"/>
            <a:ext cx="2926080" cy="1600200"/>
          </a:xfrm>
          <a:prstGeom prst="rect">
            <a:avLst/>
          </a:prstGeom>
          <a:noFill/>
          <a:ln/>
        </p:spPr>
        <p:txBody>
          <a:bodyPr wrap="square" lIns="0" tIns="0" rIns="0" bIns="0" rtlCol="0" anchor="t"/>
          <a:lstStyle/>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As an increasingly common perception-and-reasoning component in modern robot policies, and on its own for inspection and visual question answering.</a:t>
            </a:r>
            <a:endParaRPr lang="en-US" sz="1500" dirty="0"/>
          </a:p>
        </p:txBody>
      </p:sp>
      <p:sp>
        <p:nvSpPr>
          <p:cNvPr id="23" name="Shape 21"/>
          <p:cNvSpPr/>
          <p:nvPr/>
        </p:nvSpPr>
        <p:spPr>
          <a:xfrm>
            <a:off x="640080" y="5669280"/>
            <a:ext cx="10927080" cy="868680"/>
          </a:xfrm>
          <a:prstGeom prst="roundRect">
            <a:avLst>
              <a:gd name="adj" fmla="val 6316"/>
            </a:avLst>
          </a:prstGeom>
          <a:solidFill>
            <a:srgbClr val="10202B"/>
          </a:solidFill>
          <a:ln/>
        </p:spPr>
      </p:sp>
      <p:sp>
        <p:nvSpPr>
          <p:cNvPr id="24" name="Text 22"/>
          <p:cNvSpPr txBox="1"/>
          <p:nvPr/>
        </p:nvSpPr>
        <p:spPr>
          <a:xfrm>
            <a:off x="960120" y="5669280"/>
            <a:ext cx="1028700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Examples: Gemini, GPT and Qwen-VL class models; in robotics, Eagle-style backbones sit frozen inside GR00T, and Gemini Robotics-ER adds spatial reasoning.</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THE MODEL FAMILY — 3 OF 4</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VLA — vision, language, action</a:t>
            </a:r>
            <a:endParaRPr lang="en-US" sz="3800" dirty="0"/>
          </a:p>
        </p:txBody>
      </p:sp>
      <p:pic>
        <p:nvPicPr>
          <p:cNvPr id="4" name="Image 0" descr="/home/claude/img/acc_code.png"/>
          <p:cNvPicPr>
            <a:picLocks noChangeAspect="1"/>
          </p:cNvPicPr>
          <p:nvPr/>
        </p:nvPicPr>
        <p:blipFill>
          <a:blip r:embed="rId3"/>
          <a:stretch>
            <a:fillRect/>
          </a:stretch>
        </p:blipFill>
        <p:spPr>
          <a:xfrm>
            <a:off x="10515600" y="365760"/>
            <a:ext cx="960120" cy="1097280"/>
          </a:xfrm>
          <a:prstGeom prst="rect">
            <a:avLst/>
          </a:prstGeom>
        </p:spPr>
      </p:pic>
      <p:sp>
        <p:nvSpPr>
          <p:cNvPr id="5" name="Shape 2"/>
          <p:cNvSpPr/>
          <p:nvPr/>
        </p:nvSpPr>
        <p:spPr>
          <a:xfrm>
            <a:off x="640080" y="1691640"/>
            <a:ext cx="3246120" cy="960120"/>
          </a:xfrm>
          <a:prstGeom prst="roundRect">
            <a:avLst>
              <a:gd name="adj" fmla="val 4762"/>
            </a:avLst>
          </a:prstGeom>
          <a:solidFill>
            <a:srgbClr val="FFFFFF"/>
          </a:solidFill>
          <a:ln w="15875">
            <a:solidFill>
              <a:srgbClr val="566672"/>
            </a:solidFill>
            <a:prstDash val="solid"/>
          </a:ln>
        </p:spPr>
      </p:sp>
      <p:sp>
        <p:nvSpPr>
          <p:cNvPr id="6" name="Text 3"/>
          <p:cNvSpPr txBox="1"/>
          <p:nvPr/>
        </p:nvSpPr>
        <p:spPr>
          <a:xfrm>
            <a:off x="685800" y="1691640"/>
            <a:ext cx="3154680" cy="960120"/>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camera images, an instruction,</a:t>
            </a:r>
            <a:endParaRPr lang="en-US" sz="1500" dirty="0"/>
          </a:p>
          <a:p>
            <a:pPr marL="0" indent="0" algn="ctr">
              <a:buNone/>
            </a:pPr>
            <a:r>
              <a:rPr lang="en-US" sz="1500" dirty="0">
                <a:solidFill>
                  <a:srgbClr val="13222E"/>
                </a:solidFill>
                <a:latin typeface="Calibri" pitchFamily="34" charset="0"/>
                <a:ea typeface="Calibri" pitchFamily="34" charset="-122"/>
                <a:cs typeface="Calibri" pitchFamily="34" charset="-120"/>
              </a:rPr>
              <a:t>and the robot's joint positions</a:t>
            </a:r>
            <a:endParaRPr lang="en-US" sz="1500" dirty="0"/>
          </a:p>
        </p:txBody>
      </p:sp>
      <p:sp>
        <p:nvSpPr>
          <p:cNvPr id="7" name="Shape 4"/>
          <p:cNvSpPr/>
          <p:nvPr/>
        </p:nvSpPr>
        <p:spPr>
          <a:xfrm>
            <a:off x="4480560" y="1691640"/>
            <a:ext cx="3246120" cy="960120"/>
          </a:xfrm>
          <a:prstGeom prst="roundRect">
            <a:avLst>
              <a:gd name="adj" fmla="val 4762"/>
            </a:avLst>
          </a:prstGeom>
          <a:solidFill>
            <a:srgbClr val="FBEBE1"/>
          </a:solidFill>
          <a:ln w="15875">
            <a:solidFill>
              <a:srgbClr val="C2571E"/>
            </a:solidFill>
            <a:prstDash val="solid"/>
          </a:ln>
        </p:spPr>
      </p:sp>
      <p:sp>
        <p:nvSpPr>
          <p:cNvPr id="8" name="Text 5"/>
          <p:cNvSpPr txBox="1"/>
          <p:nvPr/>
        </p:nvSpPr>
        <p:spPr>
          <a:xfrm>
            <a:off x="4526280" y="1691640"/>
            <a:ext cx="3154680" cy="960120"/>
          </a:xfrm>
          <a:prstGeom prst="rect">
            <a:avLst/>
          </a:prstGeom>
          <a:noFill/>
          <a:ln/>
        </p:spPr>
        <p:txBody>
          <a:bodyPr wrap="square" lIns="0" tIns="0" rIns="0" bIns="0" rtlCol="0" anchor="ctr"/>
          <a:lstStyle/>
          <a:p>
            <a:pPr marL="0" indent="0" algn="ctr">
              <a:buNone/>
            </a:pPr>
            <a:r>
              <a:rPr lang="en-US" sz="1600" b="1" dirty="0">
                <a:solidFill>
                  <a:srgbClr val="C2571E"/>
                </a:solidFill>
                <a:latin typeface="Calibri" pitchFamily="34" charset="0"/>
                <a:ea typeface="Calibri" pitchFamily="34" charset="-122"/>
                <a:cs typeface="Calibri" pitchFamily="34" charset="-120"/>
              </a:rPr>
              <a:t>VLA</a:t>
            </a:r>
            <a:endParaRPr lang="en-US" sz="1600" dirty="0"/>
          </a:p>
        </p:txBody>
      </p:sp>
      <p:sp>
        <p:nvSpPr>
          <p:cNvPr id="9" name="Shape 6"/>
          <p:cNvSpPr/>
          <p:nvPr/>
        </p:nvSpPr>
        <p:spPr>
          <a:xfrm>
            <a:off x="8321040" y="1691640"/>
            <a:ext cx="3246120" cy="960120"/>
          </a:xfrm>
          <a:prstGeom prst="roundRect">
            <a:avLst>
              <a:gd name="adj" fmla="val 4762"/>
            </a:avLst>
          </a:prstGeom>
          <a:solidFill>
            <a:srgbClr val="FFFFFF"/>
          </a:solidFill>
          <a:ln w="15875">
            <a:solidFill>
              <a:srgbClr val="566672"/>
            </a:solidFill>
            <a:prstDash val="solid"/>
          </a:ln>
        </p:spPr>
      </p:sp>
      <p:sp>
        <p:nvSpPr>
          <p:cNvPr id="10" name="Text 7"/>
          <p:cNvSpPr txBox="1"/>
          <p:nvPr/>
        </p:nvSpPr>
        <p:spPr>
          <a:xfrm>
            <a:off x="8366760" y="1691640"/>
            <a:ext cx="3154680" cy="960120"/>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actions: joint targets</a:t>
            </a:r>
            <a:endParaRPr lang="en-US" sz="1500" dirty="0"/>
          </a:p>
          <a:p>
            <a:pPr marL="0" indent="0" algn="ctr">
              <a:buNone/>
            </a:pPr>
            <a:r>
              <a:rPr lang="en-US" sz="1500" dirty="0">
                <a:solidFill>
                  <a:srgbClr val="13222E"/>
                </a:solidFill>
                <a:latin typeface="Calibri" pitchFamily="34" charset="0"/>
                <a:ea typeface="Calibri" pitchFamily="34" charset="-122"/>
                <a:cs typeface="Calibri" pitchFamily="34" charset="-120"/>
              </a:rPr>
              <a:t>and gripper commands</a:t>
            </a:r>
            <a:endParaRPr lang="en-US" sz="1500" dirty="0"/>
          </a:p>
        </p:txBody>
      </p:sp>
      <p:sp>
        <p:nvSpPr>
          <p:cNvPr id="11" name="Shape 8"/>
          <p:cNvSpPr/>
          <p:nvPr/>
        </p:nvSpPr>
        <p:spPr>
          <a:xfrm>
            <a:off x="3931920" y="2167128"/>
            <a:ext cx="502920" cy="0"/>
          </a:xfrm>
          <a:prstGeom prst="line">
            <a:avLst/>
          </a:prstGeom>
          <a:noFill/>
          <a:ln w="20320">
            <a:solidFill>
              <a:srgbClr val="C2571E"/>
            </a:solidFill>
            <a:prstDash val="solid"/>
            <a:tailEnd type="triangle"/>
          </a:ln>
        </p:spPr>
      </p:sp>
      <p:sp>
        <p:nvSpPr>
          <p:cNvPr id="12" name="Shape 9"/>
          <p:cNvSpPr/>
          <p:nvPr/>
        </p:nvSpPr>
        <p:spPr>
          <a:xfrm>
            <a:off x="7772400" y="2167128"/>
            <a:ext cx="502920" cy="0"/>
          </a:xfrm>
          <a:prstGeom prst="line">
            <a:avLst/>
          </a:prstGeom>
          <a:noFill/>
          <a:ln w="20320">
            <a:solidFill>
              <a:srgbClr val="C2571E"/>
            </a:solidFill>
            <a:prstDash val="solid"/>
            <a:tailEnd type="triangle"/>
          </a:ln>
        </p:spPr>
      </p:sp>
      <p:sp>
        <p:nvSpPr>
          <p:cNvPr id="13" name="Text 10"/>
          <p:cNvSpPr txBox="1"/>
          <p:nvPr/>
        </p:nvSpPr>
        <p:spPr>
          <a:xfrm>
            <a:off x="640080" y="2697480"/>
            <a:ext cx="3246120" cy="292608"/>
          </a:xfrm>
          <a:prstGeom prst="rect">
            <a:avLst/>
          </a:prstGeom>
          <a:noFill/>
          <a:ln/>
        </p:spPr>
        <p:txBody>
          <a:bodyPr wrap="square" lIns="0" tIns="0" rIns="0" bIns="0" rtlCol="0" anchor="ctr"/>
          <a:lstStyle/>
          <a:p>
            <a:pPr marL="0" indent="0" algn="ctr">
              <a:buNone/>
            </a:pPr>
            <a:r>
              <a:rPr lang="en-US" sz="1500" i="1" dirty="0">
                <a:solidFill>
                  <a:srgbClr val="566672"/>
                </a:solidFill>
                <a:latin typeface="Calibri" pitchFamily="34" charset="0"/>
                <a:ea typeface="Calibri" pitchFamily="34" charset="-122"/>
                <a:cs typeface="Calibri" pitchFamily="34" charset="-120"/>
              </a:rPr>
              <a:t>what goes in</a:t>
            </a:r>
            <a:endParaRPr lang="en-US" sz="1500" dirty="0"/>
          </a:p>
        </p:txBody>
      </p:sp>
      <p:sp>
        <p:nvSpPr>
          <p:cNvPr id="14" name="Text 11"/>
          <p:cNvSpPr txBox="1"/>
          <p:nvPr/>
        </p:nvSpPr>
        <p:spPr>
          <a:xfrm>
            <a:off x="8321040" y="2697480"/>
            <a:ext cx="3246120" cy="292608"/>
          </a:xfrm>
          <a:prstGeom prst="rect">
            <a:avLst/>
          </a:prstGeom>
          <a:noFill/>
          <a:ln/>
        </p:spPr>
        <p:txBody>
          <a:bodyPr wrap="square" lIns="0" tIns="0" rIns="0" bIns="0" rtlCol="0" anchor="ctr"/>
          <a:lstStyle/>
          <a:p>
            <a:pPr marL="0" indent="0" algn="ctr">
              <a:buNone/>
            </a:pPr>
            <a:r>
              <a:rPr lang="en-US" sz="1500" i="1" dirty="0">
                <a:solidFill>
                  <a:srgbClr val="566672"/>
                </a:solidFill>
                <a:latin typeface="Calibri" pitchFamily="34" charset="0"/>
                <a:ea typeface="Calibri" pitchFamily="34" charset="-122"/>
                <a:cs typeface="Calibri" pitchFamily="34" charset="-120"/>
              </a:rPr>
              <a:t>what comes out</a:t>
            </a:r>
            <a:endParaRPr lang="en-US" sz="1500" dirty="0"/>
          </a:p>
        </p:txBody>
      </p:sp>
      <p:sp>
        <p:nvSpPr>
          <p:cNvPr id="15" name="Shape 12"/>
          <p:cNvSpPr/>
          <p:nvPr/>
        </p:nvSpPr>
        <p:spPr>
          <a:xfrm>
            <a:off x="640080" y="3154680"/>
            <a:ext cx="3429000" cy="2286000"/>
          </a:xfrm>
          <a:prstGeom prst="roundRect">
            <a:avLst>
              <a:gd name="adj" fmla="val 2400"/>
            </a:avLst>
          </a:prstGeom>
          <a:solidFill>
            <a:srgbClr val="FBEBE1"/>
          </a:solidFill>
          <a:ln w="9525">
            <a:solidFill>
              <a:srgbClr val="EBC7B0"/>
            </a:solidFill>
            <a:prstDash val="solid"/>
          </a:ln>
        </p:spPr>
      </p:sp>
      <p:sp>
        <p:nvSpPr>
          <p:cNvPr id="16" name="Text 13"/>
          <p:cNvSpPr txBox="1"/>
          <p:nvPr/>
        </p:nvSpPr>
        <p:spPr>
          <a:xfrm>
            <a:off x="914400" y="3337560"/>
            <a:ext cx="2926080" cy="329184"/>
          </a:xfrm>
          <a:prstGeom prst="rect">
            <a:avLst/>
          </a:prstGeom>
          <a:noFill/>
          <a:ln/>
        </p:spPr>
        <p:txBody>
          <a:bodyPr wrap="square" lIns="0" tIns="0" rIns="0" bIns="0" rtlCol="0" anchor="t"/>
          <a:lstStyle/>
          <a:p>
            <a:pPr marL="0" indent="0" algn="l">
              <a:lnSpc>
                <a:spcPct val="115000"/>
              </a:lnSpc>
              <a:buNone/>
            </a:pPr>
            <a:r>
              <a:rPr lang="en-US" sz="1600" b="1" dirty="0">
                <a:solidFill>
                  <a:srgbClr val="C2571E"/>
                </a:solidFill>
                <a:latin typeface="Calibri" pitchFamily="34" charset="0"/>
                <a:ea typeface="Calibri" pitchFamily="34" charset="-122"/>
                <a:cs typeface="Calibri" pitchFamily="34" charset="-120"/>
              </a:rPr>
              <a:t>What it adds</a:t>
            </a:r>
            <a:endParaRPr lang="en-US" sz="1600" dirty="0"/>
          </a:p>
        </p:txBody>
      </p:sp>
      <p:sp>
        <p:nvSpPr>
          <p:cNvPr id="17" name="Text 14"/>
          <p:cNvSpPr txBox="1"/>
          <p:nvPr/>
        </p:nvSpPr>
        <p:spPr>
          <a:xfrm>
            <a:off x="914400" y="3730752"/>
            <a:ext cx="2926080" cy="1600200"/>
          </a:xfrm>
          <a:prstGeom prst="rect">
            <a:avLst/>
          </a:prstGeom>
          <a:noFill/>
          <a:ln/>
        </p:spPr>
        <p:txBody>
          <a:bodyPr wrap="square" lIns="0" tIns="0" rIns="0" bIns="0" rtlCol="0" anchor="t"/>
          <a:lstStyle/>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The last channel. It keeps the VLM's web knowledge and adds an action head — usually diffusion or flow matching — that emits motion instead of words.</a:t>
            </a:r>
            <a:endParaRPr lang="en-US" sz="1500" dirty="0"/>
          </a:p>
        </p:txBody>
      </p:sp>
      <p:sp>
        <p:nvSpPr>
          <p:cNvPr id="18" name="Shape 15"/>
          <p:cNvSpPr/>
          <p:nvPr/>
        </p:nvSpPr>
        <p:spPr>
          <a:xfrm>
            <a:off x="4389120" y="3154680"/>
            <a:ext cx="3429000" cy="2286000"/>
          </a:xfrm>
          <a:prstGeom prst="roundRect">
            <a:avLst>
              <a:gd name="adj" fmla="val 2400"/>
            </a:avLst>
          </a:prstGeom>
          <a:solidFill>
            <a:srgbClr val="EEF2F5"/>
          </a:solidFill>
          <a:ln w="9525">
            <a:solidFill>
              <a:srgbClr val="C9D3DA"/>
            </a:solidFill>
            <a:prstDash val="solid"/>
          </a:ln>
        </p:spPr>
      </p:sp>
      <p:sp>
        <p:nvSpPr>
          <p:cNvPr id="19" name="Text 16"/>
          <p:cNvSpPr txBox="1"/>
          <p:nvPr/>
        </p:nvSpPr>
        <p:spPr>
          <a:xfrm>
            <a:off x="4663440" y="3337560"/>
            <a:ext cx="2926080" cy="329184"/>
          </a:xfrm>
          <a:prstGeom prst="rect">
            <a:avLst/>
          </a:prstGeom>
          <a:noFill/>
          <a:ln/>
        </p:spPr>
        <p:txBody>
          <a:bodyPr wrap="square" lIns="0" tIns="0" rIns="0" bIns="0" rtlCol="0" anchor="t"/>
          <a:lstStyle/>
          <a:p>
            <a:pPr marL="0" indent="0" algn="l">
              <a:lnSpc>
                <a:spcPct val="115000"/>
              </a:lnSpc>
              <a:buNone/>
            </a:pPr>
            <a:r>
              <a:rPr lang="en-US" sz="1600" b="1" dirty="0">
                <a:solidFill>
                  <a:srgbClr val="566672"/>
                </a:solidFill>
                <a:latin typeface="Calibri" pitchFamily="34" charset="0"/>
                <a:ea typeface="Calibri" pitchFamily="34" charset="-122"/>
                <a:cs typeface="Calibri" pitchFamily="34" charset="-120"/>
              </a:rPr>
              <a:t>Where it stops</a:t>
            </a:r>
            <a:endParaRPr lang="en-US" sz="1600" dirty="0"/>
          </a:p>
        </p:txBody>
      </p:sp>
      <p:sp>
        <p:nvSpPr>
          <p:cNvPr id="20" name="Text 17"/>
          <p:cNvSpPr txBox="1"/>
          <p:nvPr/>
        </p:nvSpPr>
        <p:spPr>
          <a:xfrm>
            <a:off x="4663440" y="3730752"/>
            <a:ext cx="2926080" cy="1600200"/>
          </a:xfrm>
          <a:prstGeom prst="rect">
            <a:avLst/>
          </a:prstGeom>
          <a:noFill/>
          <a:ln/>
        </p:spPr>
        <p:txBody>
          <a:bodyPr wrap="square" lIns="0" tIns="0" rIns="0" bIns="0" rtlCol="0" anchor="t"/>
          <a:lstStyle/>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Reliability and speed. A big model cannot think at 100 Hz, so most designs split it: the VLM plans at 5–10 Hz, a small action expert runs at 50–100 Hz.</a:t>
            </a:r>
            <a:endParaRPr lang="en-US" sz="1500" dirty="0"/>
          </a:p>
        </p:txBody>
      </p:sp>
      <p:sp>
        <p:nvSpPr>
          <p:cNvPr id="21" name="Shape 18"/>
          <p:cNvSpPr/>
          <p:nvPr/>
        </p:nvSpPr>
        <p:spPr>
          <a:xfrm>
            <a:off x="8138160" y="3154680"/>
            <a:ext cx="3429000" cy="2286000"/>
          </a:xfrm>
          <a:prstGeom prst="roundRect">
            <a:avLst>
              <a:gd name="adj" fmla="val 2400"/>
            </a:avLst>
          </a:prstGeom>
          <a:solidFill>
            <a:srgbClr val="FBEBE1"/>
          </a:solidFill>
          <a:ln w="9525">
            <a:solidFill>
              <a:srgbClr val="EBC7B0"/>
            </a:solidFill>
            <a:prstDash val="solid"/>
          </a:ln>
        </p:spPr>
      </p:sp>
      <p:sp>
        <p:nvSpPr>
          <p:cNvPr id="22" name="Text 19"/>
          <p:cNvSpPr txBox="1"/>
          <p:nvPr/>
        </p:nvSpPr>
        <p:spPr>
          <a:xfrm>
            <a:off x="8412480" y="3337560"/>
            <a:ext cx="2926080" cy="329184"/>
          </a:xfrm>
          <a:prstGeom prst="rect">
            <a:avLst/>
          </a:prstGeom>
          <a:noFill/>
          <a:ln/>
        </p:spPr>
        <p:txBody>
          <a:bodyPr wrap="square" lIns="0" tIns="0" rIns="0" bIns="0" rtlCol="0" anchor="t"/>
          <a:lstStyle/>
          <a:p>
            <a:pPr marL="0" indent="0" algn="l">
              <a:lnSpc>
                <a:spcPct val="115000"/>
              </a:lnSpc>
              <a:buNone/>
            </a:pPr>
            <a:r>
              <a:rPr lang="en-US" sz="1600" b="1" dirty="0">
                <a:solidFill>
                  <a:srgbClr val="C2571E"/>
                </a:solidFill>
                <a:latin typeface="Calibri" pitchFamily="34" charset="0"/>
                <a:ea typeface="Calibri" pitchFamily="34" charset="-122"/>
                <a:cs typeface="Calibri" pitchFamily="34" charset="-120"/>
              </a:rPr>
              <a:t>Where you meet it</a:t>
            </a:r>
            <a:endParaRPr lang="en-US" sz="1600" dirty="0"/>
          </a:p>
        </p:txBody>
      </p:sp>
      <p:sp>
        <p:nvSpPr>
          <p:cNvPr id="23" name="Text 20"/>
          <p:cNvSpPr txBox="1"/>
          <p:nvPr/>
        </p:nvSpPr>
        <p:spPr>
          <a:xfrm>
            <a:off x="8412480" y="3730752"/>
            <a:ext cx="2926080" cy="1600200"/>
          </a:xfrm>
          <a:prstGeom prst="rect">
            <a:avLst/>
          </a:prstGeom>
          <a:noFill/>
          <a:ln/>
        </p:spPr>
        <p:txBody>
          <a:bodyPr wrap="square" lIns="0" tIns="0" rIns="0" bIns="0" rtlCol="0" anchor="t"/>
          <a:lstStyle/>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The leading frontier architecture, and what people mean when they say “robot foundation model.” Production deployment is still early.</a:t>
            </a:r>
            <a:endParaRPr lang="en-US" sz="1500" dirty="0"/>
          </a:p>
        </p:txBody>
      </p:sp>
      <p:sp>
        <p:nvSpPr>
          <p:cNvPr id="24" name="Shape 21"/>
          <p:cNvSpPr/>
          <p:nvPr/>
        </p:nvSpPr>
        <p:spPr>
          <a:xfrm>
            <a:off x="640080" y="5669280"/>
            <a:ext cx="10927080" cy="868680"/>
          </a:xfrm>
          <a:prstGeom prst="roundRect">
            <a:avLst>
              <a:gd name="adj" fmla="val 6316"/>
            </a:avLst>
          </a:prstGeom>
          <a:solidFill>
            <a:srgbClr val="10202B"/>
          </a:solidFill>
          <a:ln/>
        </p:spPr>
      </p:sp>
      <p:sp>
        <p:nvSpPr>
          <p:cNvPr id="25" name="Text 22"/>
          <p:cNvSpPr txBox="1"/>
          <p:nvPr/>
        </p:nvSpPr>
        <p:spPr>
          <a:xfrm>
            <a:off x="960120" y="5669280"/>
            <a:ext cx="1028700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Examples: RT-2 coined the term in 2023 · OpenVLA put an open 7B model in every lab · π0 and π0.5 · NVIDIA GR00T N1.x · Gemini Robotics · Figure's Helix · SmolVLA for consumer hardware.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THE MODEL FAMILY — 4 OF 4</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World model — imagine first, then act</a:t>
            </a:r>
            <a:endParaRPr lang="en-US" sz="3800" dirty="0"/>
          </a:p>
        </p:txBody>
      </p:sp>
      <p:sp>
        <p:nvSpPr>
          <p:cNvPr id="4" name="Shape 2"/>
          <p:cNvSpPr/>
          <p:nvPr/>
        </p:nvSpPr>
        <p:spPr>
          <a:xfrm>
            <a:off x="640080" y="3017520"/>
            <a:ext cx="2377440" cy="960120"/>
          </a:xfrm>
          <a:prstGeom prst="roundRect">
            <a:avLst>
              <a:gd name="adj" fmla="val 4762"/>
            </a:avLst>
          </a:prstGeom>
          <a:solidFill>
            <a:srgbClr val="FFFFFF"/>
          </a:solidFill>
          <a:ln w="15875">
            <a:solidFill>
              <a:srgbClr val="13222E"/>
            </a:solidFill>
            <a:prstDash val="solid"/>
          </a:ln>
        </p:spPr>
      </p:sp>
      <p:sp>
        <p:nvSpPr>
          <p:cNvPr id="5" name="Text 3"/>
          <p:cNvSpPr txBox="1"/>
          <p:nvPr/>
        </p:nvSpPr>
        <p:spPr>
          <a:xfrm>
            <a:off x="685800" y="3017520"/>
            <a:ext cx="2286000" cy="960120"/>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what I see now</a:t>
            </a:r>
            <a:endParaRPr lang="en-US" sz="1500" dirty="0"/>
          </a:p>
        </p:txBody>
      </p:sp>
      <p:sp>
        <p:nvSpPr>
          <p:cNvPr id="6" name="Shape 4"/>
          <p:cNvSpPr/>
          <p:nvPr/>
        </p:nvSpPr>
        <p:spPr>
          <a:xfrm>
            <a:off x="3017520" y="3493008"/>
            <a:ext cx="640080" cy="914"/>
          </a:xfrm>
          <a:prstGeom prst="line">
            <a:avLst/>
          </a:prstGeom>
          <a:noFill/>
          <a:ln w="16510">
            <a:solidFill>
              <a:srgbClr val="566672"/>
            </a:solidFill>
            <a:prstDash val="dash"/>
          </a:ln>
        </p:spPr>
      </p:sp>
      <p:sp>
        <p:nvSpPr>
          <p:cNvPr id="7" name="Shape 5"/>
          <p:cNvSpPr/>
          <p:nvPr/>
        </p:nvSpPr>
        <p:spPr>
          <a:xfrm>
            <a:off x="3657600" y="2167128"/>
            <a:ext cx="914" cy="2651760"/>
          </a:xfrm>
          <a:prstGeom prst="line">
            <a:avLst/>
          </a:prstGeom>
          <a:noFill/>
          <a:ln w="16510">
            <a:solidFill>
              <a:srgbClr val="566672"/>
            </a:solidFill>
            <a:prstDash val="dash"/>
          </a:ln>
        </p:spPr>
      </p:sp>
      <p:sp>
        <p:nvSpPr>
          <p:cNvPr id="8" name="Shape 6"/>
          <p:cNvSpPr/>
          <p:nvPr/>
        </p:nvSpPr>
        <p:spPr>
          <a:xfrm>
            <a:off x="3657600" y="2167128"/>
            <a:ext cx="411480" cy="0"/>
          </a:xfrm>
          <a:prstGeom prst="line">
            <a:avLst/>
          </a:prstGeom>
          <a:noFill/>
          <a:ln w="20320">
            <a:solidFill>
              <a:srgbClr val="566672"/>
            </a:solidFill>
            <a:prstDash val="dash"/>
            <a:tailEnd type="triangle"/>
          </a:ln>
        </p:spPr>
      </p:sp>
      <p:sp>
        <p:nvSpPr>
          <p:cNvPr id="9" name="Shape 7"/>
          <p:cNvSpPr/>
          <p:nvPr/>
        </p:nvSpPr>
        <p:spPr>
          <a:xfrm>
            <a:off x="4160520" y="1691640"/>
            <a:ext cx="2834640" cy="960120"/>
          </a:xfrm>
          <a:prstGeom prst="roundRect">
            <a:avLst>
              <a:gd name="adj" fmla="val 4762"/>
            </a:avLst>
          </a:prstGeom>
          <a:solidFill>
            <a:srgbClr val="FFFFFF"/>
          </a:solidFill>
          <a:ln w="15875">
            <a:solidFill>
              <a:srgbClr val="566672"/>
            </a:solidFill>
            <a:prstDash val="solid"/>
          </a:ln>
        </p:spPr>
      </p:sp>
      <p:sp>
        <p:nvSpPr>
          <p:cNvPr id="10" name="Text 8"/>
          <p:cNvSpPr txBox="1"/>
          <p:nvPr/>
        </p:nvSpPr>
        <p:spPr>
          <a:xfrm>
            <a:off x="4206240" y="1691640"/>
            <a:ext cx="2743200" cy="960120"/>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reach across the top</a:t>
            </a:r>
            <a:endParaRPr lang="en-US" sz="1500" dirty="0"/>
          </a:p>
        </p:txBody>
      </p:sp>
      <p:sp>
        <p:nvSpPr>
          <p:cNvPr id="11" name="Shape 9"/>
          <p:cNvSpPr/>
          <p:nvPr/>
        </p:nvSpPr>
        <p:spPr>
          <a:xfrm>
            <a:off x="7086600" y="2167128"/>
            <a:ext cx="731520" cy="0"/>
          </a:xfrm>
          <a:prstGeom prst="line">
            <a:avLst/>
          </a:prstGeom>
          <a:noFill/>
          <a:ln w="20320">
            <a:solidFill>
              <a:srgbClr val="C2571E"/>
            </a:solidFill>
            <a:prstDash val="solid"/>
            <a:tailEnd type="triangle"/>
          </a:ln>
        </p:spPr>
      </p:sp>
      <p:sp>
        <p:nvSpPr>
          <p:cNvPr id="12" name="Shape 10"/>
          <p:cNvSpPr/>
          <p:nvPr/>
        </p:nvSpPr>
        <p:spPr>
          <a:xfrm>
            <a:off x="7909560" y="1691640"/>
            <a:ext cx="2423160" cy="960120"/>
          </a:xfrm>
          <a:prstGeom prst="roundRect">
            <a:avLst>
              <a:gd name="adj" fmla="val 4762"/>
            </a:avLst>
          </a:prstGeom>
          <a:solidFill>
            <a:srgbClr val="FFFFFF"/>
          </a:solidFill>
          <a:ln w="13970">
            <a:solidFill>
              <a:srgbClr val="C2571E"/>
            </a:solidFill>
            <a:prstDash val="solid"/>
          </a:ln>
        </p:spPr>
      </p:sp>
      <p:sp>
        <p:nvSpPr>
          <p:cNvPr id="13" name="Text 11"/>
          <p:cNvSpPr txBox="1"/>
          <p:nvPr/>
        </p:nvSpPr>
        <p:spPr>
          <a:xfrm>
            <a:off x="7955280" y="1691640"/>
            <a:ext cx="2331720" cy="960120"/>
          </a:xfrm>
          <a:prstGeom prst="rect">
            <a:avLst/>
          </a:prstGeom>
          <a:noFill/>
          <a:ln/>
        </p:spPr>
        <p:txBody>
          <a:bodyPr wrap="square" lIns="0" tIns="0" rIns="0" bIns="0" rtlCol="0" anchor="ctr"/>
          <a:lstStyle/>
          <a:p>
            <a:pPr marL="0" indent="0" algn="ctr">
              <a:buNone/>
            </a:pPr>
            <a:r>
              <a:rPr lang="en-US" sz="1500" dirty="0">
                <a:solidFill>
                  <a:srgbClr val="566672"/>
                </a:solidFill>
                <a:latin typeface="Calibri" pitchFamily="34" charset="0"/>
                <a:ea typeface="Calibri" pitchFamily="34" charset="-122"/>
                <a:cs typeface="Calibri" pitchFamily="34" charset="-120"/>
              </a:rPr>
              <a:t>imagined outcome:</a:t>
            </a:r>
            <a:endParaRPr lang="en-US" sz="1500" dirty="0"/>
          </a:p>
          <a:p>
            <a:pPr marL="0" indent="0" algn="ctr">
              <a:buNone/>
            </a:pPr>
            <a:r>
              <a:rPr lang="en-US" sz="1500" dirty="0">
                <a:solidFill>
                  <a:srgbClr val="566672"/>
                </a:solidFill>
                <a:latin typeface="Calibri" pitchFamily="34" charset="0"/>
                <a:ea typeface="Calibri" pitchFamily="34" charset="-122"/>
                <a:cs typeface="Calibri" pitchFamily="34" charset="-120"/>
              </a:rPr>
              <a:t>knocks the glass</a:t>
            </a:r>
            <a:endParaRPr lang="en-US" sz="1500" dirty="0"/>
          </a:p>
        </p:txBody>
      </p:sp>
      <p:sp>
        <p:nvSpPr>
          <p:cNvPr id="14" name="Shape 12"/>
          <p:cNvSpPr/>
          <p:nvPr/>
        </p:nvSpPr>
        <p:spPr>
          <a:xfrm>
            <a:off x="3657600" y="3493008"/>
            <a:ext cx="411480" cy="0"/>
          </a:xfrm>
          <a:prstGeom prst="line">
            <a:avLst/>
          </a:prstGeom>
          <a:noFill/>
          <a:ln w="20320">
            <a:solidFill>
              <a:srgbClr val="566672"/>
            </a:solidFill>
            <a:prstDash val="dash"/>
            <a:tailEnd type="triangle"/>
          </a:ln>
        </p:spPr>
      </p:sp>
      <p:sp>
        <p:nvSpPr>
          <p:cNvPr id="15" name="Shape 13"/>
          <p:cNvSpPr/>
          <p:nvPr/>
        </p:nvSpPr>
        <p:spPr>
          <a:xfrm>
            <a:off x="4160520" y="3017520"/>
            <a:ext cx="2834640" cy="960120"/>
          </a:xfrm>
          <a:prstGeom prst="roundRect">
            <a:avLst>
              <a:gd name="adj" fmla="val 4762"/>
            </a:avLst>
          </a:prstGeom>
          <a:solidFill>
            <a:srgbClr val="FFFFFF"/>
          </a:solidFill>
          <a:ln w="15875">
            <a:solidFill>
              <a:srgbClr val="566672"/>
            </a:solidFill>
            <a:prstDash val="solid"/>
          </a:ln>
        </p:spPr>
      </p:sp>
      <p:sp>
        <p:nvSpPr>
          <p:cNvPr id="16" name="Text 14"/>
          <p:cNvSpPr txBox="1"/>
          <p:nvPr/>
        </p:nvSpPr>
        <p:spPr>
          <a:xfrm>
            <a:off x="4206240" y="3017520"/>
            <a:ext cx="2743200" cy="960120"/>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grip and lift straight</a:t>
            </a:r>
            <a:endParaRPr lang="en-US" sz="1500" dirty="0"/>
          </a:p>
        </p:txBody>
      </p:sp>
      <p:sp>
        <p:nvSpPr>
          <p:cNvPr id="17" name="Shape 15"/>
          <p:cNvSpPr/>
          <p:nvPr/>
        </p:nvSpPr>
        <p:spPr>
          <a:xfrm>
            <a:off x="7086600" y="3493008"/>
            <a:ext cx="731520" cy="0"/>
          </a:xfrm>
          <a:prstGeom prst="line">
            <a:avLst/>
          </a:prstGeom>
          <a:noFill/>
          <a:ln w="20320">
            <a:solidFill>
              <a:srgbClr val="1F7A55"/>
            </a:solidFill>
            <a:prstDash val="solid"/>
            <a:tailEnd type="triangle"/>
          </a:ln>
        </p:spPr>
      </p:sp>
      <p:sp>
        <p:nvSpPr>
          <p:cNvPr id="18" name="Shape 16"/>
          <p:cNvSpPr/>
          <p:nvPr/>
        </p:nvSpPr>
        <p:spPr>
          <a:xfrm>
            <a:off x="7909560" y="3017520"/>
            <a:ext cx="2423160" cy="960120"/>
          </a:xfrm>
          <a:prstGeom prst="roundRect">
            <a:avLst>
              <a:gd name="adj" fmla="val 4762"/>
            </a:avLst>
          </a:prstGeom>
          <a:solidFill>
            <a:srgbClr val="E2F0EA"/>
          </a:solidFill>
          <a:ln w="22860">
            <a:solidFill>
              <a:srgbClr val="1F7A55"/>
            </a:solidFill>
            <a:prstDash val="solid"/>
          </a:ln>
        </p:spPr>
      </p:sp>
      <p:sp>
        <p:nvSpPr>
          <p:cNvPr id="19" name="Text 17"/>
          <p:cNvSpPr txBox="1"/>
          <p:nvPr/>
        </p:nvSpPr>
        <p:spPr>
          <a:xfrm>
            <a:off x="7955280" y="3017520"/>
            <a:ext cx="2331720" cy="960120"/>
          </a:xfrm>
          <a:prstGeom prst="rect">
            <a:avLst/>
          </a:prstGeom>
          <a:noFill/>
          <a:ln/>
        </p:spPr>
        <p:txBody>
          <a:bodyPr wrap="square" lIns="0" tIns="0" rIns="0" bIns="0" rtlCol="0" anchor="ctr"/>
          <a:lstStyle/>
          <a:p>
            <a:pPr marL="0" indent="0" algn="ctr">
              <a:buNone/>
            </a:pPr>
            <a:r>
              <a:rPr lang="en-US" sz="1500" b="1" dirty="0">
                <a:solidFill>
                  <a:srgbClr val="13503A"/>
                </a:solidFill>
                <a:latin typeface="Calibri" pitchFamily="34" charset="0"/>
                <a:ea typeface="Calibri" pitchFamily="34" charset="-122"/>
                <a:cs typeface="Calibri" pitchFamily="34" charset="-120"/>
              </a:rPr>
              <a:t>imagined outcome:</a:t>
            </a:r>
            <a:endParaRPr lang="en-US" sz="1500" dirty="0"/>
          </a:p>
          <a:p>
            <a:pPr marL="0" indent="0" algn="ctr">
              <a:buNone/>
            </a:pPr>
            <a:r>
              <a:rPr lang="en-US" sz="1500" b="1" dirty="0">
                <a:solidFill>
                  <a:srgbClr val="13503A"/>
                </a:solidFill>
                <a:latin typeface="Calibri" pitchFamily="34" charset="0"/>
                <a:ea typeface="Calibri" pitchFamily="34" charset="-122"/>
                <a:cs typeface="Calibri" pitchFamily="34" charset="-120"/>
              </a:rPr>
              <a:t>works</a:t>
            </a:r>
            <a:endParaRPr lang="en-US" sz="1500" dirty="0"/>
          </a:p>
        </p:txBody>
      </p:sp>
      <p:sp>
        <p:nvSpPr>
          <p:cNvPr id="20" name="Shape 18"/>
          <p:cNvSpPr/>
          <p:nvPr/>
        </p:nvSpPr>
        <p:spPr>
          <a:xfrm>
            <a:off x="3657600" y="4818888"/>
            <a:ext cx="411480" cy="0"/>
          </a:xfrm>
          <a:prstGeom prst="line">
            <a:avLst/>
          </a:prstGeom>
          <a:noFill/>
          <a:ln w="20320">
            <a:solidFill>
              <a:srgbClr val="566672"/>
            </a:solidFill>
            <a:prstDash val="dash"/>
            <a:tailEnd type="triangle"/>
          </a:ln>
        </p:spPr>
      </p:sp>
      <p:sp>
        <p:nvSpPr>
          <p:cNvPr id="21" name="Shape 19"/>
          <p:cNvSpPr/>
          <p:nvPr/>
        </p:nvSpPr>
        <p:spPr>
          <a:xfrm>
            <a:off x="4160520" y="4343400"/>
            <a:ext cx="2834640" cy="960120"/>
          </a:xfrm>
          <a:prstGeom prst="roundRect">
            <a:avLst>
              <a:gd name="adj" fmla="val 4762"/>
            </a:avLst>
          </a:prstGeom>
          <a:solidFill>
            <a:srgbClr val="FFFFFF"/>
          </a:solidFill>
          <a:ln w="15875">
            <a:solidFill>
              <a:srgbClr val="566672"/>
            </a:solidFill>
            <a:prstDash val="solid"/>
          </a:ln>
        </p:spPr>
      </p:sp>
      <p:sp>
        <p:nvSpPr>
          <p:cNvPr id="22" name="Text 20"/>
          <p:cNvSpPr txBox="1"/>
          <p:nvPr/>
        </p:nvSpPr>
        <p:spPr>
          <a:xfrm>
            <a:off x="4206240" y="4343400"/>
            <a:ext cx="2743200" cy="960120"/>
          </a:xfrm>
          <a:prstGeom prst="rect">
            <a:avLst/>
          </a:prstGeom>
          <a:noFill/>
          <a:ln/>
        </p:spPr>
        <p:txBody>
          <a:bodyPr wrap="square" lIns="0" tIns="0" rIns="0" bIns="0" rtlCol="0" anchor="ctr"/>
          <a:lstStyle/>
          <a:p>
            <a:pPr marL="0" indent="0" algn="ctr">
              <a:buNone/>
            </a:pPr>
            <a:r>
              <a:rPr lang="en-US" sz="1500" dirty="0">
                <a:solidFill>
                  <a:srgbClr val="13222E"/>
                </a:solidFill>
                <a:latin typeface="Calibri" pitchFamily="34" charset="0"/>
                <a:ea typeface="Calibri" pitchFamily="34" charset="-122"/>
                <a:cs typeface="Calibri" pitchFamily="34" charset="-120"/>
              </a:rPr>
              <a:t>push it to the edge</a:t>
            </a:r>
            <a:endParaRPr lang="en-US" sz="1500" dirty="0"/>
          </a:p>
        </p:txBody>
      </p:sp>
      <p:sp>
        <p:nvSpPr>
          <p:cNvPr id="23" name="Shape 21"/>
          <p:cNvSpPr/>
          <p:nvPr/>
        </p:nvSpPr>
        <p:spPr>
          <a:xfrm>
            <a:off x="7086600" y="4818888"/>
            <a:ext cx="731520" cy="0"/>
          </a:xfrm>
          <a:prstGeom prst="line">
            <a:avLst/>
          </a:prstGeom>
          <a:noFill/>
          <a:ln w="20320">
            <a:solidFill>
              <a:srgbClr val="C2571E"/>
            </a:solidFill>
            <a:prstDash val="solid"/>
            <a:tailEnd type="triangle"/>
          </a:ln>
        </p:spPr>
      </p:sp>
      <p:sp>
        <p:nvSpPr>
          <p:cNvPr id="24" name="Shape 22"/>
          <p:cNvSpPr/>
          <p:nvPr/>
        </p:nvSpPr>
        <p:spPr>
          <a:xfrm>
            <a:off x="7909560" y="4343400"/>
            <a:ext cx="2423160" cy="960120"/>
          </a:xfrm>
          <a:prstGeom prst="roundRect">
            <a:avLst>
              <a:gd name="adj" fmla="val 4762"/>
            </a:avLst>
          </a:prstGeom>
          <a:solidFill>
            <a:srgbClr val="FFFFFF"/>
          </a:solidFill>
          <a:ln w="13970">
            <a:solidFill>
              <a:srgbClr val="C2571E"/>
            </a:solidFill>
            <a:prstDash val="solid"/>
          </a:ln>
        </p:spPr>
      </p:sp>
      <p:sp>
        <p:nvSpPr>
          <p:cNvPr id="25" name="Text 23"/>
          <p:cNvSpPr txBox="1"/>
          <p:nvPr/>
        </p:nvSpPr>
        <p:spPr>
          <a:xfrm>
            <a:off x="7955280" y="4343400"/>
            <a:ext cx="2331720" cy="960120"/>
          </a:xfrm>
          <a:prstGeom prst="rect">
            <a:avLst/>
          </a:prstGeom>
          <a:noFill/>
          <a:ln/>
        </p:spPr>
        <p:txBody>
          <a:bodyPr wrap="square" lIns="0" tIns="0" rIns="0" bIns="0" rtlCol="0" anchor="ctr"/>
          <a:lstStyle/>
          <a:p>
            <a:pPr marL="0" indent="0" algn="ctr">
              <a:buNone/>
            </a:pPr>
            <a:r>
              <a:rPr lang="en-US" sz="1500" dirty="0">
                <a:solidFill>
                  <a:srgbClr val="566672"/>
                </a:solidFill>
                <a:latin typeface="Calibri" pitchFamily="34" charset="0"/>
                <a:ea typeface="Calibri" pitchFamily="34" charset="-122"/>
                <a:cs typeface="Calibri" pitchFamily="34" charset="-120"/>
              </a:rPr>
              <a:t>imagined outcome:</a:t>
            </a:r>
            <a:endParaRPr lang="en-US" sz="1500" dirty="0"/>
          </a:p>
          <a:p>
            <a:pPr marL="0" indent="0" algn="ctr">
              <a:buNone/>
            </a:pPr>
            <a:r>
              <a:rPr lang="en-US" sz="1500" dirty="0">
                <a:solidFill>
                  <a:srgbClr val="566672"/>
                </a:solidFill>
                <a:latin typeface="Calibri" pitchFamily="34" charset="0"/>
                <a:ea typeface="Calibri" pitchFamily="34" charset="-122"/>
                <a:cs typeface="Calibri" pitchFamily="34" charset="-120"/>
              </a:rPr>
              <a:t>falls off</a:t>
            </a:r>
            <a:endParaRPr lang="en-US" sz="1500" dirty="0"/>
          </a:p>
        </p:txBody>
      </p:sp>
      <p:sp>
        <p:nvSpPr>
          <p:cNvPr id="26" name="Text 24"/>
          <p:cNvSpPr txBox="1"/>
          <p:nvPr/>
        </p:nvSpPr>
        <p:spPr>
          <a:xfrm>
            <a:off x="10469880" y="3291840"/>
            <a:ext cx="1371600" cy="411480"/>
          </a:xfrm>
          <a:prstGeom prst="rect">
            <a:avLst/>
          </a:prstGeom>
          <a:noFill/>
          <a:ln/>
        </p:spPr>
        <p:txBody>
          <a:bodyPr wrap="square" lIns="0" tIns="0" rIns="0" bIns="0" rtlCol="0" anchor="ctr"/>
          <a:lstStyle/>
          <a:p>
            <a:pPr marL="0" indent="0">
              <a:buNone/>
            </a:pPr>
            <a:r>
              <a:rPr lang="en-US" sz="1500" b="1" dirty="0">
                <a:solidFill>
                  <a:srgbClr val="1F7A55"/>
                </a:solidFill>
                <a:latin typeface="Calibri" pitchFamily="34" charset="0"/>
                <a:ea typeface="Calibri" pitchFamily="34" charset="-122"/>
                <a:cs typeface="Calibri" pitchFamily="34" charset="-120"/>
              </a:rPr>
              <a:t>pick this one</a:t>
            </a:r>
            <a:endParaRPr lang="en-US" sz="1500" dirty="0"/>
          </a:p>
        </p:txBody>
      </p:sp>
      <p:sp>
        <p:nvSpPr>
          <p:cNvPr id="27" name="Shape 25"/>
          <p:cNvSpPr/>
          <p:nvPr/>
        </p:nvSpPr>
        <p:spPr>
          <a:xfrm>
            <a:off x="640080" y="5413248"/>
            <a:ext cx="10927080" cy="1188720"/>
          </a:xfrm>
          <a:prstGeom prst="roundRect">
            <a:avLst>
              <a:gd name="adj" fmla="val 4615"/>
            </a:avLst>
          </a:prstGeom>
          <a:solidFill>
            <a:srgbClr val="10202B"/>
          </a:solidFill>
          <a:ln/>
        </p:spPr>
      </p:sp>
      <p:sp>
        <p:nvSpPr>
          <p:cNvPr id="28" name="Text 26"/>
          <p:cNvSpPr txBox="1"/>
          <p:nvPr/>
        </p:nvSpPr>
        <p:spPr>
          <a:xfrm>
            <a:off x="960120" y="5413248"/>
            <a:ext cx="10287000" cy="1188720"/>
          </a:xfrm>
          <a:prstGeom prst="rect">
            <a:avLst/>
          </a:prstGeom>
          <a:noFill/>
          <a:ln/>
        </p:spPr>
        <p:txBody>
          <a:bodyPr wrap="square" lIns="0" tIns="0" rIns="0" bIns="0" rtlCol="0" anchor="ctr"/>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It learns to predict what would happen if it acted — imagination, used to check a plan before spending a real action on it, and to generate training data.</a:t>
            </a:r>
            <a:endParaRPr lang="en-US" sz="1500" dirty="0"/>
          </a:p>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Examples: NVIDIA Cosmos world foundation models · DeepMind Genie 3, interactive 3D scenes from a prompt · JEPA-style predictors · 1X's in-house world model.</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mnt/user-data/uploads/24.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WHO IS BUILDING THIS — THE BRAINS</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Model labs and the platform underneath</a:t>
            </a:r>
            <a:endParaRPr lang="en-US" sz="3800" dirty="0"/>
          </a:p>
        </p:txBody>
      </p:sp>
      <p:sp>
        <p:nvSpPr>
          <p:cNvPr id="4" name="Shape 2"/>
          <p:cNvSpPr/>
          <p:nvPr/>
        </p:nvSpPr>
        <p:spPr>
          <a:xfrm>
            <a:off x="640080" y="1691640"/>
            <a:ext cx="5303520" cy="2148840"/>
          </a:xfrm>
          <a:prstGeom prst="roundRect">
            <a:avLst>
              <a:gd name="adj" fmla="val 2553"/>
            </a:avLst>
          </a:prstGeom>
          <a:solidFill>
            <a:srgbClr val="EFE9F7"/>
          </a:solidFill>
          <a:ln w="9525">
            <a:solidFill>
              <a:srgbClr val="D9CDE9"/>
            </a:solidFill>
            <a:prstDash val="solid"/>
          </a:ln>
        </p:spPr>
      </p:sp>
      <p:sp>
        <p:nvSpPr>
          <p:cNvPr id="5" name="Text 3"/>
          <p:cNvSpPr txBox="1"/>
          <p:nvPr/>
        </p:nvSpPr>
        <p:spPr>
          <a:xfrm>
            <a:off x="914400" y="1856232"/>
            <a:ext cx="4754880" cy="347472"/>
          </a:xfrm>
          <a:prstGeom prst="rect">
            <a:avLst/>
          </a:prstGeom>
          <a:noFill/>
          <a:ln/>
        </p:spPr>
        <p:txBody>
          <a:bodyPr wrap="square" lIns="0" tIns="0" rIns="0" bIns="0" rtlCol="0" anchor="t"/>
          <a:lstStyle/>
          <a:p>
            <a:pPr marL="0" indent="0" algn="l">
              <a:lnSpc>
                <a:spcPct val="115000"/>
              </a:lnSpc>
              <a:buNone/>
            </a:pPr>
            <a:r>
              <a:rPr lang="en-US" sz="1800" b="1" dirty="0">
                <a:solidFill>
                  <a:srgbClr val="6A3FA0"/>
                </a:solidFill>
                <a:latin typeface="Calibri" pitchFamily="34" charset="0"/>
                <a:ea typeface="Calibri" pitchFamily="34" charset="-122"/>
                <a:cs typeface="Calibri" pitchFamily="34" charset="-120"/>
              </a:rPr>
              <a:t>Google DeepMind</a:t>
            </a:r>
            <a:endParaRPr lang="en-US" sz="1800" dirty="0"/>
          </a:p>
        </p:txBody>
      </p:sp>
      <p:sp>
        <p:nvSpPr>
          <p:cNvPr id="6" name="Text 4"/>
          <p:cNvSpPr txBox="1"/>
          <p:nvPr/>
        </p:nvSpPr>
        <p:spPr>
          <a:xfrm>
            <a:off x="914400" y="2258568"/>
            <a:ext cx="4846320" cy="310896"/>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Founded 2010 · London, UK · part of Alphabet</a:t>
            </a:r>
            <a:endParaRPr lang="en-US" sz="1500" dirty="0"/>
          </a:p>
        </p:txBody>
      </p:sp>
      <p:sp>
        <p:nvSpPr>
          <p:cNvPr id="7" name="Text 5"/>
          <p:cNvSpPr txBox="1"/>
          <p:nvPr/>
        </p:nvSpPr>
        <p:spPr>
          <a:xfrm>
            <a:off x="914400" y="2642616"/>
            <a:ext cx="4754880" cy="109728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Frontier AI research; robotics is one arm of it. Ships the Gemini Robotics family, including a version small enough to run on the robot. Partnered with Boston Dynamics in 2026 to put it on Atlas and Spot.</a:t>
            </a:r>
            <a:endParaRPr lang="en-US" sz="1500" dirty="0"/>
          </a:p>
        </p:txBody>
      </p:sp>
      <p:sp>
        <p:nvSpPr>
          <p:cNvPr id="8" name="Shape 6"/>
          <p:cNvSpPr/>
          <p:nvPr/>
        </p:nvSpPr>
        <p:spPr>
          <a:xfrm>
            <a:off x="6263640" y="1691640"/>
            <a:ext cx="5303520" cy="2148840"/>
          </a:xfrm>
          <a:prstGeom prst="roundRect">
            <a:avLst>
              <a:gd name="adj" fmla="val 2553"/>
            </a:avLst>
          </a:prstGeom>
          <a:solidFill>
            <a:srgbClr val="E2F0EA"/>
          </a:solidFill>
          <a:ln w="9525">
            <a:solidFill>
              <a:srgbClr val="BEDACE"/>
            </a:solidFill>
            <a:prstDash val="solid"/>
          </a:ln>
        </p:spPr>
      </p:sp>
      <p:sp>
        <p:nvSpPr>
          <p:cNvPr id="9" name="Text 7"/>
          <p:cNvSpPr txBox="1"/>
          <p:nvPr/>
        </p:nvSpPr>
        <p:spPr>
          <a:xfrm>
            <a:off x="6537960" y="1856232"/>
            <a:ext cx="4754880" cy="347472"/>
          </a:xfrm>
          <a:prstGeom prst="rect">
            <a:avLst/>
          </a:prstGeom>
          <a:noFill/>
          <a:ln/>
        </p:spPr>
        <p:txBody>
          <a:bodyPr wrap="square" lIns="0" tIns="0" rIns="0" bIns="0" rtlCol="0" anchor="t"/>
          <a:lstStyle/>
          <a:p>
            <a:pPr marL="0" indent="0" algn="l">
              <a:lnSpc>
                <a:spcPct val="115000"/>
              </a:lnSpc>
              <a:buNone/>
            </a:pPr>
            <a:r>
              <a:rPr lang="en-US" sz="1800" b="1" dirty="0">
                <a:solidFill>
                  <a:srgbClr val="1F7A55"/>
                </a:solidFill>
                <a:latin typeface="Calibri" pitchFamily="34" charset="0"/>
                <a:ea typeface="Calibri" pitchFamily="34" charset="-122"/>
                <a:cs typeface="Calibri" pitchFamily="34" charset="-120"/>
              </a:rPr>
              <a:t>NVIDIA</a:t>
            </a:r>
            <a:endParaRPr lang="en-US" sz="1800" dirty="0"/>
          </a:p>
        </p:txBody>
      </p:sp>
      <p:sp>
        <p:nvSpPr>
          <p:cNvPr id="10" name="Text 8"/>
          <p:cNvSpPr txBox="1"/>
          <p:nvPr/>
        </p:nvSpPr>
        <p:spPr>
          <a:xfrm>
            <a:off x="6537960" y="2258568"/>
            <a:ext cx="4846320" cy="310896"/>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Founded 1993 · US · public, 30,000+ staff</a:t>
            </a:r>
            <a:endParaRPr lang="en-US" sz="1500" dirty="0"/>
          </a:p>
        </p:txBody>
      </p:sp>
      <p:sp>
        <p:nvSpPr>
          <p:cNvPr id="11" name="Text 9"/>
          <p:cNvSpPr txBox="1"/>
          <p:nvPr/>
        </p:nvSpPr>
        <p:spPr>
          <a:xfrm>
            <a:off x="6537960" y="2642616"/>
            <a:ext cx="4754880" cy="109728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Sells the ground everyone else stands on: GPUs, Isaac Sim and Isaac Lab, and models. GR00T N1 in March 2025 was the first open foundation model for humanoids; Cosmos does the world-model half.</a:t>
            </a:r>
            <a:endParaRPr lang="en-US" sz="1500" dirty="0"/>
          </a:p>
        </p:txBody>
      </p:sp>
      <p:sp>
        <p:nvSpPr>
          <p:cNvPr id="12" name="Shape 10"/>
          <p:cNvSpPr/>
          <p:nvPr/>
        </p:nvSpPr>
        <p:spPr>
          <a:xfrm>
            <a:off x="640080" y="3977640"/>
            <a:ext cx="5303520" cy="2148840"/>
          </a:xfrm>
          <a:prstGeom prst="roundRect">
            <a:avLst>
              <a:gd name="adj" fmla="val 2553"/>
            </a:avLst>
          </a:prstGeom>
          <a:solidFill>
            <a:srgbClr val="E1EFF2"/>
          </a:solidFill>
          <a:ln w="9525">
            <a:solidFill>
              <a:srgbClr val="BCD8DE"/>
            </a:solidFill>
            <a:prstDash val="solid"/>
          </a:ln>
        </p:spPr>
      </p:sp>
      <p:sp>
        <p:nvSpPr>
          <p:cNvPr id="13" name="Text 11"/>
          <p:cNvSpPr txBox="1"/>
          <p:nvPr/>
        </p:nvSpPr>
        <p:spPr>
          <a:xfrm>
            <a:off x="914400" y="4142232"/>
            <a:ext cx="4754880" cy="347472"/>
          </a:xfrm>
          <a:prstGeom prst="rect">
            <a:avLst/>
          </a:prstGeom>
          <a:noFill/>
          <a:ln/>
        </p:spPr>
        <p:txBody>
          <a:bodyPr wrap="square" lIns="0" tIns="0" rIns="0" bIns="0" rtlCol="0" anchor="t"/>
          <a:lstStyle/>
          <a:p>
            <a:pPr marL="0" indent="0" algn="l">
              <a:lnSpc>
                <a:spcPct val="115000"/>
              </a:lnSpc>
              <a:buNone/>
            </a:pPr>
            <a:r>
              <a:rPr lang="en-US" sz="1800" b="1" dirty="0">
                <a:solidFill>
                  <a:srgbClr val="0F7186"/>
                </a:solidFill>
                <a:latin typeface="Calibri" pitchFamily="34" charset="0"/>
                <a:ea typeface="Calibri" pitchFamily="34" charset="-122"/>
                <a:cs typeface="Calibri" pitchFamily="34" charset="-120"/>
              </a:rPr>
              <a:t>Physical Intelligence</a:t>
            </a:r>
            <a:endParaRPr lang="en-US" sz="1800" dirty="0"/>
          </a:p>
        </p:txBody>
      </p:sp>
      <p:sp>
        <p:nvSpPr>
          <p:cNvPr id="14" name="Text 12"/>
          <p:cNvSpPr txBox="1"/>
          <p:nvPr/>
        </p:nvSpPr>
        <p:spPr>
          <a:xfrm>
            <a:off x="914400" y="4544568"/>
            <a:ext cx="4846320" cy="310896"/>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Founded 2024 · San Francisco · ~$400M raised</a:t>
            </a:r>
            <a:endParaRPr lang="en-US" sz="1500" dirty="0"/>
          </a:p>
        </p:txBody>
      </p:sp>
      <p:sp>
        <p:nvSpPr>
          <p:cNvPr id="15" name="Text 13"/>
          <p:cNvSpPr txBox="1"/>
          <p:nvPr/>
        </p:nvSpPr>
        <p:spPr>
          <a:xfrm>
            <a:off x="914400" y="4928616"/>
            <a:ext cx="4754880" cy="109728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Sells the brain and no body. The π0 and π0.5 models are partly open and have become the default baseline other labs compare against.</a:t>
            </a:r>
            <a:endParaRPr lang="en-US" sz="1500" dirty="0"/>
          </a:p>
        </p:txBody>
      </p:sp>
      <p:sp>
        <p:nvSpPr>
          <p:cNvPr id="16" name="Shape 14"/>
          <p:cNvSpPr/>
          <p:nvPr/>
        </p:nvSpPr>
        <p:spPr>
          <a:xfrm>
            <a:off x="6263640" y="3977640"/>
            <a:ext cx="5303520" cy="2148840"/>
          </a:xfrm>
          <a:prstGeom prst="roundRect">
            <a:avLst>
              <a:gd name="adj" fmla="val 2553"/>
            </a:avLst>
          </a:prstGeom>
          <a:solidFill>
            <a:srgbClr val="FAF0DA"/>
          </a:solidFill>
          <a:ln w="9525">
            <a:solidFill>
              <a:srgbClr val="E5D3A6"/>
            </a:solidFill>
            <a:prstDash val="solid"/>
          </a:ln>
        </p:spPr>
      </p:sp>
      <p:sp>
        <p:nvSpPr>
          <p:cNvPr id="17" name="Text 15"/>
          <p:cNvSpPr txBox="1"/>
          <p:nvPr/>
        </p:nvSpPr>
        <p:spPr>
          <a:xfrm>
            <a:off x="6537960" y="4142232"/>
            <a:ext cx="4754880" cy="347472"/>
          </a:xfrm>
          <a:prstGeom prst="rect">
            <a:avLst/>
          </a:prstGeom>
          <a:noFill/>
          <a:ln/>
        </p:spPr>
        <p:txBody>
          <a:bodyPr wrap="square" lIns="0" tIns="0" rIns="0" bIns="0" rtlCol="0" anchor="t"/>
          <a:lstStyle/>
          <a:p>
            <a:pPr marL="0" indent="0" algn="l">
              <a:lnSpc>
                <a:spcPct val="115000"/>
              </a:lnSpc>
              <a:buNone/>
            </a:pPr>
            <a:r>
              <a:rPr lang="en-US" sz="1800" b="1" dirty="0">
                <a:solidFill>
                  <a:srgbClr val="B77B0C"/>
                </a:solidFill>
                <a:latin typeface="Calibri" pitchFamily="34" charset="0"/>
                <a:ea typeface="Calibri" pitchFamily="34" charset="-122"/>
                <a:cs typeface="Calibri" pitchFamily="34" charset="-120"/>
              </a:rPr>
              <a:t>Skild AI</a:t>
            </a:r>
            <a:endParaRPr lang="en-US" sz="1800" dirty="0"/>
          </a:p>
        </p:txBody>
      </p:sp>
      <p:sp>
        <p:nvSpPr>
          <p:cNvPr id="18" name="Text 16"/>
          <p:cNvSpPr txBox="1"/>
          <p:nvPr/>
        </p:nvSpPr>
        <p:spPr>
          <a:xfrm>
            <a:off x="6537960" y="4544568"/>
            <a:ext cx="4846320" cy="310896"/>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Founded 2023 · Pittsburgh, US · ~$1.4B raised</a:t>
            </a:r>
            <a:endParaRPr lang="en-US" sz="1500" dirty="0"/>
          </a:p>
        </p:txBody>
      </p:sp>
      <p:sp>
        <p:nvSpPr>
          <p:cNvPr id="19" name="Text 17"/>
          <p:cNvSpPr txBox="1"/>
          <p:nvPr/>
        </p:nvSpPr>
        <p:spPr>
          <a:xfrm>
            <a:off x="6537960" y="4928616"/>
            <a:ext cx="4754880" cy="109728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Chasing an “omni-bodied” model meant to drive any robot. One of the largest rounds in the category, led by SoftBank — with public deployment evidence still thinner than the funding.</a:t>
            </a:r>
            <a:endParaRPr lang="en-US" sz="1500" dirty="0"/>
          </a:p>
        </p:txBody>
      </p:sp>
      <p:sp>
        <p:nvSpPr>
          <p:cNvPr id="20" name="Text 18"/>
          <p:cNvSpPr txBox="1"/>
          <p:nvPr/>
        </p:nvSpPr>
        <p:spPr>
          <a:xfrm>
            <a:off x="640080" y="6309360"/>
            <a:ext cx="10927080" cy="411480"/>
          </a:xfrm>
          <a:prstGeom prst="rect">
            <a:avLst/>
          </a:prstGeom>
          <a:noFill/>
          <a:ln/>
        </p:spPr>
        <p:txBody>
          <a:bodyPr wrap="square" lIns="0" tIns="0" rIns="0" bIns="0" rtlCol="0" anchor="t"/>
          <a:lstStyle/>
          <a:p>
            <a:pPr marL="0" indent="0" algn="l">
              <a:lnSpc>
                <a:spcPct val="115000"/>
              </a:lnSpc>
              <a:buNone/>
            </a:pPr>
            <a:r>
              <a:rPr lang="en-US" sz="1500" b="1" i="1" dirty="0">
                <a:solidFill>
                  <a:srgbClr val="C2571E"/>
                </a:solidFill>
                <a:latin typeface="Calibri" pitchFamily="34" charset="0"/>
                <a:ea typeface="Calibri" pitchFamily="34" charset="-122"/>
                <a:cs typeface="Calibri" pitchFamily="34" charset="-120"/>
              </a:rPr>
              <a:t>The structural split: some sell the body, some sell the brain — and one company sells the ground both stand on.</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WHO IS BUILDING THIS — THE BODIES, US</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American humanoid makers</a:t>
            </a:r>
            <a:endParaRPr lang="en-US" sz="3800" dirty="0"/>
          </a:p>
        </p:txBody>
      </p:sp>
      <p:sp>
        <p:nvSpPr>
          <p:cNvPr id="4" name="Shape 2"/>
          <p:cNvSpPr/>
          <p:nvPr/>
        </p:nvSpPr>
        <p:spPr>
          <a:xfrm>
            <a:off x="640080" y="1691640"/>
            <a:ext cx="5303520" cy="2148840"/>
          </a:xfrm>
          <a:prstGeom prst="roundRect">
            <a:avLst>
              <a:gd name="adj" fmla="val 2553"/>
            </a:avLst>
          </a:prstGeom>
          <a:solidFill>
            <a:srgbClr val="EFE9F7"/>
          </a:solidFill>
          <a:ln w="9525">
            <a:solidFill>
              <a:srgbClr val="D9CDE9"/>
            </a:solidFill>
            <a:prstDash val="solid"/>
          </a:ln>
        </p:spPr>
      </p:sp>
      <p:sp>
        <p:nvSpPr>
          <p:cNvPr id="5" name="Text 3"/>
          <p:cNvSpPr txBox="1"/>
          <p:nvPr/>
        </p:nvSpPr>
        <p:spPr>
          <a:xfrm>
            <a:off x="914400" y="1856232"/>
            <a:ext cx="4754880" cy="347472"/>
          </a:xfrm>
          <a:prstGeom prst="rect">
            <a:avLst/>
          </a:prstGeom>
          <a:noFill/>
          <a:ln/>
        </p:spPr>
        <p:txBody>
          <a:bodyPr wrap="square" lIns="0" tIns="0" rIns="0" bIns="0" rtlCol="0" anchor="t"/>
          <a:lstStyle/>
          <a:p>
            <a:pPr marL="0" indent="0" algn="l">
              <a:lnSpc>
                <a:spcPct val="115000"/>
              </a:lnSpc>
              <a:buNone/>
            </a:pPr>
            <a:r>
              <a:rPr lang="en-US" sz="1800" b="1" dirty="0">
                <a:solidFill>
                  <a:srgbClr val="6A3FA0"/>
                </a:solidFill>
                <a:latin typeface="Calibri" pitchFamily="34" charset="0"/>
                <a:ea typeface="Calibri" pitchFamily="34" charset="-122"/>
                <a:cs typeface="Calibri" pitchFamily="34" charset="-120"/>
              </a:rPr>
              <a:t>Boston Dynamics</a:t>
            </a:r>
            <a:endParaRPr lang="en-US" sz="1800" dirty="0"/>
          </a:p>
        </p:txBody>
      </p:sp>
      <p:sp>
        <p:nvSpPr>
          <p:cNvPr id="6" name="Text 4"/>
          <p:cNvSpPr txBox="1"/>
          <p:nvPr/>
        </p:nvSpPr>
        <p:spPr>
          <a:xfrm>
            <a:off x="914400" y="2258568"/>
            <a:ext cx="4846320" cy="310896"/>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Founded 1992 · Waltham, US · Hyundai-owned</a:t>
            </a:r>
            <a:endParaRPr lang="en-US" sz="1500" dirty="0"/>
          </a:p>
        </p:txBody>
      </p:sp>
      <p:sp>
        <p:nvSpPr>
          <p:cNvPr id="7" name="Text 5"/>
          <p:cNvSpPr txBox="1"/>
          <p:nvPr/>
        </p:nvSpPr>
        <p:spPr>
          <a:xfrm>
            <a:off x="914400" y="2642616"/>
            <a:ext cx="4754880" cy="109728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The oldest name here, out of MIT. Spent three decades setting the hardware benchmark with Atlas and Spot, and has now handed the thinking half to DeepMind's models.</a:t>
            </a:r>
            <a:endParaRPr lang="en-US" sz="1500" dirty="0"/>
          </a:p>
        </p:txBody>
      </p:sp>
      <p:sp>
        <p:nvSpPr>
          <p:cNvPr id="8" name="Shape 6"/>
          <p:cNvSpPr/>
          <p:nvPr/>
        </p:nvSpPr>
        <p:spPr>
          <a:xfrm>
            <a:off x="6263640" y="1691640"/>
            <a:ext cx="5303520" cy="2148840"/>
          </a:xfrm>
          <a:prstGeom prst="roundRect">
            <a:avLst>
              <a:gd name="adj" fmla="val 2553"/>
            </a:avLst>
          </a:prstGeom>
          <a:solidFill>
            <a:srgbClr val="FBEBE1"/>
          </a:solidFill>
          <a:ln w="9525">
            <a:solidFill>
              <a:srgbClr val="EBC7B0"/>
            </a:solidFill>
            <a:prstDash val="solid"/>
          </a:ln>
        </p:spPr>
      </p:sp>
      <p:sp>
        <p:nvSpPr>
          <p:cNvPr id="9" name="Text 7"/>
          <p:cNvSpPr txBox="1"/>
          <p:nvPr/>
        </p:nvSpPr>
        <p:spPr>
          <a:xfrm>
            <a:off x="6537960" y="1856232"/>
            <a:ext cx="4754880" cy="347472"/>
          </a:xfrm>
          <a:prstGeom prst="rect">
            <a:avLst/>
          </a:prstGeom>
          <a:noFill/>
          <a:ln/>
        </p:spPr>
        <p:txBody>
          <a:bodyPr wrap="square" lIns="0" tIns="0" rIns="0" bIns="0" rtlCol="0" anchor="t"/>
          <a:lstStyle/>
          <a:p>
            <a:pPr marL="0" indent="0" algn="l">
              <a:lnSpc>
                <a:spcPct val="115000"/>
              </a:lnSpc>
              <a:buNone/>
            </a:pPr>
            <a:r>
              <a:rPr lang="en-US" sz="1800" b="1" dirty="0">
                <a:solidFill>
                  <a:srgbClr val="C2571E"/>
                </a:solidFill>
                <a:latin typeface="Calibri" pitchFamily="34" charset="0"/>
                <a:ea typeface="Calibri" pitchFamily="34" charset="-122"/>
                <a:cs typeface="Calibri" pitchFamily="34" charset="-120"/>
              </a:rPr>
              <a:t>Figure AI</a:t>
            </a:r>
            <a:endParaRPr lang="en-US" sz="1800" dirty="0"/>
          </a:p>
        </p:txBody>
      </p:sp>
      <p:sp>
        <p:nvSpPr>
          <p:cNvPr id="10" name="Text 8"/>
          <p:cNvSpPr txBox="1"/>
          <p:nvPr/>
        </p:nvSpPr>
        <p:spPr>
          <a:xfrm>
            <a:off x="6537960" y="2258568"/>
            <a:ext cx="4846320" cy="310896"/>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Founded 2022 · San Jose, US · ~$39B valuation</a:t>
            </a:r>
            <a:endParaRPr lang="en-US" sz="1500" dirty="0"/>
          </a:p>
        </p:txBody>
      </p:sp>
      <p:sp>
        <p:nvSpPr>
          <p:cNvPr id="11" name="Text 9"/>
          <p:cNvSpPr txBox="1"/>
          <p:nvPr/>
        </p:nvSpPr>
        <p:spPr>
          <a:xfrm>
            <a:off x="6537960" y="2642616"/>
            <a:ext cx="4754880" cy="109728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The best-funded pure-play in the field. Builds both the body and the Helix model that drives it, and runs a pilot on a BMW line. In June 2026 it reported more robots operating than employees.</a:t>
            </a:r>
            <a:endParaRPr lang="en-US" sz="1500" dirty="0"/>
          </a:p>
        </p:txBody>
      </p:sp>
      <p:sp>
        <p:nvSpPr>
          <p:cNvPr id="12" name="Shape 10"/>
          <p:cNvSpPr/>
          <p:nvPr/>
        </p:nvSpPr>
        <p:spPr>
          <a:xfrm>
            <a:off x="640080" y="3977640"/>
            <a:ext cx="5303520" cy="2148840"/>
          </a:xfrm>
          <a:prstGeom prst="roundRect">
            <a:avLst>
              <a:gd name="adj" fmla="val 2553"/>
            </a:avLst>
          </a:prstGeom>
          <a:solidFill>
            <a:srgbClr val="E1EFF2"/>
          </a:solidFill>
          <a:ln w="9525">
            <a:solidFill>
              <a:srgbClr val="BCD8DE"/>
            </a:solidFill>
            <a:prstDash val="solid"/>
          </a:ln>
        </p:spPr>
      </p:sp>
      <p:sp>
        <p:nvSpPr>
          <p:cNvPr id="13" name="Text 11"/>
          <p:cNvSpPr txBox="1"/>
          <p:nvPr/>
        </p:nvSpPr>
        <p:spPr>
          <a:xfrm>
            <a:off x="914400" y="4142232"/>
            <a:ext cx="4754880" cy="347472"/>
          </a:xfrm>
          <a:prstGeom prst="rect">
            <a:avLst/>
          </a:prstGeom>
          <a:noFill/>
          <a:ln/>
        </p:spPr>
        <p:txBody>
          <a:bodyPr wrap="square" lIns="0" tIns="0" rIns="0" bIns="0" rtlCol="0" anchor="t"/>
          <a:lstStyle/>
          <a:p>
            <a:pPr marL="0" indent="0" algn="l">
              <a:lnSpc>
                <a:spcPct val="115000"/>
              </a:lnSpc>
              <a:buNone/>
            </a:pPr>
            <a:r>
              <a:rPr lang="en-US" sz="1800" b="1" dirty="0">
                <a:solidFill>
                  <a:srgbClr val="0F7186"/>
                </a:solidFill>
                <a:latin typeface="Calibri" pitchFamily="34" charset="0"/>
                <a:ea typeface="Calibri" pitchFamily="34" charset="-122"/>
                <a:cs typeface="Calibri" pitchFamily="34" charset="-120"/>
              </a:rPr>
              <a:t>Agility Robotics</a:t>
            </a:r>
            <a:endParaRPr lang="en-US" sz="1800" dirty="0"/>
          </a:p>
        </p:txBody>
      </p:sp>
      <p:sp>
        <p:nvSpPr>
          <p:cNvPr id="14" name="Text 12"/>
          <p:cNvSpPr txBox="1"/>
          <p:nvPr/>
        </p:nvSpPr>
        <p:spPr>
          <a:xfrm>
            <a:off x="914400" y="4544568"/>
            <a:ext cx="4846320" cy="310896"/>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Founded 2015 · Oregon, US · $641M+ raised, SPAC</a:t>
            </a:r>
            <a:endParaRPr lang="en-US" sz="1500" dirty="0"/>
          </a:p>
        </p:txBody>
      </p:sp>
      <p:sp>
        <p:nvSpPr>
          <p:cNvPr id="15" name="Text 13"/>
          <p:cNvSpPr txBox="1"/>
          <p:nvPr/>
        </p:nvSpPr>
        <p:spPr>
          <a:xfrm>
            <a:off x="914400" y="4928616"/>
            <a:ext cx="4754880" cy="109728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Digit is the least humanoid-looking robot here and the furthest along in paid work: warehouse deployments with real customers and reported contracted orders above $300M.</a:t>
            </a:r>
            <a:endParaRPr lang="en-US" sz="1500" dirty="0"/>
          </a:p>
        </p:txBody>
      </p:sp>
      <p:sp>
        <p:nvSpPr>
          <p:cNvPr id="16" name="Shape 14"/>
          <p:cNvSpPr/>
          <p:nvPr/>
        </p:nvSpPr>
        <p:spPr>
          <a:xfrm>
            <a:off x="6263640" y="3977640"/>
            <a:ext cx="5303520" cy="2148840"/>
          </a:xfrm>
          <a:prstGeom prst="roundRect">
            <a:avLst>
              <a:gd name="adj" fmla="val 2553"/>
            </a:avLst>
          </a:prstGeom>
          <a:solidFill>
            <a:srgbClr val="E2F0EA"/>
          </a:solidFill>
          <a:ln w="9525">
            <a:solidFill>
              <a:srgbClr val="BEDACE"/>
            </a:solidFill>
            <a:prstDash val="solid"/>
          </a:ln>
        </p:spPr>
      </p:sp>
      <p:sp>
        <p:nvSpPr>
          <p:cNvPr id="17" name="Text 15"/>
          <p:cNvSpPr txBox="1"/>
          <p:nvPr/>
        </p:nvSpPr>
        <p:spPr>
          <a:xfrm>
            <a:off x="6537960" y="4142232"/>
            <a:ext cx="4754880" cy="347472"/>
          </a:xfrm>
          <a:prstGeom prst="rect">
            <a:avLst/>
          </a:prstGeom>
          <a:noFill/>
          <a:ln/>
        </p:spPr>
        <p:txBody>
          <a:bodyPr wrap="square" lIns="0" tIns="0" rIns="0" bIns="0" rtlCol="0" anchor="t"/>
          <a:lstStyle/>
          <a:p>
            <a:pPr marL="0" indent="0" algn="l">
              <a:lnSpc>
                <a:spcPct val="115000"/>
              </a:lnSpc>
              <a:buNone/>
            </a:pPr>
            <a:r>
              <a:rPr lang="en-US" sz="1800" b="1" dirty="0">
                <a:solidFill>
                  <a:srgbClr val="1F7A55"/>
                </a:solidFill>
                <a:latin typeface="Calibri" pitchFamily="34" charset="0"/>
                <a:ea typeface="Calibri" pitchFamily="34" charset="-122"/>
                <a:cs typeface="Calibri" pitchFamily="34" charset="-120"/>
              </a:rPr>
              <a:t>Apptronik</a:t>
            </a:r>
            <a:endParaRPr lang="en-US" sz="1800" dirty="0"/>
          </a:p>
        </p:txBody>
      </p:sp>
      <p:sp>
        <p:nvSpPr>
          <p:cNvPr id="18" name="Text 16"/>
          <p:cNvSpPr txBox="1"/>
          <p:nvPr/>
        </p:nvSpPr>
        <p:spPr>
          <a:xfrm>
            <a:off x="6537960" y="4544568"/>
            <a:ext cx="4846320" cy="310896"/>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Founded 2016 · Austin, US · $935M+ at ~$5.5B</a:t>
            </a:r>
            <a:endParaRPr lang="en-US" sz="1500" dirty="0"/>
          </a:p>
        </p:txBody>
      </p:sp>
      <p:sp>
        <p:nvSpPr>
          <p:cNvPr id="19" name="Text 17"/>
          <p:cNvSpPr txBox="1"/>
          <p:nvPr/>
        </p:nvSpPr>
        <p:spPr>
          <a:xfrm>
            <a:off x="6537960" y="4928616"/>
            <a:ext cx="4754880" cy="109728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Out of a University of Texas lab. Apollo is aimed at manufacturing and logistics, sold as a service, with Mercedes-Benz and GXO as named partners, and runs Gemini Robotics on-device.</a:t>
            </a:r>
            <a:endParaRPr lang="en-US" sz="1500" dirty="0"/>
          </a:p>
        </p:txBody>
      </p:sp>
      <p:sp>
        <p:nvSpPr>
          <p:cNvPr id="20" name="Text 18"/>
          <p:cNvSpPr txBox="1"/>
          <p:nvPr/>
        </p:nvSpPr>
        <p:spPr>
          <a:xfrm>
            <a:off x="640080" y="6309360"/>
            <a:ext cx="10927080" cy="411480"/>
          </a:xfrm>
          <a:prstGeom prst="rect">
            <a:avLst/>
          </a:prstGeom>
          <a:noFill/>
          <a:ln/>
        </p:spPr>
        <p:txBody>
          <a:bodyPr wrap="square" lIns="0" tIns="0" rIns="0" bIns="0" rtlCol="0" anchor="t"/>
          <a:lstStyle/>
          <a:p>
            <a:pPr marL="0" indent="0" algn="l">
              <a:lnSpc>
                <a:spcPct val="115000"/>
              </a:lnSpc>
              <a:buNone/>
            </a:pPr>
            <a:r>
              <a:rPr lang="en-US" sz="1500" b="1" i="1" dirty="0">
                <a:solidFill>
                  <a:srgbClr val="C2571E"/>
                </a:solidFill>
                <a:latin typeface="Calibri" pitchFamily="34" charset="0"/>
                <a:ea typeface="Calibri" pitchFamily="34" charset="-122"/>
                <a:cs typeface="Calibri" pitchFamily="34" charset="-120"/>
              </a:rPr>
              <a:t>Also American: Tesla (Optimus, founded 2003) and 1X (NEO, founded 2014 in Norway, now largely US-based).</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WHO IS BUILDING THIS — THE BODIES, ASIA AND EUROPE</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Where the units are actually shipping</a:t>
            </a:r>
            <a:endParaRPr lang="en-US" sz="3800" dirty="0"/>
          </a:p>
        </p:txBody>
      </p:sp>
      <p:sp>
        <p:nvSpPr>
          <p:cNvPr id="4" name="Shape 2"/>
          <p:cNvSpPr/>
          <p:nvPr/>
        </p:nvSpPr>
        <p:spPr>
          <a:xfrm>
            <a:off x="640080" y="1691640"/>
            <a:ext cx="5303520" cy="2148840"/>
          </a:xfrm>
          <a:prstGeom prst="roundRect">
            <a:avLst>
              <a:gd name="adj" fmla="val 2553"/>
            </a:avLst>
          </a:prstGeom>
          <a:solidFill>
            <a:srgbClr val="FBEBE1"/>
          </a:solidFill>
          <a:ln w="9525">
            <a:solidFill>
              <a:srgbClr val="EBC7B0"/>
            </a:solidFill>
            <a:prstDash val="solid"/>
          </a:ln>
        </p:spPr>
      </p:sp>
      <p:sp>
        <p:nvSpPr>
          <p:cNvPr id="5" name="Text 3"/>
          <p:cNvSpPr txBox="1"/>
          <p:nvPr/>
        </p:nvSpPr>
        <p:spPr>
          <a:xfrm>
            <a:off x="914400" y="1856232"/>
            <a:ext cx="4754880" cy="347472"/>
          </a:xfrm>
          <a:prstGeom prst="rect">
            <a:avLst/>
          </a:prstGeom>
          <a:noFill/>
          <a:ln/>
        </p:spPr>
        <p:txBody>
          <a:bodyPr wrap="square" lIns="0" tIns="0" rIns="0" bIns="0" rtlCol="0" anchor="t"/>
          <a:lstStyle/>
          <a:p>
            <a:pPr marL="0" indent="0" algn="l">
              <a:lnSpc>
                <a:spcPct val="115000"/>
              </a:lnSpc>
              <a:buNone/>
            </a:pPr>
            <a:r>
              <a:rPr lang="en-US" sz="1800" b="1" dirty="0">
                <a:solidFill>
                  <a:srgbClr val="C2571E"/>
                </a:solidFill>
                <a:latin typeface="Calibri" pitchFamily="34" charset="0"/>
                <a:ea typeface="Calibri" pitchFamily="34" charset="-122"/>
                <a:cs typeface="Calibri" pitchFamily="34" charset="-120"/>
              </a:rPr>
              <a:t>Unitree</a:t>
            </a:r>
            <a:endParaRPr lang="en-US" sz="1800" dirty="0"/>
          </a:p>
        </p:txBody>
      </p:sp>
      <p:sp>
        <p:nvSpPr>
          <p:cNvPr id="6" name="Text 4"/>
          <p:cNvSpPr txBox="1"/>
          <p:nvPr/>
        </p:nvSpPr>
        <p:spPr>
          <a:xfrm>
            <a:off x="914400" y="2258568"/>
            <a:ext cx="4846320" cy="310896"/>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Founded 2016 · Hangzhou, China · ~$5.9B IPO</a:t>
            </a:r>
            <a:endParaRPr lang="en-US" sz="1500" dirty="0"/>
          </a:p>
        </p:txBody>
      </p:sp>
      <p:sp>
        <p:nvSpPr>
          <p:cNvPr id="7" name="Text 5"/>
          <p:cNvSpPr txBox="1"/>
          <p:nvPr/>
        </p:nvSpPr>
        <p:spPr>
          <a:xfrm>
            <a:off x="914400" y="2642616"/>
            <a:ext cx="4754880" cy="109728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Sets the price floor for the whole industry: the G1 base price has fallen to around $13,500. Quadrupeds first, humanoids now, and roughly 5,000 units shipped in 2025.</a:t>
            </a:r>
            <a:endParaRPr lang="en-US" sz="1500" dirty="0"/>
          </a:p>
        </p:txBody>
      </p:sp>
      <p:sp>
        <p:nvSpPr>
          <p:cNvPr id="8" name="Shape 6"/>
          <p:cNvSpPr/>
          <p:nvPr/>
        </p:nvSpPr>
        <p:spPr>
          <a:xfrm>
            <a:off x="6263640" y="1691640"/>
            <a:ext cx="5303520" cy="2148840"/>
          </a:xfrm>
          <a:prstGeom prst="roundRect">
            <a:avLst>
              <a:gd name="adj" fmla="val 2553"/>
            </a:avLst>
          </a:prstGeom>
          <a:solidFill>
            <a:srgbClr val="E1EFF2"/>
          </a:solidFill>
          <a:ln w="9525">
            <a:solidFill>
              <a:srgbClr val="BCD8DE"/>
            </a:solidFill>
            <a:prstDash val="solid"/>
          </a:ln>
        </p:spPr>
      </p:sp>
      <p:sp>
        <p:nvSpPr>
          <p:cNvPr id="9" name="Text 7"/>
          <p:cNvSpPr txBox="1"/>
          <p:nvPr/>
        </p:nvSpPr>
        <p:spPr>
          <a:xfrm>
            <a:off x="6537960" y="1856232"/>
            <a:ext cx="4754880" cy="347472"/>
          </a:xfrm>
          <a:prstGeom prst="rect">
            <a:avLst/>
          </a:prstGeom>
          <a:noFill/>
          <a:ln/>
        </p:spPr>
        <p:txBody>
          <a:bodyPr wrap="square" lIns="0" tIns="0" rIns="0" bIns="0" rtlCol="0" anchor="t"/>
          <a:lstStyle/>
          <a:p>
            <a:pPr marL="0" indent="0" algn="l">
              <a:lnSpc>
                <a:spcPct val="115000"/>
              </a:lnSpc>
              <a:buNone/>
            </a:pPr>
            <a:r>
              <a:rPr lang="en-US" sz="1800" b="1" dirty="0">
                <a:solidFill>
                  <a:srgbClr val="0F7186"/>
                </a:solidFill>
                <a:latin typeface="Calibri" pitchFamily="34" charset="0"/>
                <a:ea typeface="Calibri" pitchFamily="34" charset="-122"/>
                <a:cs typeface="Calibri" pitchFamily="34" charset="-120"/>
              </a:rPr>
              <a:t>AgiBot</a:t>
            </a:r>
            <a:endParaRPr lang="en-US" sz="1800" dirty="0"/>
          </a:p>
        </p:txBody>
      </p:sp>
      <p:sp>
        <p:nvSpPr>
          <p:cNvPr id="10" name="Text 8"/>
          <p:cNvSpPr txBox="1"/>
          <p:nvPr/>
        </p:nvSpPr>
        <p:spPr>
          <a:xfrm>
            <a:off x="6537960" y="2258568"/>
            <a:ext cx="4846320" cy="310896"/>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Founded 2023 · Shanghai, China · CATL-backed</a:t>
            </a:r>
            <a:endParaRPr lang="en-US" sz="1500" dirty="0"/>
          </a:p>
        </p:txBody>
      </p:sp>
      <p:sp>
        <p:nvSpPr>
          <p:cNvPr id="11" name="Text 9"/>
          <p:cNvSpPr txBox="1"/>
          <p:nvPr/>
        </p:nvSpPr>
        <p:spPr>
          <a:xfrm>
            <a:off x="6537960" y="2642616"/>
            <a:ext cx="4754880" cy="109728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The volume leader: about 5,100 units shipped in 2025 and its 10,000th humanoid produced by March 2026. Also publishes the AgiBot World dataset, which other labs train on.</a:t>
            </a:r>
            <a:endParaRPr lang="en-US" sz="1500" dirty="0"/>
          </a:p>
        </p:txBody>
      </p:sp>
      <p:sp>
        <p:nvSpPr>
          <p:cNvPr id="12" name="Shape 10"/>
          <p:cNvSpPr/>
          <p:nvPr/>
        </p:nvSpPr>
        <p:spPr>
          <a:xfrm>
            <a:off x="640080" y="3977640"/>
            <a:ext cx="5303520" cy="2148840"/>
          </a:xfrm>
          <a:prstGeom prst="roundRect">
            <a:avLst>
              <a:gd name="adj" fmla="val 2553"/>
            </a:avLst>
          </a:prstGeom>
          <a:solidFill>
            <a:srgbClr val="FAF0DA"/>
          </a:solidFill>
          <a:ln w="9525">
            <a:solidFill>
              <a:srgbClr val="E5D3A6"/>
            </a:solidFill>
            <a:prstDash val="solid"/>
          </a:ln>
        </p:spPr>
      </p:sp>
      <p:sp>
        <p:nvSpPr>
          <p:cNvPr id="13" name="Text 11"/>
          <p:cNvSpPr txBox="1"/>
          <p:nvPr/>
        </p:nvSpPr>
        <p:spPr>
          <a:xfrm>
            <a:off x="914400" y="4142232"/>
            <a:ext cx="4754880" cy="347472"/>
          </a:xfrm>
          <a:prstGeom prst="rect">
            <a:avLst/>
          </a:prstGeom>
          <a:noFill/>
          <a:ln/>
        </p:spPr>
        <p:txBody>
          <a:bodyPr wrap="square" lIns="0" tIns="0" rIns="0" bIns="0" rtlCol="0" anchor="t"/>
          <a:lstStyle/>
          <a:p>
            <a:pPr marL="0" indent="0" algn="l">
              <a:lnSpc>
                <a:spcPct val="115000"/>
              </a:lnSpc>
              <a:buNone/>
            </a:pPr>
            <a:r>
              <a:rPr lang="en-US" sz="1800" b="1" dirty="0">
                <a:solidFill>
                  <a:srgbClr val="B77B0C"/>
                </a:solidFill>
                <a:latin typeface="Calibri" pitchFamily="34" charset="0"/>
                <a:ea typeface="Calibri" pitchFamily="34" charset="-122"/>
                <a:cs typeface="Calibri" pitchFamily="34" charset="-120"/>
              </a:rPr>
              <a:t>UBTech</a:t>
            </a:r>
            <a:endParaRPr lang="en-US" sz="1800" dirty="0"/>
          </a:p>
        </p:txBody>
      </p:sp>
      <p:sp>
        <p:nvSpPr>
          <p:cNvPr id="14" name="Text 12"/>
          <p:cNvSpPr txBox="1"/>
          <p:nvPr/>
        </p:nvSpPr>
        <p:spPr>
          <a:xfrm>
            <a:off x="914400" y="4544568"/>
            <a:ext cx="4846320" cy="310896"/>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Founded 2012 · Shenzhen, China · HK-listed</a:t>
            </a:r>
            <a:endParaRPr lang="en-US" sz="1500" dirty="0"/>
          </a:p>
        </p:txBody>
      </p:sp>
      <p:sp>
        <p:nvSpPr>
          <p:cNvPr id="15" name="Text 13"/>
          <p:cNvSpPr txBox="1"/>
          <p:nvPr/>
        </p:nvSpPr>
        <p:spPr>
          <a:xfrm>
            <a:off x="914400" y="4928616"/>
            <a:ext cx="4754880" cy="109728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Walker S2 works in electric-vehicle plants. Unusually candid about the limits — the company has described the robots as no more than half as efficient as a human worker.</a:t>
            </a:r>
            <a:endParaRPr lang="en-US" sz="1500" dirty="0"/>
          </a:p>
        </p:txBody>
      </p:sp>
      <p:sp>
        <p:nvSpPr>
          <p:cNvPr id="16" name="Shape 14"/>
          <p:cNvSpPr/>
          <p:nvPr/>
        </p:nvSpPr>
        <p:spPr>
          <a:xfrm>
            <a:off x="6263640" y="3977640"/>
            <a:ext cx="5303520" cy="2148840"/>
          </a:xfrm>
          <a:prstGeom prst="roundRect">
            <a:avLst>
              <a:gd name="adj" fmla="val 2553"/>
            </a:avLst>
          </a:prstGeom>
          <a:solidFill>
            <a:srgbClr val="EFE9F7"/>
          </a:solidFill>
          <a:ln w="9525">
            <a:solidFill>
              <a:srgbClr val="D9CDE9"/>
            </a:solidFill>
            <a:prstDash val="solid"/>
          </a:ln>
        </p:spPr>
      </p:sp>
      <p:sp>
        <p:nvSpPr>
          <p:cNvPr id="17" name="Text 15"/>
          <p:cNvSpPr txBox="1"/>
          <p:nvPr/>
        </p:nvSpPr>
        <p:spPr>
          <a:xfrm>
            <a:off x="6537960" y="4142232"/>
            <a:ext cx="4754880" cy="347472"/>
          </a:xfrm>
          <a:prstGeom prst="rect">
            <a:avLst/>
          </a:prstGeom>
          <a:noFill/>
          <a:ln/>
        </p:spPr>
        <p:txBody>
          <a:bodyPr wrap="square" lIns="0" tIns="0" rIns="0" bIns="0" rtlCol="0" anchor="t"/>
          <a:lstStyle/>
          <a:p>
            <a:pPr marL="0" indent="0" algn="l">
              <a:lnSpc>
                <a:spcPct val="115000"/>
              </a:lnSpc>
              <a:buNone/>
            </a:pPr>
            <a:r>
              <a:rPr lang="en-US" sz="1800" b="1" dirty="0">
                <a:solidFill>
                  <a:srgbClr val="6A3FA0"/>
                </a:solidFill>
                <a:latin typeface="Calibri" pitchFamily="34" charset="0"/>
                <a:ea typeface="Calibri" pitchFamily="34" charset="-122"/>
                <a:cs typeface="Calibri" pitchFamily="34" charset="-120"/>
              </a:rPr>
              <a:t>NEURA Robotics</a:t>
            </a:r>
            <a:endParaRPr lang="en-US" sz="1800" dirty="0"/>
          </a:p>
        </p:txBody>
      </p:sp>
      <p:sp>
        <p:nvSpPr>
          <p:cNvPr id="18" name="Text 16"/>
          <p:cNvSpPr txBox="1"/>
          <p:nvPr/>
        </p:nvSpPr>
        <p:spPr>
          <a:xfrm>
            <a:off x="6537960" y="4544568"/>
            <a:ext cx="4846320" cy="310896"/>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Founded 2019 · Germany · up to $1.4B at ~$7B</a:t>
            </a:r>
            <a:endParaRPr lang="en-US" sz="1500" dirty="0"/>
          </a:p>
        </p:txBody>
      </p:sp>
      <p:sp>
        <p:nvSpPr>
          <p:cNvPr id="19" name="Text 17"/>
          <p:cNvSpPr txBox="1"/>
          <p:nvPr/>
        </p:nvSpPr>
        <p:spPr>
          <a:xfrm>
            <a:off x="6537960" y="4928616"/>
            <a:ext cx="4754880" cy="109728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Europe's standard-bearer, and suddenly far ahead of other European startups on funding. Strong industrial demand behind it, with less public manufacturing proof than the Chinese makers.</a:t>
            </a:r>
            <a:endParaRPr lang="en-US" sz="1500" dirty="0"/>
          </a:p>
        </p:txBody>
      </p:sp>
      <p:sp>
        <p:nvSpPr>
          <p:cNvPr id="20" name="Text 18"/>
          <p:cNvSpPr txBox="1"/>
          <p:nvPr/>
        </p:nvSpPr>
        <p:spPr>
          <a:xfrm>
            <a:off x="640080" y="6309360"/>
            <a:ext cx="10927080" cy="411480"/>
          </a:xfrm>
          <a:prstGeom prst="rect">
            <a:avLst/>
          </a:prstGeom>
          <a:noFill/>
          <a:ln/>
        </p:spPr>
        <p:txBody>
          <a:bodyPr wrap="square" lIns="0" tIns="0" rIns="0" bIns="0" rtlCol="0" anchor="t"/>
          <a:lstStyle/>
          <a:p>
            <a:pPr marL="0" indent="0" algn="l">
              <a:lnSpc>
                <a:spcPct val="115000"/>
              </a:lnSpc>
              <a:buNone/>
            </a:pPr>
            <a:r>
              <a:rPr lang="en-US" sz="1500" b="1" i="1" dirty="0">
                <a:solidFill>
                  <a:srgbClr val="C2571E"/>
                </a:solidFill>
                <a:latin typeface="Calibri" pitchFamily="34" charset="0"/>
                <a:ea typeface="Calibri" pitchFamily="34" charset="-122"/>
                <a:cs typeface="Calibri" pitchFamily="34" charset="-120"/>
              </a:rPr>
              <a:t>Also here: Fourier and Galbot in China, Toyota Research Institute in Japan and the US, Sanctuary AI in Canada.</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THE MAP</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Which countries lead, and at what</a:t>
            </a:r>
            <a:endParaRPr lang="en-US" sz="3800" dirty="0"/>
          </a:p>
        </p:txBody>
      </p:sp>
      <p:graphicFrame>
        <p:nvGraphicFramePr>
          <p:cNvPr id="4" name="Chart 0"/>
          <p:cNvGraphicFramePr/>
          <p:nvPr/>
        </p:nvGraphicFramePr>
        <p:xfrm>
          <a:off x="594360" y="1828800"/>
          <a:ext cx="566928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40080" y="5623560"/>
            <a:ext cx="5669280" cy="365760"/>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At least 45 companies across 9 countries; the split is directional, not a census.</a:t>
            </a:r>
            <a:endParaRPr lang="en-US" sz="1500" dirty="0"/>
          </a:p>
        </p:txBody>
      </p:sp>
      <p:sp>
        <p:nvSpPr>
          <p:cNvPr id="6" name="Shape 3"/>
          <p:cNvSpPr/>
          <p:nvPr/>
        </p:nvSpPr>
        <p:spPr>
          <a:xfrm>
            <a:off x="6629400" y="1783080"/>
            <a:ext cx="4937760" cy="1051560"/>
          </a:xfrm>
          <a:prstGeom prst="roundRect">
            <a:avLst>
              <a:gd name="adj" fmla="val 5217"/>
            </a:avLst>
          </a:prstGeom>
          <a:solidFill>
            <a:srgbClr val="FBEBE1"/>
          </a:solidFill>
          <a:ln w="9525">
            <a:solidFill>
              <a:srgbClr val="EBC7B0"/>
            </a:solidFill>
            <a:prstDash val="solid"/>
          </a:ln>
        </p:spPr>
      </p:sp>
      <p:sp>
        <p:nvSpPr>
          <p:cNvPr id="7" name="Text 4"/>
          <p:cNvSpPr txBox="1"/>
          <p:nvPr/>
        </p:nvSpPr>
        <p:spPr>
          <a:xfrm>
            <a:off x="6858000" y="1892808"/>
            <a:ext cx="2468880" cy="292608"/>
          </a:xfrm>
          <a:prstGeom prst="rect">
            <a:avLst/>
          </a:prstGeom>
          <a:noFill/>
          <a:ln/>
        </p:spPr>
        <p:txBody>
          <a:bodyPr wrap="square" lIns="0" tIns="0" rIns="0" bIns="0" rtlCol="0" anchor="t"/>
          <a:lstStyle/>
          <a:p>
            <a:pPr marL="0" indent="0" algn="l">
              <a:lnSpc>
                <a:spcPct val="115000"/>
              </a:lnSpc>
              <a:buNone/>
            </a:pPr>
            <a:r>
              <a:rPr lang="en-US" sz="1600" b="1" dirty="0">
                <a:solidFill>
                  <a:srgbClr val="C2571E"/>
                </a:solidFill>
                <a:latin typeface="Calibri" pitchFamily="34" charset="0"/>
                <a:ea typeface="Calibri" pitchFamily="34" charset="-122"/>
                <a:cs typeface="Calibri" pitchFamily="34" charset="-120"/>
              </a:rPr>
              <a:t>China</a:t>
            </a:r>
            <a:endParaRPr lang="en-US" sz="1600" dirty="0"/>
          </a:p>
        </p:txBody>
      </p:sp>
      <p:sp>
        <p:nvSpPr>
          <p:cNvPr id="8" name="Text 5"/>
          <p:cNvSpPr txBox="1"/>
          <p:nvPr/>
        </p:nvSpPr>
        <p:spPr>
          <a:xfrm>
            <a:off x="9235440" y="1911096"/>
            <a:ext cx="2103120" cy="274320"/>
          </a:xfrm>
          <a:prstGeom prst="rect">
            <a:avLst/>
          </a:prstGeom>
          <a:noFill/>
          <a:ln/>
        </p:spPr>
        <p:txBody>
          <a:bodyPr wrap="square" lIns="0" tIns="0" rIns="0" bIns="0" rtlCol="0" anchor="t"/>
          <a:lstStyle/>
          <a:p>
            <a:pPr marL="0" indent="0" algn="r">
              <a:lnSpc>
                <a:spcPct val="115000"/>
              </a:lnSpc>
              <a:buNone/>
            </a:pPr>
            <a:r>
              <a:rPr lang="en-US" sz="1500" i="1" dirty="0">
                <a:solidFill>
                  <a:srgbClr val="566672"/>
                </a:solidFill>
                <a:latin typeface="Calibri" pitchFamily="34" charset="0"/>
                <a:ea typeface="Calibri" pitchFamily="34" charset="-122"/>
                <a:cs typeface="Calibri" pitchFamily="34" charset="-120"/>
              </a:rPr>
              <a:t>volume and price</a:t>
            </a:r>
            <a:endParaRPr lang="en-US" sz="1500" dirty="0"/>
          </a:p>
        </p:txBody>
      </p:sp>
      <p:sp>
        <p:nvSpPr>
          <p:cNvPr id="9" name="Text 6"/>
          <p:cNvSpPr txBox="1"/>
          <p:nvPr/>
        </p:nvSpPr>
        <p:spPr>
          <a:xfrm>
            <a:off x="6858000" y="2240280"/>
            <a:ext cx="4480560" cy="54864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Most companies, most units: Unitree and AgiBot are ~80% of shipments.</a:t>
            </a:r>
            <a:endParaRPr lang="en-US" sz="1500" dirty="0"/>
          </a:p>
        </p:txBody>
      </p:sp>
      <p:sp>
        <p:nvSpPr>
          <p:cNvPr id="10" name="Shape 7"/>
          <p:cNvSpPr/>
          <p:nvPr/>
        </p:nvSpPr>
        <p:spPr>
          <a:xfrm>
            <a:off x="6629400" y="2880360"/>
            <a:ext cx="4937760" cy="1051560"/>
          </a:xfrm>
          <a:prstGeom prst="roundRect">
            <a:avLst>
              <a:gd name="adj" fmla="val 5217"/>
            </a:avLst>
          </a:prstGeom>
          <a:solidFill>
            <a:srgbClr val="E1EFF2"/>
          </a:solidFill>
          <a:ln w="9525">
            <a:solidFill>
              <a:srgbClr val="BCD8DE"/>
            </a:solidFill>
            <a:prstDash val="solid"/>
          </a:ln>
        </p:spPr>
      </p:sp>
      <p:sp>
        <p:nvSpPr>
          <p:cNvPr id="11" name="Text 8"/>
          <p:cNvSpPr txBox="1"/>
          <p:nvPr/>
        </p:nvSpPr>
        <p:spPr>
          <a:xfrm>
            <a:off x="6858000" y="2990088"/>
            <a:ext cx="2468880" cy="292608"/>
          </a:xfrm>
          <a:prstGeom prst="rect">
            <a:avLst/>
          </a:prstGeom>
          <a:noFill/>
          <a:ln/>
        </p:spPr>
        <p:txBody>
          <a:bodyPr wrap="square" lIns="0" tIns="0" rIns="0" bIns="0" rtlCol="0" anchor="t"/>
          <a:lstStyle/>
          <a:p>
            <a:pPr marL="0" indent="0" algn="l">
              <a:lnSpc>
                <a:spcPct val="115000"/>
              </a:lnSpc>
              <a:buNone/>
            </a:pPr>
            <a:r>
              <a:rPr lang="en-US" sz="1600" b="1" dirty="0">
                <a:solidFill>
                  <a:srgbClr val="0F7186"/>
                </a:solidFill>
                <a:latin typeface="Calibri" pitchFamily="34" charset="0"/>
                <a:ea typeface="Calibri" pitchFamily="34" charset="-122"/>
                <a:cs typeface="Calibri" pitchFamily="34" charset="-120"/>
              </a:rPr>
              <a:t>United States</a:t>
            </a:r>
            <a:endParaRPr lang="en-US" sz="1600" dirty="0"/>
          </a:p>
        </p:txBody>
      </p:sp>
      <p:sp>
        <p:nvSpPr>
          <p:cNvPr id="12" name="Text 9"/>
          <p:cNvSpPr txBox="1"/>
          <p:nvPr/>
        </p:nvSpPr>
        <p:spPr>
          <a:xfrm>
            <a:off x="9235440" y="3008376"/>
            <a:ext cx="2103120" cy="274320"/>
          </a:xfrm>
          <a:prstGeom prst="rect">
            <a:avLst/>
          </a:prstGeom>
          <a:noFill/>
          <a:ln/>
        </p:spPr>
        <p:txBody>
          <a:bodyPr wrap="square" lIns="0" tIns="0" rIns="0" bIns="0" rtlCol="0" anchor="t"/>
          <a:lstStyle/>
          <a:p>
            <a:pPr marL="0" indent="0" algn="r">
              <a:lnSpc>
                <a:spcPct val="115000"/>
              </a:lnSpc>
              <a:buNone/>
            </a:pPr>
            <a:r>
              <a:rPr lang="en-US" sz="1500" i="1" dirty="0">
                <a:solidFill>
                  <a:srgbClr val="566672"/>
                </a:solidFill>
                <a:latin typeface="Calibri" pitchFamily="34" charset="0"/>
                <a:ea typeface="Calibri" pitchFamily="34" charset="-122"/>
                <a:cs typeface="Calibri" pitchFamily="34" charset="-120"/>
              </a:rPr>
              <a:t>capital and models</a:t>
            </a:r>
            <a:endParaRPr lang="en-US" sz="1500" dirty="0"/>
          </a:p>
        </p:txBody>
      </p:sp>
      <p:sp>
        <p:nvSpPr>
          <p:cNvPr id="13" name="Text 10"/>
          <p:cNvSpPr txBox="1"/>
          <p:nvPr/>
        </p:nvSpPr>
        <p:spPr>
          <a:xfrm>
            <a:off x="6858000" y="3337560"/>
            <a:ext cx="4480560" cy="54864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Largest valuations, nearly all the model labs. Autonomy over unit count.</a:t>
            </a:r>
            <a:endParaRPr lang="en-US" sz="1500" dirty="0"/>
          </a:p>
        </p:txBody>
      </p:sp>
      <p:sp>
        <p:nvSpPr>
          <p:cNvPr id="14" name="Shape 11"/>
          <p:cNvSpPr/>
          <p:nvPr/>
        </p:nvSpPr>
        <p:spPr>
          <a:xfrm>
            <a:off x="6629400" y="3977640"/>
            <a:ext cx="4937760" cy="1051560"/>
          </a:xfrm>
          <a:prstGeom prst="roundRect">
            <a:avLst>
              <a:gd name="adj" fmla="val 5217"/>
            </a:avLst>
          </a:prstGeom>
          <a:solidFill>
            <a:srgbClr val="EFE9F7"/>
          </a:solidFill>
          <a:ln w="9525">
            <a:solidFill>
              <a:srgbClr val="D9CDE9"/>
            </a:solidFill>
            <a:prstDash val="solid"/>
          </a:ln>
        </p:spPr>
      </p:sp>
      <p:sp>
        <p:nvSpPr>
          <p:cNvPr id="15" name="Text 12"/>
          <p:cNvSpPr txBox="1"/>
          <p:nvPr/>
        </p:nvSpPr>
        <p:spPr>
          <a:xfrm>
            <a:off x="6858000" y="4087368"/>
            <a:ext cx="2468880" cy="292608"/>
          </a:xfrm>
          <a:prstGeom prst="rect">
            <a:avLst/>
          </a:prstGeom>
          <a:noFill/>
          <a:ln/>
        </p:spPr>
        <p:txBody>
          <a:bodyPr wrap="square" lIns="0" tIns="0" rIns="0" bIns="0" rtlCol="0" anchor="t"/>
          <a:lstStyle/>
          <a:p>
            <a:pPr marL="0" indent="0" algn="l">
              <a:lnSpc>
                <a:spcPct val="115000"/>
              </a:lnSpc>
              <a:buNone/>
            </a:pPr>
            <a:r>
              <a:rPr lang="en-US" sz="1600" b="1" dirty="0">
                <a:solidFill>
                  <a:srgbClr val="6A3FA0"/>
                </a:solidFill>
                <a:latin typeface="Calibri" pitchFamily="34" charset="0"/>
                <a:ea typeface="Calibri" pitchFamily="34" charset="-122"/>
                <a:cs typeface="Calibri" pitchFamily="34" charset="-120"/>
              </a:rPr>
              <a:t>Germany · Europe</a:t>
            </a:r>
            <a:endParaRPr lang="en-US" sz="1600" dirty="0"/>
          </a:p>
        </p:txBody>
      </p:sp>
      <p:sp>
        <p:nvSpPr>
          <p:cNvPr id="16" name="Text 13"/>
          <p:cNvSpPr txBox="1"/>
          <p:nvPr/>
        </p:nvSpPr>
        <p:spPr>
          <a:xfrm>
            <a:off x="9235440" y="4105656"/>
            <a:ext cx="2103120" cy="274320"/>
          </a:xfrm>
          <a:prstGeom prst="rect">
            <a:avLst/>
          </a:prstGeom>
          <a:noFill/>
          <a:ln/>
        </p:spPr>
        <p:txBody>
          <a:bodyPr wrap="square" lIns="0" tIns="0" rIns="0" bIns="0" rtlCol="0" anchor="t"/>
          <a:lstStyle/>
          <a:p>
            <a:pPr marL="0" indent="0" algn="r">
              <a:lnSpc>
                <a:spcPct val="115000"/>
              </a:lnSpc>
              <a:buNone/>
            </a:pPr>
            <a:r>
              <a:rPr lang="en-US" sz="1500" i="1" dirty="0">
                <a:solidFill>
                  <a:srgbClr val="566672"/>
                </a:solidFill>
                <a:latin typeface="Calibri" pitchFamily="34" charset="0"/>
                <a:ea typeface="Calibri" pitchFamily="34" charset="-122"/>
                <a:cs typeface="Calibri" pitchFamily="34" charset="-120"/>
              </a:rPr>
              <a:t>industrial demand</a:t>
            </a:r>
            <a:endParaRPr lang="en-US" sz="1500" dirty="0"/>
          </a:p>
        </p:txBody>
      </p:sp>
      <p:sp>
        <p:nvSpPr>
          <p:cNvPr id="17" name="Text 14"/>
          <p:cNvSpPr txBox="1"/>
          <p:nvPr/>
        </p:nvSpPr>
        <p:spPr>
          <a:xfrm>
            <a:off x="6858000" y="4434840"/>
            <a:ext cx="4480560" cy="54864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Smaller funding, serious factory demand. NEURA leads; the UK has DeepMind.</a:t>
            </a:r>
            <a:endParaRPr lang="en-US" sz="1500" dirty="0"/>
          </a:p>
        </p:txBody>
      </p:sp>
      <p:sp>
        <p:nvSpPr>
          <p:cNvPr id="18" name="Shape 15"/>
          <p:cNvSpPr/>
          <p:nvPr/>
        </p:nvSpPr>
        <p:spPr>
          <a:xfrm>
            <a:off x="6629400" y="5074920"/>
            <a:ext cx="4937760" cy="1051560"/>
          </a:xfrm>
          <a:prstGeom prst="roundRect">
            <a:avLst>
              <a:gd name="adj" fmla="val 5217"/>
            </a:avLst>
          </a:prstGeom>
          <a:solidFill>
            <a:srgbClr val="FAF0DA"/>
          </a:solidFill>
          <a:ln w="9525">
            <a:solidFill>
              <a:srgbClr val="E5D3A6"/>
            </a:solidFill>
            <a:prstDash val="solid"/>
          </a:ln>
        </p:spPr>
      </p:sp>
      <p:sp>
        <p:nvSpPr>
          <p:cNvPr id="19" name="Text 16"/>
          <p:cNvSpPr txBox="1"/>
          <p:nvPr/>
        </p:nvSpPr>
        <p:spPr>
          <a:xfrm>
            <a:off x="6858000" y="5184648"/>
            <a:ext cx="2468880" cy="292608"/>
          </a:xfrm>
          <a:prstGeom prst="rect">
            <a:avLst/>
          </a:prstGeom>
          <a:noFill/>
          <a:ln/>
        </p:spPr>
        <p:txBody>
          <a:bodyPr wrap="square" lIns="0" tIns="0" rIns="0" bIns="0" rtlCol="0" anchor="t"/>
          <a:lstStyle/>
          <a:p>
            <a:pPr marL="0" indent="0" algn="l">
              <a:lnSpc>
                <a:spcPct val="115000"/>
              </a:lnSpc>
              <a:buNone/>
            </a:pPr>
            <a:r>
              <a:rPr lang="en-US" sz="1600" b="1" dirty="0" smtClean="0">
                <a:solidFill>
                  <a:srgbClr val="B77B0C"/>
                </a:solidFill>
                <a:latin typeface="Calibri" pitchFamily="34" charset="0"/>
                <a:ea typeface="Calibri" pitchFamily="34" charset="-122"/>
                <a:cs typeface="Calibri" pitchFamily="34" charset="-120"/>
              </a:rPr>
              <a:t>Japan</a:t>
            </a:r>
            <a:endParaRPr lang="en-US" sz="1600" dirty="0"/>
          </a:p>
        </p:txBody>
      </p:sp>
      <p:sp>
        <p:nvSpPr>
          <p:cNvPr id="20" name="Text 17"/>
          <p:cNvSpPr txBox="1"/>
          <p:nvPr/>
        </p:nvSpPr>
        <p:spPr>
          <a:xfrm>
            <a:off x="9235440" y="5202936"/>
            <a:ext cx="2103120" cy="274320"/>
          </a:xfrm>
          <a:prstGeom prst="rect">
            <a:avLst/>
          </a:prstGeom>
          <a:noFill/>
          <a:ln/>
        </p:spPr>
        <p:txBody>
          <a:bodyPr wrap="square" lIns="0" tIns="0" rIns="0" bIns="0" rtlCol="0" anchor="t"/>
          <a:lstStyle/>
          <a:p>
            <a:pPr marL="0" indent="0" algn="r">
              <a:lnSpc>
                <a:spcPct val="115000"/>
              </a:lnSpc>
              <a:buNone/>
            </a:pPr>
            <a:r>
              <a:rPr lang="en-US" sz="1500" i="1" dirty="0">
                <a:solidFill>
                  <a:srgbClr val="566672"/>
                </a:solidFill>
                <a:latin typeface="Calibri" pitchFamily="34" charset="0"/>
                <a:ea typeface="Calibri" pitchFamily="34" charset="-122"/>
                <a:cs typeface="Calibri" pitchFamily="34" charset="-120"/>
              </a:rPr>
              <a:t>parts and ownership</a:t>
            </a:r>
            <a:endParaRPr lang="en-US" sz="1500" dirty="0"/>
          </a:p>
        </p:txBody>
      </p:sp>
      <p:sp>
        <p:nvSpPr>
          <p:cNvPr id="21" name="Text 18"/>
          <p:cNvSpPr txBox="1"/>
          <p:nvPr/>
        </p:nvSpPr>
        <p:spPr>
          <a:xfrm>
            <a:off x="6858000" y="5532120"/>
            <a:ext cx="4480560" cy="54864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Actuators, sensors, factories. Hyundai owns Boston Dynamics.</a:t>
            </a:r>
            <a:endParaRPr lang="en-US" sz="1500" dirty="0"/>
          </a:p>
        </p:txBody>
      </p:sp>
      <p:sp>
        <p:nvSpPr>
          <p:cNvPr id="22" name="Shape 19"/>
          <p:cNvSpPr/>
          <p:nvPr/>
        </p:nvSpPr>
        <p:spPr>
          <a:xfrm>
            <a:off x="6629400" y="6236208"/>
            <a:ext cx="4937760" cy="457200"/>
          </a:xfrm>
          <a:prstGeom prst="roundRect">
            <a:avLst>
              <a:gd name="adj" fmla="val 12000"/>
            </a:avLst>
          </a:prstGeom>
          <a:solidFill>
            <a:srgbClr val="10202B"/>
          </a:solidFill>
          <a:ln/>
        </p:spPr>
      </p:sp>
      <p:sp>
        <p:nvSpPr>
          <p:cNvPr id="23" name="Text 20"/>
          <p:cNvSpPr txBox="1"/>
          <p:nvPr/>
        </p:nvSpPr>
        <p:spPr>
          <a:xfrm>
            <a:off x="6812280" y="6236208"/>
            <a:ext cx="4572000" cy="45720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North America took 58.7% of 2026 physical-AI venture dollars.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WHAT IS ACTUALLY DEPLOYED</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Robots running on these models</a:t>
            </a:r>
            <a:endParaRPr lang="en-US" sz="3800" dirty="0"/>
          </a:p>
        </p:txBody>
      </p:sp>
      <p:sp>
        <p:nvSpPr>
          <p:cNvPr id="4" name="Shape 2"/>
          <p:cNvSpPr/>
          <p:nvPr/>
        </p:nvSpPr>
        <p:spPr>
          <a:xfrm>
            <a:off x="640080" y="1600200"/>
            <a:ext cx="3520440" cy="2240280"/>
          </a:xfrm>
          <a:prstGeom prst="roundRect">
            <a:avLst>
              <a:gd name="adj" fmla="val 2449"/>
            </a:avLst>
          </a:prstGeom>
          <a:solidFill>
            <a:srgbClr val="FBEBE1"/>
          </a:solidFill>
          <a:ln w="9525">
            <a:solidFill>
              <a:srgbClr val="EBC7B0"/>
            </a:solidFill>
            <a:prstDash val="solid"/>
          </a:ln>
        </p:spPr>
      </p:sp>
      <p:pic>
        <p:nvPicPr>
          <p:cNvPr id="5" name="Image 0" descr="/home/claude/img/bot_figure.png"/>
          <p:cNvPicPr>
            <a:picLocks noChangeAspect="1"/>
          </p:cNvPicPr>
          <p:nvPr/>
        </p:nvPicPr>
        <p:blipFill>
          <a:blip r:embed="rId3"/>
          <a:stretch>
            <a:fillRect/>
          </a:stretch>
        </p:blipFill>
        <p:spPr>
          <a:xfrm>
            <a:off x="822960" y="2258568"/>
            <a:ext cx="685800" cy="914400"/>
          </a:xfrm>
          <a:prstGeom prst="rect">
            <a:avLst/>
          </a:prstGeom>
        </p:spPr>
      </p:pic>
      <p:sp>
        <p:nvSpPr>
          <p:cNvPr id="6" name="Text 3"/>
          <p:cNvSpPr txBox="1"/>
          <p:nvPr/>
        </p:nvSpPr>
        <p:spPr>
          <a:xfrm>
            <a:off x="1600200" y="1783080"/>
            <a:ext cx="2377440" cy="347472"/>
          </a:xfrm>
          <a:prstGeom prst="rect">
            <a:avLst/>
          </a:prstGeom>
          <a:noFill/>
          <a:ln/>
        </p:spPr>
        <p:txBody>
          <a:bodyPr wrap="square" lIns="0" tIns="0" rIns="0" bIns="0" rtlCol="0" anchor="t"/>
          <a:lstStyle/>
          <a:p>
            <a:pPr marL="0" indent="0" algn="l">
              <a:lnSpc>
                <a:spcPct val="115000"/>
              </a:lnSpc>
              <a:buNone/>
            </a:pPr>
            <a:r>
              <a:rPr lang="en-US" sz="1700" b="1" dirty="0">
                <a:solidFill>
                  <a:srgbClr val="C2571E"/>
                </a:solidFill>
                <a:latin typeface="Calibri" pitchFamily="34" charset="0"/>
                <a:ea typeface="Calibri" pitchFamily="34" charset="-122"/>
                <a:cs typeface="Calibri" pitchFamily="34" charset="-120"/>
              </a:rPr>
              <a:t>Figure 02</a:t>
            </a:r>
            <a:endParaRPr lang="en-US" sz="1700" dirty="0"/>
          </a:p>
        </p:txBody>
      </p:sp>
      <p:sp>
        <p:nvSpPr>
          <p:cNvPr id="7" name="Text 4"/>
          <p:cNvSpPr txBox="1"/>
          <p:nvPr/>
        </p:nvSpPr>
        <p:spPr>
          <a:xfrm>
            <a:off x="1600200" y="2148840"/>
            <a:ext cx="2377440" cy="292608"/>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Helix, in-house VLA</a:t>
            </a:r>
            <a:endParaRPr lang="en-US" sz="1500" dirty="0"/>
          </a:p>
        </p:txBody>
      </p:sp>
      <p:sp>
        <p:nvSpPr>
          <p:cNvPr id="8" name="Text 5"/>
          <p:cNvSpPr txBox="1"/>
          <p:nvPr/>
        </p:nvSpPr>
        <p:spPr>
          <a:xfrm>
            <a:off x="1600200" y="2514600"/>
            <a:ext cx="2377440" cy="11887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Builds the body and the model. Reported more robots running than employees in 2026.</a:t>
            </a:r>
            <a:endParaRPr lang="en-US" sz="1500" dirty="0"/>
          </a:p>
        </p:txBody>
      </p:sp>
      <p:sp>
        <p:nvSpPr>
          <p:cNvPr id="9" name="Shape 6"/>
          <p:cNvSpPr/>
          <p:nvPr/>
        </p:nvSpPr>
        <p:spPr>
          <a:xfrm>
            <a:off x="4366260" y="1600200"/>
            <a:ext cx="3520440" cy="2240280"/>
          </a:xfrm>
          <a:prstGeom prst="roundRect">
            <a:avLst>
              <a:gd name="adj" fmla="val 2449"/>
            </a:avLst>
          </a:prstGeom>
          <a:solidFill>
            <a:srgbClr val="EFE9F7"/>
          </a:solidFill>
          <a:ln w="9525">
            <a:solidFill>
              <a:srgbClr val="D9CDE9"/>
            </a:solidFill>
            <a:prstDash val="solid"/>
          </a:ln>
        </p:spPr>
      </p:sp>
      <p:pic>
        <p:nvPicPr>
          <p:cNvPr id="10" name="Image 1" descr="/home/claude/img/bot_atlas.png"/>
          <p:cNvPicPr>
            <a:picLocks noChangeAspect="1"/>
          </p:cNvPicPr>
          <p:nvPr/>
        </p:nvPicPr>
        <p:blipFill>
          <a:blip r:embed="rId4"/>
          <a:stretch>
            <a:fillRect/>
          </a:stretch>
        </p:blipFill>
        <p:spPr>
          <a:xfrm>
            <a:off x="4549140" y="2258568"/>
            <a:ext cx="685800" cy="914400"/>
          </a:xfrm>
          <a:prstGeom prst="rect">
            <a:avLst/>
          </a:prstGeom>
        </p:spPr>
      </p:pic>
      <p:sp>
        <p:nvSpPr>
          <p:cNvPr id="11" name="Text 7"/>
          <p:cNvSpPr txBox="1"/>
          <p:nvPr/>
        </p:nvSpPr>
        <p:spPr>
          <a:xfrm>
            <a:off x="5326380" y="1783080"/>
            <a:ext cx="2377440" cy="347472"/>
          </a:xfrm>
          <a:prstGeom prst="rect">
            <a:avLst/>
          </a:prstGeom>
          <a:noFill/>
          <a:ln/>
        </p:spPr>
        <p:txBody>
          <a:bodyPr wrap="square" lIns="0" tIns="0" rIns="0" bIns="0" rtlCol="0" anchor="t"/>
          <a:lstStyle/>
          <a:p>
            <a:pPr marL="0" indent="0" algn="l">
              <a:lnSpc>
                <a:spcPct val="115000"/>
              </a:lnSpc>
              <a:buNone/>
            </a:pPr>
            <a:r>
              <a:rPr lang="en-US" sz="1700" b="1" dirty="0">
                <a:solidFill>
                  <a:srgbClr val="6A3FA0"/>
                </a:solidFill>
                <a:latin typeface="Calibri" pitchFamily="34" charset="0"/>
                <a:ea typeface="Calibri" pitchFamily="34" charset="-122"/>
                <a:cs typeface="Calibri" pitchFamily="34" charset="-120"/>
              </a:rPr>
              <a:t>Atlas</a:t>
            </a:r>
            <a:endParaRPr lang="en-US" sz="1700" dirty="0"/>
          </a:p>
        </p:txBody>
      </p:sp>
      <p:sp>
        <p:nvSpPr>
          <p:cNvPr id="12" name="Text 8"/>
          <p:cNvSpPr txBox="1"/>
          <p:nvPr/>
        </p:nvSpPr>
        <p:spPr>
          <a:xfrm>
            <a:off x="5326380" y="2148840"/>
            <a:ext cx="2377440" cy="292608"/>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Gemini Robotics</a:t>
            </a:r>
            <a:endParaRPr lang="en-US" sz="1500" dirty="0"/>
          </a:p>
        </p:txBody>
      </p:sp>
      <p:sp>
        <p:nvSpPr>
          <p:cNvPr id="13" name="Text 9"/>
          <p:cNvSpPr txBox="1"/>
          <p:nvPr/>
        </p:nvSpPr>
        <p:spPr>
          <a:xfrm>
            <a:off x="5326380" y="2514600"/>
            <a:ext cx="2377440" cy="11887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Hardware from Boston Dynamics, brain from DeepMind — the clearest split of the two.</a:t>
            </a:r>
            <a:endParaRPr lang="en-US" sz="1500" dirty="0"/>
          </a:p>
        </p:txBody>
      </p:sp>
      <p:sp>
        <p:nvSpPr>
          <p:cNvPr id="14" name="Shape 10"/>
          <p:cNvSpPr/>
          <p:nvPr/>
        </p:nvSpPr>
        <p:spPr>
          <a:xfrm>
            <a:off x="8092440" y="1600200"/>
            <a:ext cx="3520440" cy="2240280"/>
          </a:xfrm>
          <a:prstGeom prst="roundRect">
            <a:avLst>
              <a:gd name="adj" fmla="val 2449"/>
            </a:avLst>
          </a:prstGeom>
          <a:solidFill>
            <a:srgbClr val="E1EFF2"/>
          </a:solidFill>
          <a:ln w="9525">
            <a:solidFill>
              <a:srgbClr val="BCD8DE"/>
            </a:solidFill>
            <a:prstDash val="solid"/>
          </a:ln>
        </p:spPr>
      </p:sp>
      <p:pic>
        <p:nvPicPr>
          <p:cNvPr id="15" name="Image 2" descr="/home/claude/img/bot_optimus.png"/>
          <p:cNvPicPr>
            <a:picLocks noChangeAspect="1"/>
          </p:cNvPicPr>
          <p:nvPr/>
        </p:nvPicPr>
        <p:blipFill>
          <a:blip r:embed="rId5"/>
          <a:stretch>
            <a:fillRect/>
          </a:stretch>
        </p:blipFill>
        <p:spPr>
          <a:xfrm>
            <a:off x="8275320" y="2258568"/>
            <a:ext cx="685800" cy="914400"/>
          </a:xfrm>
          <a:prstGeom prst="rect">
            <a:avLst/>
          </a:prstGeom>
        </p:spPr>
      </p:pic>
      <p:sp>
        <p:nvSpPr>
          <p:cNvPr id="16" name="Text 11"/>
          <p:cNvSpPr txBox="1"/>
          <p:nvPr/>
        </p:nvSpPr>
        <p:spPr>
          <a:xfrm>
            <a:off x="9052560" y="1783080"/>
            <a:ext cx="2377440" cy="347472"/>
          </a:xfrm>
          <a:prstGeom prst="rect">
            <a:avLst/>
          </a:prstGeom>
          <a:noFill/>
          <a:ln/>
        </p:spPr>
        <p:txBody>
          <a:bodyPr wrap="square" lIns="0" tIns="0" rIns="0" bIns="0" rtlCol="0" anchor="t"/>
          <a:lstStyle/>
          <a:p>
            <a:pPr marL="0" indent="0" algn="l">
              <a:lnSpc>
                <a:spcPct val="115000"/>
              </a:lnSpc>
              <a:buNone/>
            </a:pPr>
            <a:r>
              <a:rPr lang="en-US" sz="1700" b="1" dirty="0">
                <a:solidFill>
                  <a:srgbClr val="0F7186"/>
                </a:solidFill>
                <a:latin typeface="Calibri" pitchFamily="34" charset="0"/>
                <a:ea typeface="Calibri" pitchFamily="34" charset="-122"/>
                <a:cs typeface="Calibri" pitchFamily="34" charset="-120"/>
              </a:rPr>
              <a:t>Optimus</a:t>
            </a:r>
            <a:endParaRPr lang="en-US" sz="1700" dirty="0"/>
          </a:p>
        </p:txBody>
      </p:sp>
      <p:sp>
        <p:nvSpPr>
          <p:cNvPr id="17" name="Text 12"/>
          <p:cNvSpPr txBox="1"/>
          <p:nvPr/>
        </p:nvSpPr>
        <p:spPr>
          <a:xfrm>
            <a:off x="9052560" y="2148840"/>
            <a:ext cx="2377440" cy="292608"/>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in-house VLA</a:t>
            </a:r>
            <a:endParaRPr lang="en-US" sz="1500" dirty="0"/>
          </a:p>
        </p:txBody>
      </p:sp>
      <p:sp>
        <p:nvSpPr>
          <p:cNvPr id="18" name="Text 13"/>
          <p:cNvSpPr txBox="1"/>
          <p:nvPr/>
        </p:nvSpPr>
        <p:spPr>
          <a:xfrm>
            <a:off x="9052560" y="2514600"/>
            <a:ext cx="2377440" cy="11887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Architecture descends from the driving stack: camera in, joint commands out.</a:t>
            </a:r>
            <a:endParaRPr lang="en-US" sz="1500" dirty="0"/>
          </a:p>
        </p:txBody>
      </p:sp>
      <p:sp>
        <p:nvSpPr>
          <p:cNvPr id="19" name="Shape 14"/>
          <p:cNvSpPr/>
          <p:nvPr/>
        </p:nvSpPr>
        <p:spPr>
          <a:xfrm>
            <a:off x="640080" y="3977640"/>
            <a:ext cx="3520440" cy="2240280"/>
          </a:xfrm>
          <a:prstGeom prst="roundRect">
            <a:avLst>
              <a:gd name="adj" fmla="val 2449"/>
            </a:avLst>
          </a:prstGeom>
          <a:solidFill>
            <a:srgbClr val="FAF0DA"/>
          </a:solidFill>
          <a:ln w="9525">
            <a:solidFill>
              <a:srgbClr val="E5D3A6"/>
            </a:solidFill>
            <a:prstDash val="solid"/>
          </a:ln>
        </p:spPr>
      </p:sp>
      <p:pic>
        <p:nvPicPr>
          <p:cNvPr id="20" name="Image 3" descr="/home/claude/img/bot_digit.png"/>
          <p:cNvPicPr>
            <a:picLocks noChangeAspect="1"/>
          </p:cNvPicPr>
          <p:nvPr/>
        </p:nvPicPr>
        <p:blipFill>
          <a:blip r:embed="rId6"/>
          <a:stretch>
            <a:fillRect/>
          </a:stretch>
        </p:blipFill>
        <p:spPr>
          <a:xfrm>
            <a:off x="822960" y="4636008"/>
            <a:ext cx="685800" cy="914400"/>
          </a:xfrm>
          <a:prstGeom prst="rect">
            <a:avLst/>
          </a:prstGeom>
        </p:spPr>
      </p:pic>
      <p:sp>
        <p:nvSpPr>
          <p:cNvPr id="21" name="Text 15"/>
          <p:cNvSpPr txBox="1"/>
          <p:nvPr/>
        </p:nvSpPr>
        <p:spPr>
          <a:xfrm>
            <a:off x="1600200" y="4160520"/>
            <a:ext cx="2377440" cy="347472"/>
          </a:xfrm>
          <a:prstGeom prst="rect">
            <a:avLst/>
          </a:prstGeom>
          <a:noFill/>
          <a:ln/>
        </p:spPr>
        <p:txBody>
          <a:bodyPr wrap="square" lIns="0" tIns="0" rIns="0" bIns="0" rtlCol="0" anchor="t"/>
          <a:lstStyle/>
          <a:p>
            <a:pPr marL="0" indent="0" algn="l">
              <a:lnSpc>
                <a:spcPct val="115000"/>
              </a:lnSpc>
              <a:buNone/>
            </a:pPr>
            <a:r>
              <a:rPr lang="en-US" sz="1700" b="1" dirty="0">
                <a:solidFill>
                  <a:srgbClr val="B77B0C"/>
                </a:solidFill>
                <a:latin typeface="Calibri" pitchFamily="34" charset="0"/>
                <a:ea typeface="Calibri" pitchFamily="34" charset="-122"/>
                <a:cs typeface="Calibri" pitchFamily="34" charset="-120"/>
              </a:rPr>
              <a:t>Digit</a:t>
            </a:r>
            <a:endParaRPr lang="en-US" sz="1700" dirty="0"/>
          </a:p>
        </p:txBody>
      </p:sp>
      <p:sp>
        <p:nvSpPr>
          <p:cNvPr id="22" name="Text 16"/>
          <p:cNvSpPr txBox="1"/>
          <p:nvPr/>
        </p:nvSpPr>
        <p:spPr>
          <a:xfrm>
            <a:off x="1600200" y="4526280"/>
            <a:ext cx="2377440" cy="292608"/>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in-house policies</a:t>
            </a:r>
            <a:endParaRPr lang="en-US" sz="1500" dirty="0"/>
          </a:p>
        </p:txBody>
      </p:sp>
      <p:sp>
        <p:nvSpPr>
          <p:cNvPr id="23" name="Text 17"/>
          <p:cNvSpPr txBox="1"/>
          <p:nvPr/>
        </p:nvSpPr>
        <p:spPr>
          <a:xfrm>
            <a:off x="1600200" y="4892040"/>
            <a:ext cx="2377440" cy="11887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The least humanoid-looking here, and furthest along in paid warehouse work.</a:t>
            </a:r>
            <a:endParaRPr lang="en-US" sz="1500" dirty="0"/>
          </a:p>
        </p:txBody>
      </p:sp>
      <p:sp>
        <p:nvSpPr>
          <p:cNvPr id="24" name="Shape 18"/>
          <p:cNvSpPr/>
          <p:nvPr/>
        </p:nvSpPr>
        <p:spPr>
          <a:xfrm>
            <a:off x="4366260" y="3977640"/>
            <a:ext cx="3520440" cy="2240280"/>
          </a:xfrm>
          <a:prstGeom prst="roundRect">
            <a:avLst>
              <a:gd name="adj" fmla="val 2449"/>
            </a:avLst>
          </a:prstGeom>
          <a:solidFill>
            <a:srgbClr val="E2F0EA"/>
          </a:solidFill>
          <a:ln w="9525">
            <a:solidFill>
              <a:srgbClr val="BEDACE"/>
            </a:solidFill>
            <a:prstDash val="solid"/>
          </a:ln>
        </p:spPr>
      </p:sp>
      <p:pic>
        <p:nvPicPr>
          <p:cNvPr id="25" name="Image 4" descr="/home/claude/img/bot_apollo.png"/>
          <p:cNvPicPr>
            <a:picLocks noChangeAspect="1"/>
          </p:cNvPicPr>
          <p:nvPr/>
        </p:nvPicPr>
        <p:blipFill>
          <a:blip r:embed="rId7"/>
          <a:stretch>
            <a:fillRect/>
          </a:stretch>
        </p:blipFill>
        <p:spPr>
          <a:xfrm>
            <a:off x="4549140" y="4636008"/>
            <a:ext cx="685800" cy="914400"/>
          </a:xfrm>
          <a:prstGeom prst="rect">
            <a:avLst/>
          </a:prstGeom>
        </p:spPr>
      </p:pic>
      <p:sp>
        <p:nvSpPr>
          <p:cNvPr id="26" name="Text 19"/>
          <p:cNvSpPr txBox="1"/>
          <p:nvPr/>
        </p:nvSpPr>
        <p:spPr>
          <a:xfrm>
            <a:off x="5326380" y="4160520"/>
            <a:ext cx="2377440" cy="347472"/>
          </a:xfrm>
          <a:prstGeom prst="rect">
            <a:avLst/>
          </a:prstGeom>
          <a:noFill/>
          <a:ln/>
        </p:spPr>
        <p:txBody>
          <a:bodyPr wrap="square" lIns="0" tIns="0" rIns="0" bIns="0" rtlCol="0" anchor="t"/>
          <a:lstStyle/>
          <a:p>
            <a:pPr marL="0" indent="0" algn="l">
              <a:lnSpc>
                <a:spcPct val="115000"/>
              </a:lnSpc>
              <a:buNone/>
            </a:pPr>
            <a:r>
              <a:rPr lang="en-US" sz="1700" b="1" dirty="0">
                <a:solidFill>
                  <a:srgbClr val="1F7A55"/>
                </a:solidFill>
                <a:latin typeface="Calibri" pitchFamily="34" charset="0"/>
                <a:ea typeface="Calibri" pitchFamily="34" charset="-122"/>
                <a:cs typeface="Calibri" pitchFamily="34" charset="-120"/>
              </a:rPr>
              <a:t>Apollo</a:t>
            </a:r>
            <a:endParaRPr lang="en-US" sz="1700" dirty="0"/>
          </a:p>
        </p:txBody>
      </p:sp>
      <p:sp>
        <p:nvSpPr>
          <p:cNvPr id="27" name="Text 20"/>
          <p:cNvSpPr txBox="1"/>
          <p:nvPr/>
        </p:nvSpPr>
        <p:spPr>
          <a:xfrm>
            <a:off x="5326380" y="4526280"/>
            <a:ext cx="2377440" cy="292608"/>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Gemini Robotics On-Device</a:t>
            </a:r>
            <a:endParaRPr lang="en-US" sz="1500" dirty="0"/>
          </a:p>
        </p:txBody>
      </p:sp>
      <p:sp>
        <p:nvSpPr>
          <p:cNvPr id="28" name="Text 21"/>
          <p:cNvSpPr txBox="1"/>
          <p:nvPr/>
        </p:nvSpPr>
        <p:spPr>
          <a:xfrm>
            <a:off x="5326380" y="4892040"/>
            <a:ext cx="2377440" cy="11887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Automotive work; the on-device model runs locally and learns from ~50 demos.</a:t>
            </a:r>
            <a:endParaRPr lang="en-US" sz="1500" dirty="0"/>
          </a:p>
        </p:txBody>
      </p:sp>
      <p:sp>
        <p:nvSpPr>
          <p:cNvPr id="29" name="Shape 22"/>
          <p:cNvSpPr/>
          <p:nvPr/>
        </p:nvSpPr>
        <p:spPr>
          <a:xfrm>
            <a:off x="8092440" y="3977640"/>
            <a:ext cx="3520440" cy="2240280"/>
          </a:xfrm>
          <a:prstGeom prst="roundRect">
            <a:avLst>
              <a:gd name="adj" fmla="val 2449"/>
            </a:avLst>
          </a:prstGeom>
          <a:solidFill>
            <a:srgbClr val="EEF2F5"/>
          </a:solidFill>
          <a:ln w="9525">
            <a:solidFill>
              <a:srgbClr val="C9D3DA"/>
            </a:solidFill>
            <a:prstDash val="solid"/>
          </a:ln>
        </p:spPr>
      </p:sp>
      <p:pic>
        <p:nvPicPr>
          <p:cNvPr id="30" name="Image 5" descr="/home/claude/img/bot_fleet.png"/>
          <p:cNvPicPr>
            <a:picLocks noChangeAspect="1"/>
          </p:cNvPicPr>
          <p:nvPr/>
        </p:nvPicPr>
        <p:blipFill>
          <a:blip r:embed="rId8"/>
          <a:stretch>
            <a:fillRect/>
          </a:stretch>
        </p:blipFill>
        <p:spPr>
          <a:xfrm>
            <a:off x="8275320" y="4636008"/>
            <a:ext cx="685800" cy="914400"/>
          </a:xfrm>
          <a:prstGeom prst="rect">
            <a:avLst/>
          </a:prstGeom>
        </p:spPr>
      </p:pic>
      <p:sp>
        <p:nvSpPr>
          <p:cNvPr id="31" name="Text 23"/>
          <p:cNvSpPr txBox="1"/>
          <p:nvPr/>
        </p:nvSpPr>
        <p:spPr>
          <a:xfrm>
            <a:off x="9052560" y="4160520"/>
            <a:ext cx="2377440" cy="347472"/>
          </a:xfrm>
          <a:prstGeom prst="rect">
            <a:avLst/>
          </a:prstGeom>
          <a:noFill/>
          <a:ln/>
        </p:spPr>
        <p:txBody>
          <a:bodyPr wrap="square" lIns="0" tIns="0" rIns="0" bIns="0" rtlCol="0" anchor="t"/>
          <a:lstStyle/>
          <a:p>
            <a:pPr marL="0" indent="0" algn="l">
              <a:lnSpc>
                <a:spcPct val="115000"/>
              </a:lnSpc>
              <a:buNone/>
            </a:pPr>
            <a:r>
              <a:rPr lang="en-US" sz="1700" b="1" dirty="0">
                <a:solidFill>
                  <a:srgbClr val="566672"/>
                </a:solidFill>
                <a:latin typeface="Calibri" pitchFamily="34" charset="0"/>
                <a:ea typeface="Calibri" pitchFamily="34" charset="-122"/>
                <a:cs typeface="Calibri" pitchFamily="34" charset="-120"/>
              </a:rPr>
              <a:t>Unitree G1 · AgiBot</a:t>
            </a:r>
            <a:endParaRPr lang="en-US" sz="1700" dirty="0"/>
          </a:p>
        </p:txBody>
      </p:sp>
      <p:sp>
        <p:nvSpPr>
          <p:cNvPr id="32" name="Text 24"/>
          <p:cNvSpPr txBox="1"/>
          <p:nvPr/>
        </p:nvSpPr>
        <p:spPr>
          <a:xfrm>
            <a:off x="9052560" y="4526280"/>
            <a:ext cx="2377440" cy="292608"/>
          </a:xfrm>
          <a:prstGeom prst="rect">
            <a:avLst/>
          </a:prstGeom>
          <a:noFill/>
          <a:ln/>
        </p:spPr>
        <p:txBody>
          <a:bodyPr wrap="square" lIns="0" tIns="0" rIns="0" bIns="0" rtlCol="0" anchor="t"/>
          <a:lstStyle/>
          <a:p>
            <a:pPr marL="0" indent="0" algn="l">
              <a:lnSpc>
                <a:spcPct val="115000"/>
              </a:lnSpc>
              <a:buNone/>
            </a:pPr>
            <a:r>
              <a:rPr lang="en-US" sz="1500" i="1" dirty="0">
                <a:solidFill>
                  <a:srgbClr val="566672"/>
                </a:solidFill>
                <a:latin typeface="Calibri" pitchFamily="34" charset="0"/>
                <a:ea typeface="Calibri" pitchFamily="34" charset="-122"/>
                <a:cs typeface="Calibri" pitchFamily="34" charset="-120"/>
              </a:rPr>
              <a:t>open and in-house models</a:t>
            </a:r>
            <a:endParaRPr lang="en-US" sz="1500" dirty="0"/>
          </a:p>
        </p:txBody>
      </p:sp>
      <p:sp>
        <p:nvSpPr>
          <p:cNvPr id="33" name="Text 25"/>
          <p:cNvSpPr txBox="1"/>
          <p:nvPr/>
        </p:nvSpPr>
        <p:spPr>
          <a:xfrm>
            <a:off x="9052560" y="4892040"/>
            <a:ext cx="2377440" cy="11887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Volume manufacturing and open datasets. AgiBot passed 10,000 humanoids in 2026.</a:t>
            </a:r>
            <a:endParaRPr lang="en-US" sz="1500" dirty="0"/>
          </a:p>
        </p:txBody>
      </p:sp>
      <p:sp>
        <p:nvSpPr>
          <p:cNvPr id="34" name="Text 26"/>
          <p:cNvSpPr txBox="1"/>
          <p:nvPr/>
        </p:nvSpPr>
        <p:spPr>
          <a:xfrm>
            <a:off x="640080" y="6400800"/>
            <a:ext cx="10927080" cy="384048"/>
          </a:xfrm>
          <a:prstGeom prst="rect">
            <a:avLst/>
          </a:prstGeom>
          <a:noFill/>
          <a:ln/>
        </p:spPr>
        <p:txBody>
          <a:bodyPr wrap="square" lIns="0" tIns="0" rIns="0" bIns="0" rtlCol="0" anchor="t"/>
          <a:lstStyle/>
          <a:p>
            <a:pPr marL="0" indent="0" algn="l">
              <a:lnSpc>
                <a:spcPct val="115000"/>
              </a:lnSpc>
              <a:buNone/>
            </a:pPr>
            <a:r>
              <a:rPr lang="en-US" sz="1500" b="1" i="1" dirty="0">
                <a:solidFill>
                  <a:srgbClr val="C2571E"/>
                </a:solidFill>
                <a:latin typeface="Calibri" pitchFamily="34" charset="0"/>
                <a:ea typeface="Calibri" pitchFamily="34" charset="-122"/>
                <a:cs typeface="Calibri" pitchFamily="34" charset="-120"/>
              </a:rPr>
              <a:t>Read this with the evidence ladder in mind: almost all of it is pilots and early paid deployments.</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pic>
        <p:nvPicPr>
          <p:cNvPr id="2" name="Image 0" descr="/mnt/user-data/uploads/31.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OPEN PROBLEMS</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The frontiers — what is actually unsolved</a:t>
            </a:r>
            <a:endParaRPr lang="en-US" sz="3800" dirty="0"/>
          </a:p>
        </p:txBody>
      </p:sp>
      <p:sp>
        <p:nvSpPr>
          <p:cNvPr id="4" name="Shape 2"/>
          <p:cNvSpPr/>
          <p:nvPr/>
        </p:nvSpPr>
        <p:spPr>
          <a:xfrm>
            <a:off x="640080" y="1645920"/>
            <a:ext cx="3520440" cy="2194560"/>
          </a:xfrm>
          <a:prstGeom prst="roundRect">
            <a:avLst>
              <a:gd name="adj" fmla="val 2500"/>
            </a:avLst>
          </a:prstGeom>
          <a:solidFill>
            <a:srgbClr val="FBEBE1"/>
          </a:solidFill>
          <a:ln w="9525">
            <a:solidFill>
              <a:srgbClr val="EBC7B0"/>
            </a:solidFill>
            <a:prstDash val="solid"/>
          </a:ln>
        </p:spPr>
      </p:sp>
      <p:sp>
        <p:nvSpPr>
          <p:cNvPr id="5" name="Text 3"/>
          <p:cNvSpPr txBox="1"/>
          <p:nvPr/>
        </p:nvSpPr>
        <p:spPr>
          <a:xfrm>
            <a:off x="868680" y="1828800"/>
            <a:ext cx="3108960" cy="365760"/>
          </a:xfrm>
          <a:prstGeom prst="rect">
            <a:avLst/>
          </a:prstGeom>
          <a:noFill/>
          <a:ln/>
        </p:spPr>
        <p:txBody>
          <a:bodyPr wrap="square" lIns="0" tIns="0" rIns="0" bIns="0" rtlCol="0" anchor="t"/>
          <a:lstStyle/>
          <a:p>
            <a:pPr marL="0" indent="0" algn="l">
              <a:lnSpc>
                <a:spcPct val="115000"/>
              </a:lnSpc>
              <a:buNone/>
            </a:pPr>
            <a:r>
              <a:rPr lang="en-US" sz="1700" b="1" dirty="0">
                <a:solidFill>
                  <a:srgbClr val="C2571E"/>
                </a:solidFill>
                <a:latin typeface="Calibri" pitchFamily="34" charset="0"/>
                <a:ea typeface="Calibri" pitchFamily="34" charset="-122"/>
                <a:cs typeface="Calibri" pitchFamily="34" charset="-120"/>
              </a:rPr>
              <a:t>Hands and touch</a:t>
            </a:r>
            <a:endParaRPr lang="en-US" sz="1700" dirty="0"/>
          </a:p>
        </p:txBody>
      </p:sp>
      <p:sp>
        <p:nvSpPr>
          <p:cNvPr id="6" name="Text 4"/>
          <p:cNvSpPr txBox="1"/>
          <p:nvPr/>
        </p:nvSpPr>
        <p:spPr>
          <a:xfrm>
            <a:off x="868680" y="2304288"/>
            <a:ext cx="3108960" cy="146304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Legs are close to solved; hands are not. Dexterous manipulation needs tactile sensing that is still expensive, fragile and thinly covered by data.</a:t>
            </a:r>
            <a:endParaRPr lang="en-US" sz="1500" dirty="0"/>
          </a:p>
        </p:txBody>
      </p:sp>
      <p:sp>
        <p:nvSpPr>
          <p:cNvPr id="7" name="Shape 5"/>
          <p:cNvSpPr/>
          <p:nvPr/>
        </p:nvSpPr>
        <p:spPr>
          <a:xfrm>
            <a:off x="4366260" y="1645920"/>
            <a:ext cx="3520440" cy="2194560"/>
          </a:xfrm>
          <a:prstGeom prst="roundRect">
            <a:avLst>
              <a:gd name="adj" fmla="val 2500"/>
            </a:avLst>
          </a:prstGeom>
          <a:solidFill>
            <a:srgbClr val="E1EFF2"/>
          </a:solidFill>
          <a:ln w="9525">
            <a:solidFill>
              <a:srgbClr val="BCD8DE"/>
            </a:solidFill>
            <a:prstDash val="solid"/>
          </a:ln>
        </p:spPr>
      </p:sp>
      <p:sp>
        <p:nvSpPr>
          <p:cNvPr id="8" name="Text 6"/>
          <p:cNvSpPr txBox="1"/>
          <p:nvPr/>
        </p:nvSpPr>
        <p:spPr>
          <a:xfrm>
            <a:off x="4594860" y="1828800"/>
            <a:ext cx="3108960" cy="365760"/>
          </a:xfrm>
          <a:prstGeom prst="rect">
            <a:avLst/>
          </a:prstGeom>
          <a:noFill/>
          <a:ln/>
        </p:spPr>
        <p:txBody>
          <a:bodyPr wrap="square" lIns="0" tIns="0" rIns="0" bIns="0" rtlCol="0" anchor="t"/>
          <a:lstStyle/>
          <a:p>
            <a:pPr marL="0" indent="0" algn="l">
              <a:lnSpc>
                <a:spcPct val="115000"/>
              </a:lnSpc>
              <a:buNone/>
            </a:pPr>
            <a:r>
              <a:rPr lang="en-US" sz="1700" b="1" dirty="0">
                <a:solidFill>
                  <a:srgbClr val="0F7186"/>
                </a:solidFill>
                <a:latin typeface="Calibri" pitchFamily="34" charset="0"/>
                <a:ea typeface="Calibri" pitchFamily="34" charset="-122"/>
                <a:cs typeface="Calibri" pitchFamily="34" charset="-120"/>
              </a:rPr>
              <a:t>Cross-embodiment</a:t>
            </a:r>
            <a:endParaRPr lang="en-US" sz="1700" dirty="0"/>
          </a:p>
        </p:txBody>
      </p:sp>
      <p:sp>
        <p:nvSpPr>
          <p:cNvPr id="9" name="Text 7"/>
          <p:cNvSpPr txBox="1"/>
          <p:nvPr/>
        </p:nvSpPr>
        <p:spPr>
          <a:xfrm>
            <a:off x="4594860" y="2304288"/>
            <a:ext cx="3108960" cy="146304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One model, many bodies. Transferring a policy between robots with different arms and joint counts still costs far more retraining than the pitch suggests.</a:t>
            </a:r>
            <a:endParaRPr lang="en-US" sz="1500" dirty="0"/>
          </a:p>
        </p:txBody>
      </p:sp>
      <p:sp>
        <p:nvSpPr>
          <p:cNvPr id="10" name="Shape 8"/>
          <p:cNvSpPr/>
          <p:nvPr/>
        </p:nvSpPr>
        <p:spPr>
          <a:xfrm>
            <a:off x="8092440" y="1645920"/>
            <a:ext cx="3520440" cy="2194560"/>
          </a:xfrm>
          <a:prstGeom prst="roundRect">
            <a:avLst>
              <a:gd name="adj" fmla="val 2500"/>
            </a:avLst>
          </a:prstGeom>
          <a:solidFill>
            <a:srgbClr val="EFE9F7"/>
          </a:solidFill>
          <a:ln w="9525">
            <a:solidFill>
              <a:srgbClr val="D9CDE9"/>
            </a:solidFill>
            <a:prstDash val="solid"/>
          </a:ln>
        </p:spPr>
      </p:sp>
      <p:sp>
        <p:nvSpPr>
          <p:cNvPr id="11" name="Text 9"/>
          <p:cNvSpPr txBox="1"/>
          <p:nvPr/>
        </p:nvSpPr>
        <p:spPr>
          <a:xfrm>
            <a:off x="8321040" y="1828800"/>
            <a:ext cx="3108960" cy="365760"/>
          </a:xfrm>
          <a:prstGeom prst="rect">
            <a:avLst/>
          </a:prstGeom>
          <a:noFill/>
          <a:ln/>
        </p:spPr>
        <p:txBody>
          <a:bodyPr wrap="square" lIns="0" tIns="0" rIns="0" bIns="0" rtlCol="0" anchor="t"/>
          <a:lstStyle/>
          <a:p>
            <a:pPr marL="0" indent="0" algn="l">
              <a:lnSpc>
                <a:spcPct val="115000"/>
              </a:lnSpc>
              <a:buNone/>
            </a:pPr>
            <a:r>
              <a:rPr lang="en-US" sz="1700" b="1" dirty="0">
                <a:solidFill>
                  <a:srgbClr val="6A3FA0"/>
                </a:solidFill>
                <a:latin typeface="Calibri" pitchFamily="34" charset="0"/>
                <a:ea typeface="Calibri" pitchFamily="34" charset="-122"/>
                <a:cs typeface="Calibri" pitchFamily="34" charset="-120"/>
              </a:rPr>
              <a:t>Long-horizon autonomy</a:t>
            </a:r>
            <a:endParaRPr lang="en-US" sz="1700" dirty="0"/>
          </a:p>
        </p:txBody>
      </p:sp>
      <p:sp>
        <p:nvSpPr>
          <p:cNvPr id="12" name="Text 10"/>
          <p:cNvSpPr txBox="1"/>
          <p:nvPr/>
        </p:nvSpPr>
        <p:spPr>
          <a:xfrm>
            <a:off x="8321040" y="2304288"/>
            <a:ext cx="3108960" cy="146304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Most demos are seconds long. Tasks that run for minutes need memory, failure recovery and the judgement to notice that something has already gone wrong.</a:t>
            </a:r>
            <a:endParaRPr lang="en-US" sz="1500" dirty="0"/>
          </a:p>
        </p:txBody>
      </p:sp>
      <p:sp>
        <p:nvSpPr>
          <p:cNvPr id="13" name="Shape 11"/>
          <p:cNvSpPr/>
          <p:nvPr/>
        </p:nvSpPr>
        <p:spPr>
          <a:xfrm>
            <a:off x="640080" y="3977640"/>
            <a:ext cx="3520440" cy="2194560"/>
          </a:xfrm>
          <a:prstGeom prst="roundRect">
            <a:avLst>
              <a:gd name="adj" fmla="val 2500"/>
            </a:avLst>
          </a:prstGeom>
          <a:solidFill>
            <a:srgbClr val="FAF0DA"/>
          </a:solidFill>
          <a:ln w="9525">
            <a:solidFill>
              <a:srgbClr val="E5D3A6"/>
            </a:solidFill>
            <a:prstDash val="solid"/>
          </a:ln>
        </p:spPr>
      </p:sp>
      <p:sp>
        <p:nvSpPr>
          <p:cNvPr id="14" name="Text 12"/>
          <p:cNvSpPr txBox="1"/>
          <p:nvPr/>
        </p:nvSpPr>
        <p:spPr>
          <a:xfrm>
            <a:off x="868680" y="4160520"/>
            <a:ext cx="3108960" cy="365760"/>
          </a:xfrm>
          <a:prstGeom prst="rect">
            <a:avLst/>
          </a:prstGeom>
          <a:noFill/>
          <a:ln/>
        </p:spPr>
        <p:txBody>
          <a:bodyPr wrap="square" lIns="0" tIns="0" rIns="0" bIns="0" rtlCol="0" anchor="t"/>
          <a:lstStyle/>
          <a:p>
            <a:pPr marL="0" indent="0" algn="l">
              <a:lnSpc>
                <a:spcPct val="115000"/>
              </a:lnSpc>
              <a:buNone/>
            </a:pPr>
            <a:r>
              <a:rPr lang="en-US" sz="1700" b="1" dirty="0">
                <a:solidFill>
                  <a:srgbClr val="B77B0C"/>
                </a:solidFill>
                <a:latin typeface="Calibri" pitchFamily="34" charset="0"/>
                <a:ea typeface="Calibri" pitchFamily="34" charset="-122"/>
                <a:cs typeface="Calibri" pitchFamily="34" charset="-120"/>
              </a:rPr>
              <a:t>Evaluation</a:t>
            </a:r>
            <a:endParaRPr lang="en-US" sz="1700" dirty="0"/>
          </a:p>
        </p:txBody>
      </p:sp>
      <p:sp>
        <p:nvSpPr>
          <p:cNvPr id="15" name="Text 13"/>
          <p:cNvSpPr txBox="1"/>
          <p:nvPr/>
        </p:nvSpPr>
        <p:spPr>
          <a:xfrm>
            <a:off x="868680" y="4636008"/>
            <a:ext cx="3108960" cy="146304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There is no agreed benchmark. Success rates are reported on private task sets, so numbers between labs rarely compare, and simulation scores overstate real performance.</a:t>
            </a:r>
            <a:endParaRPr lang="en-US" sz="1500" dirty="0"/>
          </a:p>
        </p:txBody>
      </p:sp>
      <p:sp>
        <p:nvSpPr>
          <p:cNvPr id="16" name="Shape 14"/>
          <p:cNvSpPr/>
          <p:nvPr/>
        </p:nvSpPr>
        <p:spPr>
          <a:xfrm>
            <a:off x="4366260" y="3977640"/>
            <a:ext cx="3520440" cy="2194560"/>
          </a:xfrm>
          <a:prstGeom prst="roundRect">
            <a:avLst>
              <a:gd name="adj" fmla="val 2500"/>
            </a:avLst>
          </a:prstGeom>
          <a:solidFill>
            <a:srgbClr val="E2F0EA"/>
          </a:solidFill>
          <a:ln w="9525">
            <a:solidFill>
              <a:srgbClr val="BEDACE"/>
            </a:solidFill>
            <a:prstDash val="solid"/>
          </a:ln>
        </p:spPr>
      </p:sp>
      <p:sp>
        <p:nvSpPr>
          <p:cNvPr id="17" name="Text 15"/>
          <p:cNvSpPr txBox="1"/>
          <p:nvPr/>
        </p:nvSpPr>
        <p:spPr>
          <a:xfrm>
            <a:off x="4594860" y="4160520"/>
            <a:ext cx="3108960" cy="365760"/>
          </a:xfrm>
          <a:prstGeom prst="rect">
            <a:avLst/>
          </a:prstGeom>
          <a:noFill/>
          <a:ln/>
        </p:spPr>
        <p:txBody>
          <a:bodyPr wrap="square" lIns="0" tIns="0" rIns="0" bIns="0" rtlCol="0" anchor="t"/>
          <a:lstStyle/>
          <a:p>
            <a:pPr marL="0" indent="0" algn="l">
              <a:lnSpc>
                <a:spcPct val="115000"/>
              </a:lnSpc>
              <a:buNone/>
            </a:pPr>
            <a:r>
              <a:rPr lang="en-US" sz="1700" b="1" dirty="0">
                <a:solidFill>
                  <a:srgbClr val="1F7A55"/>
                </a:solidFill>
                <a:latin typeface="Calibri" pitchFamily="34" charset="0"/>
                <a:ea typeface="Calibri" pitchFamily="34" charset="-122"/>
                <a:cs typeface="Calibri" pitchFamily="34" charset="-120"/>
              </a:rPr>
              <a:t>Learned simulators</a:t>
            </a:r>
            <a:endParaRPr lang="en-US" sz="1700" dirty="0"/>
          </a:p>
        </p:txBody>
      </p:sp>
      <p:sp>
        <p:nvSpPr>
          <p:cNvPr id="18" name="Text 16"/>
          <p:cNvSpPr txBox="1"/>
          <p:nvPr/>
        </p:nvSpPr>
        <p:spPr>
          <a:xfrm>
            <a:off x="4594860" y="4636008"/>
            <a:ext cx="3108960" cy="146304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Can a world model replace a physics engine? Today it substitutes in narrow cases but cannot guarantee physical law or stay consistent over long rollouts.</a:t>
            </a:r>
            <a:endParaRPr lang="en-US" sz="1500" dirty="0"/>
          </a:p>
        </p:txBody>
      </p:sp>
      <p:sp>
        <p:nvSpPr>
          <p:cNvPr id="19" name="Shape 17"/>
          <p:cNvSpPr/>
          <p:nvPr/>
        </p:nvSpPr>
        <p:spPr>
          <a:xfrm>
            <a:off x="8092440" y="3977640"/>
            <a:ext cx="3520440" cy="2194560"/>
          </a:xfrm>
          <a:prstGeom prst="roundRect">
            <a:avLst>
              <a:gd name="adj" fmla="val 2500"/>
            </a:avLst>
          </a:prstGeom>
          <a:solidFill>
            <a:srgbClr val="EEF2F5"/>
          </a:solidFill>
          <a:ln w="9525">
            <a:solidFill>
              <a:srgbClr val="C9D3DA"/>
            </a:solidFill>
            <a:prstDash val="solid"/>
          </a:ln>
        </p:spPr>
      </p:sp>
      <p:sp>
        <p:nvSpPr>
          <p:cNvPr id="20" name="Text 18"/>
          <p:cNvSpPr txBox="1"/>
          <p:nvPr/>
        </p:nvSpPr>
        <p:spPr>
          <a:xfrm>
            <a:off x="8321040" y="4160520"/>
            <a:ext cx="3108960" cy="365760"/>
          </a:xfrm>
          <a:prstGeom prst="rect">
            <a:avLst/>
          </a:prstGeom>
          <a:noFill/>
          <a:ln/>
        </p:spPr>
        <p:txBody>
          <a:bodyPr wrap="square" lIns="0" tIns="0" rIns="0" bIns="0" rtlCol="0" anchor="t"/>
          <a:lstStyle/>
          <a:p>
            <a:pPr marL="0" indent="0" algn="l">
              <a:lnSpc>
                <a:spcPct val="115000"/>
              </a:lnSpc>
              <a:buNone/>
            </a:pPr>
            <a:r>
              <a:rPr lang="en-US" sz="1700" b="1" dirty="0">
                <a:solidFill>
                  <a:srgbClr val="566672"/>
                </a:solidFill>
                <a:latin typeface="Calibri" pitchFamily="34" charset="0"/>
                <a:ea typeface="Calibri" pitchFamily="34" charset="-122"/>
                <a:cs typeface="Calibri" pitchFamily="34" charset="-120"/>
              </a:rPr>
              <a:t>Latency, watts, cost</a:t>
            </a:r>
            <a:endParaRPr lang="en-US" sz="1700" dirty="0"/>
          </a:p>
        </p:txBody>
      </p:sp>
      <p:sp>
        <p:nvSpPr>
          <p:cNvPr id="21" name="Text 19"/>
          <p:cNvSpPr txBox="1"/>
          <p:nvPr/>
        </p:nvSpPr>
        <p:spPr>
          <a:xfrm>
            <a:off x="8321040" y="4636008"/>
            <a:ext cx="3108960" cy="146304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A policy has to run onboard at 50–100 Hz inside a power budget, and the whole thing has to beat the cost of the person currently doing the job.</a:t>
            </a:r>
            <a:endParaRPr lang="en-US" sz="1500" dirty="0"/>
          </a:p>
        </p:txBody>
      </p:sp>
      <p:sp>
        <p:nvSpPr>
          <p:cNvPr id="22" name="Text 20"/>
          <p:cNvSpPr txBox="1"/>
          <p:nvPr/>
        </p:nvSpPr>
        <p:spPr>
          <a:xfrm>
            <a:off x="640080" y="6309360"/>
            <a:ext cx="10927080" cy="411480"/>
          </a:xfrm>
          <a:prstGeom prst="rect">
            <a:avLst/>
          </a:prstGeom>
          <a:noFill/>
          <a:ln/>
        </p:spPr>
        <p:txBody>
          <a:bodyPr wrap="square" lIns="0" tIns="0" rIns="0" bIns="0" rtlCol="0" anchor="t"/>
          <a:lstStyle/>
          <a:p>
            <a:pPr marL="0" indent="0" algn="l">
              <a:lnSpc>
                <a:spcPct val="115000"/>
              </a:lnSpc>
              <a:buNone/>
            </a:pPr>
            <a:r>
              <a:rPr lang="en-US" sz="1500" b="1" i="1" dirty="0">
                <a:solidFill>
                  <a:srgbClr val="C2571E"/>
                </a:solidFill>
                <a:latin typeface="Calibri" pitchFamily="34" charset="0"/>
                <a:ea typeface="Calibri" pitchFamily="34" charset="-122"/>
                <a:cs typeface="Calibri" pitchFamily="34" charset="-120"/>
              </a:rPr>
              <a:t>Only two of these are model problems. The rest are data, measurement, hardware and economics.</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WHERE THE MONEY ACTUALLY IS</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Generative AI dominates today</a:t>
            </a:r>
            <a:endParaRPr lang="en-US" sz="3800" dirty="0"/>
          </a:p>
        </p:txBody>
      </p:sp>
      <p:sp>
        <p:nvSpPr>
          <p:cNvPr id="4" name="Text 2"/>
          <p:cNvSpPr txBox="1"/>
          <p:nvPr/>
        </p:nvSpPr>
        <p:spPr>
          <a:xfrm>
            <a:off x="640080" y="1417320"/>
            <a:ext cx="10881360" cy="347472"/>
          </a:xfrm>
          <a:prstGeom prst="rect">
            <a:avLst/>
          </a:prstGeom>
          <a:noFill/>
          <a:ln/>
        </p:spPr>
        <p:txBody>
          <a:bodyPr wrap="square" lIns="0" tIns="0" rIns="0" bIns="0" rtlCol="0" anchor="t"/>
          <a:lstStyle/>
          <a:p>
            <a:pPr marL="0" indent="0" algn="l">
              <a:lnSpc>
                <a:spcPct val="115000"/>
              </a:lnSpc>
              <a:buNone/>
            </a:pPr>
            <a:r>
              <a:rPr lang="en-US" sz="1800" b="1" dirty="0">
                <a:solidFill>
                  <a:srgbClr val="C2571E"/>
                </a:solidFill>
                <a:latin typeface="Calibri" pitchFamily="34" charset="0"/>
                <a:ea typeface="Calibri" pitchFamily="34" charset="-122"/>
                <a:cs typeface="Calibri" pitchFamily="34" charset="-120"/>
              </a:rPr>
              <a:t>Embodied AI is being funded, not bought.</a:t>
            </a:r>
            <a:endParaRPr lang="en-US" sz="1800" dirty="0"/>
          </a:p>
        </p:txBody>
      </p:sp>
      <p:graphicFrame>
        <p:nvGraphicFramePr>
          <p:cNvPr id="5" name="Chart 0"/>
          <p:cNvGraphicFramePr/>
          <p:nvPr/>
        </p:nvGraphicFramePr>
        <p:xfrm>
          <a:off x="594360" y="2011680"/>
          <a:ext cx="658368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640080" y="5303520"/>
            <a:ext cx="6675120" cy="548640"/>
          </a:xfrm>
          <a:prstGeom prst="rect">
            <a:avLst/>
          </a:prstGeom>
          <a:noFill/>
          <a:ln/>
        </p:spPr>
        <p:txBody>
          <a:bodyPr wrap="square" lIns="0" tIns="0" rIns="0" bIns="0" rtlCol="0" anchor="ctr"/>
          <a:lstStyle/>
          <a:p>
            <a:pPr marL="0" indent="0">
              <a:buNone/>
            </a:pPr>
            <a:r>
              <a:rPr lang="en-US" sz="1500" i="1" dirty="0">
                <a:solidFill>
                  <a:srgbClr val="566672"/>
                </a:solidFill>
                <a:latin typeface="Calibri" pitchFamily="34" charset="0"/>
                <a:ea typeface="Calibri" pitchFamily="34" charset="-122"/>
                <a:cs typeface="Calibri" pitchFamily="34" charset="-120"/>
              </a:rPr>
              <a:t>Roughly 60× apart. Estimates vary widely by research firm — read the ratio, not the digits.</a:t>
            </a:r>
            <a:endParaRPr lang="en-US" sz="1500" dirty="0"/>
          </a:p>
        </p:txBody>
      </p:sp>
      <p:sp>
        <p:nvSpPr>
          <p:cNvPr id="7" name="Shape 4"/>
          <p:cNvSpPr/>
          <p:nvPr/>
        </p:nvSpPr>
        <p:spPr>
          <a:xfrm>
            <a:off x="7406640" y="2011680"/>
            <a:ext cx="4160520" cy="1417320"/>
          </a:xfrm>
          <a:prstGeom prst="roundRect">
            <a:avLst>
              <a:gd name="adj" fmla="val 3871"/>
            </a:avLst>
          </a:prstGeom>
          <a:solidFill>
            <a:srgbClr val="FBEBE1"/>
          </a:solidFill>
          <a:ln w="9525">
            <a:solidFill>
              <a:srgbClr val="EBC7B0"/>
            </a:solidFill>
            <a:prstDash val="solid"/>
          </a:ln>
        </p:spPr>
      </p:sp>
      <p:sp>
        <p:nvSpPr>
          <p:cNvPr id="8" name="Text 5"/>
          <p:cNvSpPr txBox="1"/>
          <p:nvPr/>
        </p:nvSpPr>
        <p:spPr>
          <a:xfrm>
            <a:off x="7726680" y="2130552"/>
            <a:ext cx="3566160" cy="548640"/>
          </a:xfrm>
          <a:prstGeom prst="rect">
            <a:avLst/>
          </a:prstGeom>
          <a:noFill/>
          <a:ln/>
        </p:spPr>
        <p:txBody>
          <a:bodyPr wrap="square" lIns="0" tIns="0" rIns="0" bIns="0" rtlCol="0" anchor="ctr"/>
          <a:lstStyle/>
          <a:p>
            <a:pPr marL="0" indent="0">
              <a:buNone/>
            </a:pPr>
            <a:r>
              <a:rPr lang="en-US" sz="3200" b="1" dirty="0">
                <a:solidFill>
                  <a:srgbClr val="C2571E"/>
                </a:solidFill>
                <a:latin typeface="Cambria" pitchFamily="34" charset="0"/>
                <a:ea typeface="Cambria" pitchFamily="34" charset="-122"/>
                <a:cs typeface="Cambria" pitchFamily="34" charset="-120"/>
              </a:rPr>
              <a:t>$47.4bn</a:t>
            </a:r>
            <a:endParaRPr lang="en-US" sz="3200" dirty="0"/>
          </a:p>
        </p:txBody>
      </p:sp>
      <p:sp>
        <p:nvSpPr>
          <p:cNvPr id="9" name="Text 6"/>
          <p:cNvSpPr txBox="1"/>
          <p:nvPr/>
        </p:nvSpPr>
        <p:spPr>
          <a:xfrm>
            <a:off x="7726680" y="2715768"/>
            <a:ext cx="3566160" cy="731520"/>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into physical AI in H1 2026 alone — about 4× the previous half-year</a:t>
            </a:r>
            <a:endParaRPr lang="en-US" sz="1500" dirty="0"/>
          </a:p>
        </p:txBody>
      </p:sp>
      <p:sp>
        <p:nvSpPr>
          <p:cNvPr id="10" name="Shape 7"/>
          <p:cNvSpPr/>
          <p:nvPr/>
        </p:nvSpPr>
        <p:spPr>
          <a:xfrm>
            <a:off x="7406640" y="3520440"/>
            <a:ext cx="4160520" cy="1417320"/>
          </a:xfrm>
          <a:prstGeom prst="roundRect">
            <a:avLst>
              <a:gd name="adj" fmla="val 3871"/>
            </a:avLst>
          </a:prstGeom>
          <a:solidFill>
            <a:srgbClr val="EFE9F7"/>
          </a:solidFill>
          <a:ln w="9525">
            <a:solidFill>
              <a:srgbClr val="D9CDE9"/>
            </a:solidFill>
            <a:prstDash val="solid"/>
          </a:ln>
        </p:spPr>
      </p:sp>
      <p:sp>
        <p:nvSpPr>
          <p:cNvPr id="11" name="Text 8"/>
          <p:cNvSpPr txBox="1"/>
          <p:nvPr/>
        </p:nvSpPr>
        <p:spPr>
          <a:xfrm>
            <a:off x="7726680" y="3639312"/>
            <a:ext cx="3566160" cy="548640"/>
          </a:xfrm>
          <a:prstGeom prst="rect">
            <a:avLst/>
          </a:prstGeom>
          <a:noFill/>
          <a:ln/>
        </p:spPr>
        <p:txBody>
          <a:bodyPr wrap="square" lIns="0" tIns="0" rIns="0" bIns="0" rtlCol="0" anchor="ctr"/>
          <a:lstStyle/>
          <a:p>
            <a:pPr marL="0" indent="0">
              <a:buNone/>
            </a:pPr>
            <a:r>
              <a:rPr lang="en-US" sz="3200" b="1" dirty="0">
                <a:solidFill>
                  <a:srgbClr val="6A3FA0"/>
                </a:solidFill>
                <a:latin typeface="Cambria" pitchFamily="34" charset="0"/>
                <a:ea typeface="Cambria" pitchFamily="34" charset="-122"/>
                <a:cs typeface="Cambria" pitchFamily="34" charset="-120"/>
              </a:rPr>
              <a:t>65%</a:t>
            </a:r>
            <a:endParaRPr lang="en-US" sz="3200" dirty="0"/>
          </a:p>
        </p:txBody>
      </p:sp>
      <p:sp>
        <p:nvSpPr>
          <p:cNvPr id="12" name="Text 9"/>
          <p:cNvSpPr txBox="1"/>
          <p:nvPr/>
        </p:nvSpPr>
        <p:spPr>
          <a:xfrm>
            <a:off x="7726680" y="4224528"/>
            <a:ext cx="3566160" cy="731520"/>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of organisations already use generative AI in at least one function</a:t>
            </a:r>
            <a:endParaRPr lang="en-US" sz="1500" dirty="0"/>
          </a:p>
        </p:txBody>
      </p:sp>
      <p:sp>
        <p:nvSpPr>
          <p:cNvPr id="13" name="Shape 10"/>
          <p:cNvSpPr/>
          <p:nvPr/>
        </p:nvSpPr>
        <p:spPr>
          <a:xfrm>
            <a:off x="7406640" y="5029200"/>
            <a:ext cx="4160520" cy="1298448"/>
          </a:xfrm>
          <a:prstGeom prst="roundRect">
            <a:avLst>
              <a:gd name="adj" fmla="val 4225"/>
            </a:avLst>
          </a:prstGeom>
          <a:solidFill>
            <a:srgbClr val="EEF2F5"/>
          </a:solidFill>
          <a:ln w="9525">
            <a:solidFill>
              <a:srgbClr val="C9D3DA"/>
            </a:solidFill>
            <a:prstDash val="solid"/>
          </a:ln>
        </p:spPr>
      </p:sp>
      <p:sp>
        <p:nvSpPr>
          <p:cNvPr id="14" name="Text 11"/>
          <p:cNvSpPr txBox="1"/>
          <p:nvPr/>
        </p:nvSpPr>
        <p:spPr>
          <a:xfrm>
            <a:off x="7726680" y="5157216"/>
            <a:ext cx="3566160" cy="310896"/>
          </a:xfrm>
          <a:prstGeom prst="rect">
            <a:avLst/>
          </a:prstGeom>
          <a:noFill/>
          <a:ln/>
        </p:spPr>
        <p:txBody>
          <a:bodyPr wrap="square" lIns="0" tIns="0" rIns="0" bIns="0" rtlCol="0" anchor="t"/>
          <a:lstStyle/>
          <a:p>
            <a:pPr marL="0" indent="0" algn="l">
              <a:lnSpc>
                <a:spcPct val="115000"/>
              </a:lnSpc>
              <a:buNone/>
            </a:pPr>
            <a:r>
              <a:rPr lang="en-US" sz="1500" b="1" dirty="0">
                <a:solidFill>
                  <a:srgbClr val="13222E"/>
                </a:solidFill>
                <a:latin typeface="Calibri" pitchFamily="34" charset="0"/>
                <a:ea typeface="Calibri" pitchFamily="34" charset="-122"/>
                <a:cs typeface="Calibri" pitchFamily="34" charset="-120"/>
              </a:rPr>
              <a:t>The gap in one line</a:t>
            </a:r>
            <a:endParaRPr lang="en-US" sz="1500" dirty="0"/>
          </a:p>
        </p:txBody>
      </p:sp>
      <p:sp>
        <p:nvSpPr>
          <p:cNvPr id="15" name="Text 12"/>
          <p:cNvSpPr txBox="1"/>
          <p:nvPr/>
        </p:nvSpPr>
        <p:spPr>
          <a:xfrm>
            <a:off x="7726680" y="5504688"/>
            <a:ext cx="3566160" cy="822960"/>
          </a:xfrm>
          <a:prstGeom prst="rect">
            <a:avLst/>
          </a:prstGeom>
          <a:noFill/>
          <a:ln/>
        </p:spPr>
        <p:txBody>
          <a:bodyPr wrap="square" lIns="0" tIns="0" rIns="0" bIns="0" rtlCol="0" anchor="t"/>
          <a:lstStyle/>
          <a:p>
            <a:pPr marL="0" indent="0" algn="l">
              <a:lnSpc>
                <a:spcPct val="115000"/>
              </a:lnSpc>
              <a:buNone/>
            </a:pPr>
            <a:r>
              <a:rPr lang="en-US" sz="1500" dirty="0">
                <a:solidFill>
                  <a:srgbClr val="13222E"/>
                </a:solidFill>
                <a:latin typeface="Calibri" pitchFamily="34" charset="0"/>
                <a:ea typeface="Calibri" pitchFamily="34" charset="-122"/>
                <a:cs typeface="Calibri" pitchFamily="34" charset="-120"/>
              </a:rPr>
              <a:t>It is raising far more than it sells — a bet on the next decade, not a description of this one.</a:t>
            </a:r>
            <a:endParaRPr lang="en-US" sz="1500" dirty="0"/>
          </a:p>
        </p:txBody>
      </p:sp>
      <p:sp>
        <p:nvSpPr>
          <p:cNvPr id="16" name="Text 13"/>
          <p:cNvSpPr txBox="1"/>
          <p:nvPr/>
        </p:nvSpPr>
        <p:spPr>
          <a:xfrm>
            <a:off x="640080" y="6382512"/>
            <a:ext cx="10927080" cy="292608"/>
          </a:xfrm>
          <a:prstGeom prst="rect">
            <a:avLst/>
          </a:prstGeom>
          <a:noFill/>
          <a:ln/>
        </p:spPr>
        <p:txBody>
          <a:bodyPr wrap="square" lIns="0" tIns="0" rIns="0" bIns="0" rtlCol="0" anchor="ctr"/>
          <a:lstStyle/>
          <a:p>
            <a:pPr marL="0" indent="0">
              <a:buNone/>
            </a:pPr>
            <a:r>
              <a:rPr lang="en-US" sz="1500" dirty="0">
                <a:solidFill>
                  <a:srgbClr val="566672"/>
                </a:solidFill>
                <a:latin typeface="Calibri" pitchFamily="34" charset="0"/>
                <a:ea typeface="Calibri" pitchFamily="34" charset="-122"/>
                <a:cs typeface="Calibri" pitchFamily="34" charset="-120"/>
              </a:rPr>
              <a:t>Sources: IDC, Menlo Ventures, McKinsey, MarketsandMarkets, Crunchbase (2025–26).</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WHERE THINGS ACTUALLY STAND — 2026</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Rank the evidence before you believe the demo</a:t>
            </a:r>
            <a:endParaRPr lang="en-US" sz="3800" dirty="0"/>
          </a:p>
        </p:txBody>
      </p:sp>
      <p:sp>
        <p:nvSpPr>
          <p:cNvPr id="4" name="Text 2"/>
          <p:cNvSpPr txBox="1"/>
          <p:nvPr/>
        </p:nvSpPr>
        <p:spPr>
          <a:xfrm>
            <a:off x="640080" y="1481328"/>
            <a:ext cx="7315200" cy="384048"/>
          </a:xfrm>
          <a:prstGeom prst="rect">
            <a:avLst/>
          </a:prstGeom>
          <a:noFill/>
          <a:ln/>
        </p:spPr>
        <p:txBody>
          <a:bodyPr wrap="square" lIns="0" tIns="0" rIns="0" bIns="0" rtlCol="0" anchor="t"/>
          <a:lstStyle/>
          <a:p>
            <a:pPr marL="0" indent="0" algn="l">
              <a:lnSpc>
                <a:spcPct val="115000"/>
              </a:lnSpc>
              <a:buNone/>
            </a:pPr>
            <a:r>
              <a:rPr lang="en-US" sz="1700" b="1" dirty="0">
                <a:solidFill>
                  <a:srgbClr val="13222E"/>
                </a:solidFill>
                <a:latin typeface="Calibri" pitchFamily="34" charset="0"/>
                <a:ea typeface="Calibri" pitchFamily="34" charset="-122"/>
                <a:cs typeface="Calibri" pitchFamily="34" charset="-120"/>
              </a:rPr>
              <a:t>Demos are cheap. The last stretch of reliability is not.</a:t>
            </a:r>
            <a:endParaRPr lang="en-US" sz="1700" dirty="0"/>
          </a:p>
        </p:txBody>
      </p:sp>
      <p:sp>
        <p:nvSpPr>
          <p:cNvPr id="5" name="Text 3"/>
          <p:cNvSpPr txBox="1"/>
          <p:nvPr/>
        </p:nvSpPr>
        <p:spPr>
          <a:xfrm>
            <a:off x="640080" y="1901952"/>
            <a:ext cx="7223760" cy="685800"/>
          </a:xfrm>
          <a:prstGeom prst="rect">
            <a:avLst/>
          </a:prstGeom>
          <a:noFill/>
          <a:ln/>
        </p:spPr>
        <p:txBody>
          <a:bodyPr wrap="square" lIns="0" tIns="0" rIns="0" bIns="0" rtlCol="0" anchor="t"/>
          <a:lstStyle/>
          <a:p>
            <a:pPr marL="0" indent="0" algn="l">
              <a:lnSpc>
                <a:spcPct val="115000"/>
              </a:lnSpc>
              <a:buNone/>
            </a:pPr>
            <a:r>
              <a:rPr lang="en-US" sz="1500" dirty="0">
                <a:solidFill>
                  <a:srgbClr val="566672"/>
                </a:solidFill>
                <a:latin typeface="Calibri" pitchFamily="34" charset="0"/>
                <a:ea typeface="Calibri" pitchFamily="34" charset="-122"/>
                <a:cs typeface="Calibri" pitchFamily="34" charset="-120"/>
              </a:rPr>
              <a:t>What holds deployment back is not missing ideas. It is the final few percent of reliability, safety validation, and the lab-to-field gap.</a:t>
            </a:r>
            <a:endParaRPr lang="en-US" sz="1500" dirty="0"/>
          </a:p>
        </p:txBody>
      </p:sp>
      <p:pic>
        <p:nvPicPr>
          <p:cNvPr id="6" name="Image 0" descr="/home/claude/img/steps.png"/>
          <p:cNvPicPr>
            <a:picLocks noChangeAspect="1"/>
          </p:cNvPicPr>
          <p:nvPr/>
        </p:nvPicPr>
        <p:blipFill>
          <a:blip r:embed="rId3"/>
          <a:stretch>
            <a:fillRect/>
          </a:stretch>
        </p:blipFill>
        <p:spPr>
          <a:xfrm>
            <a:off x="640080" y="2514600"/>
            <a:ext cx="6949440" cy="3254801"/>
          </a:xfrm>
          <a:prstGeom prst="rect">
            <a:avLst/>
          </a:prstGeom>
        </p:spPr>
      </p:pic>
      <p:sp>
        <p:nvSpPr>
          <p:cNvPr id="7" name="Text 4"/>
          <p:cNvSpPr txBox="1"/>
          <p:nvPr/>
        </p:nvSpPr>
        <p:spPr>
          <a:xfrm>
            <a:off x="608259" y="5842553"/>
            <a:ext cx="1828800" cy="365760"/>
          </a:xfrm>
          <a:prstGeom prst="rect">
            <a:avLst/>
          </a:prstGeom>
          <a:noFill/>
          <a:ln/>
        </p:spPr>
        <p:txBody>
          <a:bodyPr wrap="square" lIns="0" tIns="0" rIns="0" bIns="0" rtlCol="0" anchor="ctr"/>
          <a:lstStyle/>
          <a:p>
            <a:pPr marL="0" indent="0" algn="ctr">
              <a:buNone/>
            </a:pPr>
            <a:r>
              <a:rPr lang="en-US" sz="1500" b="1" dirty="0">
                <a:solidFill>
                  <a:srgbClr val="13222E"/>
                </a:solidFill>
                <a:latin typeface="Calibri" pitchFamily="34" charset="0"/>
                <a:ea typeface="Calibri" pitchFamily="34" charset="-122"/>
                <a:cs typeface="Calibri" pitchFamily="34" charset="-120"/>
              </a:rPr>
              <a:t>Vendor video</a:t>
            </a:r>
            <a:endParaRPr lang="en-US" sz="1500" dirty="0"/>
          </a:p>
        </p:txBody>
      </p:sp>
      <p:sp>
        <p:nvSpPr>
          <p:cNvPr id="8" name="Text 5"/>
          <p:cNvSpPr txBox="1"/>
          <p:nvPr/>
        </p:nvSpPr>
        <p:spPr>
          <a:xfrm>
            <a:off x="2241377" y="5842553"/>
            <a:ext cx="1828800" cy="365760"/>
          </a:xfrm>
          <a:prstGeom prst="rect">
            <a:avLst/>
          </a:prstGeom>
          <a:noFill/>
          <a:ln/>
        </p:spPr>
        <p:txBody>
          <a:bodyPr wrap="square" lIns="0" tIns="0" rIns="0" bIns="0" rtlCol="0" anchor="ctr"/>
          <a:lstStyle/>
          <a:p>
            <a:pPr marL="0" indent="0" algn="ctr">
              <a:buNone/>
            </a:pPr>
            <a:r>
              <a:rPr lang="en-US" sz="1500" b="1" dirty="0">
                <a:solidFill>
                  <a:srgbClr val="13222E"/>
                </a:solidFill>
                <a:latin typeface="Calibri" pitchFamily="34" charset="0"/>
                <a:ea typeface="Calibri" pitchFamily="34" charset="-122"/>
                <a:cs typeface="Calibri" pitchFamily="34" charset="-120"/>
              </a:rPr>
              <a:t>Controlled pilot</a:t>
            </a:r>
            <a:endParaRPr lang="en-US" sz="1500" dirty="0"/>
          </a:p>
        </p:txBody>
      </p:sp>
      <p:sp>
        <p:nvSpPr>
          <p:cNvPr id="9" name="Text 6"/>
          <p:cNvSpPr txBox="1"/>
          <p:nvPr/>
        </p:nvSpPr>
        <p:spPr>
          <a:xfrm>
            <a:off x="3874496" y="5842553"/>
            <a:ext cx="1828800" cy="365760"/>
          </a:xfrm>
          <a:prstGeom prst="rect">
            <a:avLst/>
          </a:prstGeom>
          <a:noFill/>
          <a:ln/>
        </p:spPr>
        <p:txBody>
          <a:bodyPr wrap="square" lIns="0" tIns="0" rIns="0" bIns="0" rtlCol="0" anchor="ctr"/>
          <a:lstStyle/>
          <a:p>
            <a:pPr marL="0" indent="0" algn="ctr">
              <a:buNone/>
            </a:pPr>
            <a:r>
              <a:rPr lang="en-US" sz="1500" b="1" dirty="0">
                <a:solidFill>
                  <a:srgbClr val="13222E"/>
                </a:solidFill>
                <a:latin typeface="Calibri" pitchFamily="34" charset="0"/>
                <a:ea typeface="Calibri" pitchFamily="34" charset="-122"/>
                <a:cs typeface="Calibri" pitchFamily="34" charset="-120"/>
              </a:rPr>
              <a:t>Paid deployment</a:t>
            </a:r>
            <a:endParaRPr lang="en-US" sz="1500" dirty="0"/>
          </a:p>
        </p:txBody>
      </p:sp>
      <p:sp>
        <p:nvSpPr>
          <p:cNvPr id="10" name="Text 7"/>
          <p:cNvSpPr txBox="1"/>
          <p:nvPr/>
        </p:nvSpPr>
        <p:spPr>
          <a:xfrm>
            <a:off x="5584058" y="5842553"/>
            <a:ext cx="1828800" cy="365760"/>
          </a:xfrm>
          <a:prstGeom prst="rect">
            <a:avLst/>
          </a:prstGeom>
          <a:noFill/>
          <a:ln/>
        </p:spPr>
        <p:txBody>
          <a:bodyPr wrap="square" lIns="0" tIns="0" rIns="0" bIns="0" rtlCol="0" anchor="ctr"/>
          <a:lstStyle/>
          <a:p>
            <a:pPr marL="0" indent="0" algn="ctr">
              <a:buNone/>
            </a:pPr>
            <a:r>
              <a:rPr lang="en-US" sz="1500" b="1" dirty="0">
                <a:solidFill>
                  <a:srgbClr val="13222E"/>
                </a:solidFill>
                <a:latin typeface="Calibri" pitchFamily="34" charset="0"/>
                <a:ea typeface="Calibri" pitchFamily="34" charset="-122"/>
                <a:cs typeface="Calibri" pitchFamily="34" charset="-120"/>
              </a:rPr>
              <a:t>Multi-site running</a:t>
            </a:r>
            <a:endParaRPr lang="en-US" sz="1500" dirty="0"/>
          </a:p>
        </p:txBody>
      </p:sp>
      <p:sp>
        <p:nvSpPr>
          <p:cNvPr id="11" name="Text 8"/>
          <p:cNvSpPr txBox="1"/>
          <p:nvPr/>
        </p:nvSpPr>
        <p:spPr>
          <a:xfrm>
            <a:off x="640080" y="6272321"/>
            <a:ext cx="6949440" cy="320040"/>
          </a:xfrm>
          <a:prstGeom prst="rect">
            <a:avLst/>
          </a:prstGeom>
          <a:noFill/>
          <a:ln/>
        </p:spPr>
        <p:txBody>
          <a:bodyPr wrap="square" lIns="0" tIns="0" rIns="0" bIns="0" rtlCol="0" anchor="ctr"/>
          <a:lstStyle/>
          <a:p>
            <a:pPr marL="0" indent="0" algn="ctr">
              <a:buNone/>
            </a:pPr>
            <a:r>
              <a:rPr lang="en-US" sz="1500" i="1" dirty="0">
                <a:solidFill>
                  <a:srgbClr val="C2571E"/>
                </a:solidFill>
                <a:latin typeface="Calibri" pitchFamily="34" charset="0"/>
                <a:ea typeface="Calibri" pitchFamily="34" charset="-122"/>
                <a:cs typeface="Calibri" pitchFamily="34" charset="-120"/>
              </a:rPr>
              <a:t>weakest → strongest evidence</a:t>
            </a:r>
            <a:endParaRPr lang="en-US" sz="1500" dirty="0"/>
          </a:p>
        </p:txBody>
      </p:sp>
      <p:sp>
        <p:nvSpPr>
          <p:cNvPr id="12" name="Shape 9"/>
          <p:cNvSpPr/>
          <p:nvPr/>
        </p:nvSpPr>
        <p:spPr>
          <a:xfrm>
            <a:off x="8275320" y="1481328"/>
            <a:ext cx="3291840" cy="4297680"/>
          </a:xfrm>
          <a:prstGeom prst="roundRect">
            <a:avLst>
              <a:gd name="adj" fmla="val 1667"/>
            </a:avLst>
          </a:prstGeom>
          <a:solidFill>
            <a:srgbClr val="EEF2F5"/>
          </a:solidFill>
          <a:ln w="9525">
            <a:solidFill>
              <a:srgbClr val="C9D3DA"/>
            </a:solidFill>
            <a:prstDash val="solid"/>
          </a:ln>
        </p:spPr>
      </p:sp>
      <p:sp>
        <p:nvSpPr>
          <p:cNvPr id="13" name="Text 10"/>
          <p:cNvSpPr txBox="1"/>
          <p:nvPr/>
        </p:nvSpPr>
        <p:spPr>
          <a:xfrm>
            <a:off x="8549640" y="1691640"/>
            <a:ext cx="2788920" cy="320040"/>
          </a:xfrm>
          <a:prstGeom prst="rect">
            <a:avLst/>
          </a:prstGeom>
          <a:noFill/>
          <a:ln/>
        </p:spPr>
        <p:txBody>
          <a:bodyPr wrap="square" lIns="0" tIns="0" rIns="0" bIns="0" rtlCol="0" anchor="t"/>
          <a:lstStyle/>
          <a:p>
            <a:pPr marL="0" indent="0" algn="l">
              <a:lnSpc>
                <a:spcPct val="115000"/>
              </a:lnSpc>
              <a:buNone/>
            </a:pPr>
            <a:r>
              <a:rPr lang="en-US" sz="1500" b="1" kern="0" spc="140" dirty="0">
                <a:solidFill>
                  <a:srgbClr val="C2571E"/>
                </a:solidFill>
                <a:latin typeface="Calibri" pitchFamily="34" charset="0"/>
                <a:ea typeface="Calibri" pitchFamily="34" charset="-122"/>
                <a:cs typeface="Calibri" pitchFamily="34" charset="-120"/>
              </a:rPr>
              <a:t>THE HONEST SUMMARY</a:t>
            </a:r>
            <a:endParaRPr lang="en-US" sz="1500" dirty="0"/>
          </a:p>
        </p:txBody>
      </p:sp>
      <p:sp>
        <p:nvSpPr>
          <p:cNvPr id="14" name="Text 11"/>
          <p:cNvSpPr txBox="1"/>
          <p:nvPr/>
        </p:nvSpPr>
        <p:spPr>
          <a:xfrm>
            <a:off x="8549640" y="2103120"/>
            <a:ext cx="2788920" cy="3566160"/>
          </a:xfrm>
          <a:prstGeom prst="rect">
            <a:avLst/>
          </a:prstGeom>
          <a:noFill/>
          <a:ln/>
        </p:spPr>
        <p:txBody>
          <a:bodyPr wrap="square" lIns="0" tIns="0" rIns="0" bIns="0" rtlCol="0" anchor="t"/>
          <a:lstStyle/>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  Architecture looks settled: pixels plus an instruction, actions out.</a:t>
            </a:r>
            <a:endParaRPr lang="en-US" sz="1500" dirty="0"/>
          </a:p>
          <a:p>
            <a:pPr marL="0" indent="0" algn="l">
              <a:lnSpc>
                <a:spcPct val="110000"/>
              </a:lnSpc>
              <a:buNone/>
            </a:pPr>
            <a:endParaRPr lang="en-US" sz="1500" dirty="0"/>
          </a:p>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  Deployments cluster where failure is tolerable — plants, warehouses.</a:t>
            </a:r>
            <a:endParaRPr lang="en-US" sz="1500" dirty="0"/>
          </a:p>
          <a:p>
            <a:pPr marL="0" indent="0" algn="l">
              <a:lnSpc>
                <a:spcPct val="110000"/>
              </a:lnSpc>
              <a:buNone/>
            </a:pPr>
            <a:endParaRPr lang="en-US" sz="1500" dirty="0"/>
          </a:p>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  Humanoids are mostly pilots. No home robot.</a:t>
            </a:r>
            <a:endParaRPr lang="en-US" sz="1500" dirty="0"/>
          </a:p>
          <a:p>
            <a:pPr marL="0" indent="0" algn="l">
              <a:lnSpc>
                <a:spcPct val="110000"/>
              </a:lnSpc>
              <a:buNone/>
            </a:pPr>
            <a:endParaRPr lang="en-US" sz="1500" dirty="0"/>
          </a:p>
          <a:p>
            <a:pPr marL="0" indent="0" algn="l">
              <a:lnSpc>
                <a:spcPct val="110000"/>
              </a:lnSpc>
              <a:buNone/>
            </a:pPr>
            <a:r>
              <a:rPr lang="en-US" sz="1500" dirty="0">
                <a:solidFill>
                  <a:srgbClr val="13222E"/>
                </a:solidFill>
                <a:latin typeface="Calibri" pitchFamily="34" charset="0"/>
                <a:ea typeface="Calibri" pitchFamily="34" charset="-122"/>
                <a:cs typeface="Calibri" pitchFamily="34" charset="-120"/>
              </a:rPr>
              <a:t>•  Reliable unattended autonomy: around 2028–2030.</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WHY THIS MATTERS TO THIS ROOM</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Where your edge actually is</a:t>
            </a:r>
            <a:endParaRPr lang="en-US" sz="3800" dirty="0"/>
          </a:p>
        </p:txBody>
      </p:sp>
      <p:sp>
        <p:nvSpPr>
          <p:cNvPr id="4" name="Shape 2"/>
          <p:cNvSpPr/>
          <p:nvPr/>
        </p:nvSpPr>
        <p:spPr>
          <a:xfrm>
            <a:off x="640080" y="1600200"/>
            <a:ext cx="5349240" cy="4160520"/>
          </a:xfrm>
          <a:prstGeom prst="roundRect">
            <a:avLst>
              <a:gd name="adj" fmla="val 1319"/>
            </a:avLst>
          </a:prstGeom>
          <a:solidFill>
            <a:srgbClr val="EEF2F5"/>
          </a:solidFill>
          <a:ln w="9525">
            <a:solidFill>
              <a:srgbClr val="C9D3DA"/>
            </a:solidFill>
            <a:prstDash val="solid"/>
          </a:ln>
        </p:spPr>
      </p:sp>
      <p:sp>
        <p:nvSpPr>
          <p:cNvPr id="5" name="Text 3"/>
          <p:cNvSpPr txBox="1"/>
          <p:nvPr/>
        </p:nvSpPr>
        <p:spPr>
          <a:xfrm>
            <a:off x="960120" y="1783080"/>
            <a:ext cx="4754880" cy="310896"/>
          </a:xfrm>
          <a:prstGeom prst="rect">
            <a:avLst/>
          </a:prstGeom>
          <a:noFill/>
          <a:ln/>
        </p:spPr>
        <p:txBody>
          <a:bodyPr wrap="square" lIns="0" tIns="0" rIns="0" bIns="0" rtlCol="0" anchor="t"/>
          <a:lstStyle/>
          <a:p>
            <a:pPr marL="0" indent="0" algn="l">
              <a:lnSpc>
                <a:spcPct val="115000"/>
              </a:lnSpc>
              <a:buNone/>
            </a:pPr>
            <a:r>
              <a:rPr lang="en-US" sz="1500" b="1" kern="0" spc="160" dirty="0">
                <a:solidFill>
                  <a:srgbClr val="566672"/>
                </a:solidFill>
                <a:latin typeface="Calibri" pitchFamily="34" charset="0"/>
                <a:ea typeface="Calibri" pitchFamily="34" charset="-122"/>
                <a:cs typeface="Calibri" pitchFamily="34" charset="-120"/>
              </a:rPr>
              <a:t>IN LLM AND AGENT WORK</a:t>
            </a:r>
            <a:endParaRPr lang="en-US" sz="1500" dirty="0"/>
          </a:p>
        </p:txBody>
      </p:sp>
      <p:sp>
        <p:nvSpPr>
          <p:cNvPr id="6" name="Text 4"/>
          <p:cNvSpPr txBox="1"/>
          <p:nvPr/>
        </p:nvSpPr>
        <p:spPr>
          <a:xfrm>
            <a:off x="960120" y="2148840"/>
            <a:ext cx="4754880" cy="347472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You enter the largest and most crowded talent market in software, and almost nothing you learned about machines counts there. Kinematics, calibration, latency budgets, safety cases — none of it is priced in.</a:t>
            </a:r>
            <a:endParaRPr lang="en-US" sz="1500" dirty="0"/>
          </a:p>
          <a:p>
            <a:pPr marL="0" indent="0" algn="l">
              <a:lnSpc>
                <a:spcPct val="105000"/>
              </a:lnSpc>
              <a:buNone/>
            </a:pPr>
            <a:endParaRPr lang="en-US" sz="1500" dirty="0"/>
          </a:p>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The work is also crowded and largely settled: the architectures are known, the leaders have the compute, and the differentiation is in product, not in engineering.</a:t>
            </a:r>
            <a:endParaRPr lang="en-US" sz="1500" dirty="0"/>
          </a:p>
          <a:p>
            <a:pPr marL="0" indent="0" algn="l">
              <a:lnSpc>
                <a:spcPct val="105000"/>
              </a:lnSpc>
              <a:buNone/>
            </a:pPr>
            <a:endParaRPr lang="en-US" sz="1500" dirty="0"/>
          </a:p>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What does transfer is the loop intuition. Agents suffer the same compounding-error problem — they just get to undo their mistakes.</a:t>
            </a:r>
            <a:endParaRPr lang="en-US" sz="1500" dirty="0"/>
          </a:p>
        </p:txBody>
      </p:sp>
      <p:sp>
        <p:nvSpPr>
          <p:cNvPr id="7" name="Shape 5"/>
          <p:cNvSpPr/>
          <p:nvPr/>
        </p:nvSpPr>
        <p:spPr>
          <a:xfrm>
            <a:off x="6217920" y="1600200"/>
            <a:ext cx="5349240" cy="4160520"/>
          </a:xfrm>
          <a:prstGeom prst="roundRect">
            <a:avLst>
              <a:gd name="adj" fmla="val 1319"/>
            </a:avLst>
          </a:prstGeom>
          <a:solidFill>
            <a:srgbClr val="FBEBE1"/>
          </a:solidFill>
          <a:ln w="9525">
            <a:solidFill>
              <a:srgbClr val="EBC7B0"/>
            </a:solidFill>
            <a:prstDash val="solid"/>
          </a:ln>
        </p:spPr>
      </p:sp>
      <p:sp>
        <p:nvSpPr>
          <p:cNvPr id="8" name="Text 6"/>
          <p:cNvSpPr txBox="1"/>
          <p:nvPr/>
        </p:nvSpPr>
        <p:spPr>
          <a:xfrm>
            <a:off x="6537960" y="1783080"/>
            <a:ext cx="4754880" cy="310896"/>
          </a:xfrm>
          <a:prstGeom prst="rect">
            <a:avLst/>
          </a:prstGeom>
          <a:noFill/>
          <a:ln/>
        </p:spPr>
        <p:txBody>
          <a:bodyPr wrap="square" lIns="0" tIns="0" rIns="0" bIns="0" rtlCol="0" anchor="t"/>
          <a:lstStyle/>
          <a:p>
            <a:pPr marL="0" indent="0" algn="l">
              <a:lnSpc>
                <a:spcPct val="115000"/>
              </a:lnSpc>
              <a:buNone/>
            </a:pPr>
            <a:r>
              <a:rPr lang="en-US" sz="1500" b="1" kern="0" spc="160" dirty="0">
                <a:solidFill>
                  <a:srgbClr val="C2571E"/>
                </a:solidFill>
                <a:latin typeface="Calibri" pitchFamily="34" charset="0"/>
                <a:ea typeface="Calibri" pitchFamily="34" charset="-122"/>
                <a:cs typeface="Calibri" pitchFamily="34" charset="-120"/>
              </a:rPr>
              <a:t>IN EMBODIED AI</a:t>
            </a:r>
            <a:endParaRPr lang="en-US" sz="1500" dirty="0"/>
          </a:p>
        </p:txBody>
      </p:sp>
      <p:sp>
        <p:nvSpPr>
          <p:cNvPr id="9" name="Text 7"/>
          <p:cNvSpPr txBox="1"/>
          <p:nvPr/>
        </p:nvSpPr>
        <p:spPr>
          <a:xfrm>
            <a:off x="6537960" y="2148840"/>
            <a:ext cx="4754880" cy="3474720"/>
          </a:xfrm>
          <a:prstGeom prst="rect">
            <a:avLst/>
          </a:prstGeom>
          <a:noFill/>
          <a:ln/>
        </p:spPr>
        <p:txBody>
          <a:bodyPr wrap="square" lIns="0" tIns="0" rIns="0" bIns="0" rtlCol="0" anchor="t"/>
          <a:lstStyle/>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The bottleneck is increasingly data, evaluation and reliability rather than model quality — teleoperation rigs, demonstration quality, system identification, latency budgets, safety cases, honest test protocols.</a:t>
            </a:r>
            <a:endParaRPr lang="en-US" sz="1500" dirty="0"/>
          </a:p>
          <a:p>
            <a:pPr marL="0" indent="0" algn="l">
              <a:lnSpc>
                <a:spcPct val="105000"/>
              </a:lnSpc>
              <a:buNone/>
            </a:pPr>
            <a:endParaRPr lang="en-US" sz="1500" dirty="0"/>
          </a:p>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That list is a description of a robotics engineer. The people flooding into AI cannot do any of it, and the field cannot ship without it.</a:t>
            </a:r>
            <a:endParaRPr lang="en-US" sz="1500" dirty="0"/>
          </a:p>
          <a:p>
            <a:pPr marL="0" indent="0" algn="l">
              <a:lnSpc>
                <a:spcPct val="105000"/>
              </a:lnSpc>
              <a:buNone/>
            </a:pPr>
            <a:endParaRPr lang="en-US" sz="1500" dirty="0"/>
          </a:p>
          <a:p>
            <a:pPr marL="0" indent="0" algn="l">
              <a:lnSpc>
                <a:spcPct val="105000"/>
              </a:lnSpc>
              <a:buNone/>
            </a:pPr>
            <a:r>
              <a:rPr lang="en-US" sz="1500" dirty="0">
                <a:solidFill>
                  <a:srgbClr val="13222E"/>
                </a:solidFill>
                <a:latin typeface="Calibri" pitchFamily="34" charset="0"/>
                <a:ea typeface="Calibri" pitchFamily="34" charset="-122"/>
                <a:cs typeface="Calibri" pitchFamily="34" charset="-120"/>
              </a:rPr>
              <a:t>And it is early: capital has arrived, revenue has not, and no standard for evaluation exists yet. Early is where a scarce skill is worth the most.</a:t>
            </a:r>
            <a:endParaRPr lang="en-US" sz="1500" dirty="0"/>
          </a:p>
        </p:txBody>
      </p:sp>
      <p:sp>
        <p:nvSpPr>
          <p:cNvPr id="10" name="Shape 8"/>
          <p:cNvSpPr/>
          <p:nvPr/>
        </p:nvSpPr>
        <p:spPr>
          <a:xfrm>
            <a:off x="640080" y="5897880"/>
            <a:ext cx="10927080" cy="822960"/>
          </a:xfrm>
          <a:prstGeom prst="roundRect">
            <a:avLst>
              <a:gd name="adj" fmla="val 6667"/>
            </a:avLst>
          </a:prstGeom>
          <a:solidFill>
            <a:srgbClr val="10202B"/>
          </a:solidFill>
          <a:ln/>
        </p:spPr>
      </p:sp>
      <p:sp>
        <p:nvSpPr>
          <p:cNvPr id="11" name="Text 9"/>
          <p:cNvSpPr txBox="1"/>
          <p:nvPr/>
        </p:nvSpPr>
        <p:spPr>
          <a:xfrm>
            <a:off x="960120" y="5897880"/>
            <a:ext cx="10287000" cy="822960"/>
          </a:xfrm>
          <a:prstGeom prst="rect">
            <a:avLst/>
          </a:prstGeom>
          <a:noFill/>
          <a:ln/>
        </p:spPr>
        <p:txBody>
          <a:bodyPr wrap="square" lIns="0" tIns="0" rIns="0" bIns="0" rtlCol="0" anchor="ctr"/>
          <a:lstStyle/>
          <a:p>
            <a:pPr marL="0" indent="0">
              <a:lnSpc>
                <a:spcPct val="110000"/>
              </a:lnSpc>
              <a:buNone/>
            </a:pPr>
            <a:r>
              <a:rPr lang="en-US" sz="1500" dirty="0">
                <a:solidFill>
                  <a:srgbClr val="FFFFFF"/>
                </a:solidFill>
                <a:latin typeface="Calibri" pitchFamily="34" charset="0"/>
                <a:ea typeface="Calibri" pitchFamily="34" charset="-122"/>
                <a:cs typeface="Calibri" pitchFamily="34" charset="-120"/>
              </a:rPr>
              <a:t>This is not “ignore generative AI.” A VLA is a generative model — you have to learn transformers, fine-tuning and flow matching either way. It is about where you point them: at a chatbot, where you are one of a million, or at a body, where you are one of very few.</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WHAT TO ACTUALLY DO</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Four steps, in this order</a:t>
            </a:r>
            <a:endParaRPr lang="en-US" sz="3800" dirty="0"/>
          </a:p>
        </p:txBody>
      </p:sp>
      <p:sp>
        <p:nvSpPr>
          <p:cNvPr id="4" name="Shape 2"/>
          <p:cNvSpPr/>
          <p:nvPr/>
        </p:nvSpPr>
        <p:spPr>
          <a:xfrm>
            <a:off x="640080" y="1600200"/>
            <a:ext cx="10927080" cy="1051560"/>
          </a:xfrm>
          <a:prstGeom prst="roundRect">
            <a:avLst>
              <a:gd name="adj" fmla="val 5217"/>
            </a:avLst>
          </a:prstGeom>
          <a:solidFill>
            <a:srgbClr val="E1EFF2"/>
          </a:solidFill>
          <a:ln w="9525">
            <a:solidFill>
              <a:srgbClr val="BCD8DE"/>
            </a:solidFill>
            <a:prstDash val="solid"/>
          </a:ln>
        </p:spPr>
      </p:sp>
      <p:sp>
        <p:nvSpPr>
          <p:cNvPr id="5" name="Text 3"/>
          <p:cNvSpPr txBox="1"/>
          <p:nvPr/>
        </p:nvSpPr>
        <p:spPr>
          <a:xfrm>
            <a:off x="914400" y="1874520"/>
            <a:ext cx="731520" cy="502920"/>
          </a:xfrm>
          <a:prstGeom prst="rect">
            <a:avLst/>
          </a:prstGeom>
          <a:noFill/>
          <a:ln/>
        </p:spPr>
        <p:txBody>
          <a:bodyPr wrap="square" lIns="0" tIns="0" rIns="0" bIns="0" rtlCol="0" anchor="ctr"/>
          <a:lstStyle/>
          <a:p>
            <a:pPr marL="0" indent="0">
              <a:buNone/>
            </a:pPr>
            <a:r>
              <a:rPr lang="en-US" sz="2400" b="1" dirty="0">
                <a:solidFill>
                  <a:srgbClr val="0F7186"/>
                </a:solidFill>
                <a:latin typeface="Cambria" pitchFamily="34" charset="0"/>
                <a:ea typeface="Cambria" pitchFamily="34" charset="-122"/>
                <a:cs typeface="Cambria" pitchFamily="34" charset="-120"/>
              </a:rPr>
              <a:t>01</a:t>
            </a:r>
            <a:endParaRPr lang="en-US" sz="2400" dirty="0"/>
          </a:p>
        </p:txBody>
      </p:sp>
      <p:sp>
        <p:nvSpPr>
          <p:cNvPr id="6" name="Text 4"/>
          <p:cNvSpPr txBox="1"/>
          <p:nvPr/>
        </p:nvSpPr>
        <p:spPr>
          <a:xfrm>
            <a:off x="1783080" y="1728216"/>
            <a:ext cx="9509760" cy="329184"/>
          </a:xfrm>
          <a:prstGeom prst="rect">
            <a:avLst/>
          </a:prstGeom>
          <a:noFill/>
          <a:ln/>
        </p:spPr>
        <p:txBody>
          <a:bodyPr wrap="square" lIns="0" tIns="0" rIns="0" bIns="0" rtlCol="0" anchor="t"/>
          <a:lstStyle/>
          <a:p>
            <a:pPr marL="0" indent="0" algn="l">
              <a:lnSpc>
                <a:spcPct val="115000"/>
              </a:lnSpc>
              <a:buNone/>
            </a:pPr>
            <a:r>
              <a:rPr lang="en-US" sz="1700" b="1" dirty="0">
                <a:solidFill>
                  <a:srgbClr val="0F7186"/>
                </a:solidFill>
                <a:latin typeface="Calibri" pitchFamily="34" charset="0"/>
                <a:ea typeface="Calibri" pitchFamily="34" charset="-122"/>
                <a:cs typeface="Calibri" pitchFamily="34" charset="-120"/>
              </a:rPr>
              <a:t>Get a simulator running this week</a:t>
            </a:r>
            <a:endParaRPr lang="en-US" sz="1700" dirty="0"/>
          </a:p>
        </p:txBody>
      </p:sp>
      <p:sp>
        <p:nvSpPr>
          <p:cNvPr id="7" name="Text 5"/>
          <p:cNvSpPr txBox="1"/>
          <p:nvPr/>
        </p:nvSpPr>
        <p:spPr>
          <a:xfrm>
            <a:off x="1783080" y="2093976"/>
            <a:ext cx="9509760" cy="5029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MuJoCo installs with pip and MuJoCo Playground gives you tasks to run the same afternoon. Move to Isaac Lab only when you need thousands of parallel worlds or photoreal sensors — not before.</a:t>
            </a:r>
            <a:endParaRPr lang="en-US" sz="1500" dirty="0"/>
          </a:p>
        </p:txBody>
      </p:sp>
      <p:sp>
        <p:nvSpPr>
          <p:cNvPr id="8" name="Shape 6"/>
          <p:cNvSpPr/>
          <p:nvPr/>
        </p:nvSpPr>
        <p:spPr>
          <a:xfrm>
            <a:off x="640080" y="2734056"/>
            <a:ext cx="10927080" cy="1051560"/>
          </a:xfrm>
          <a:prstGeom prst="roundRect">
            <a:avLst>
              <a:gd name="adj" fmla="val 5217"/>
            </a:avLst>
          </a:prstGeom>
          <a:solidFill>
            <a:srgbClr val="EFE9F7"/>
          </a:solidFill>
          <a:ln w="9525">
            <a:solidFill>
              <a:srgbClr val="D9CDE9"/>
            </a:solidFill>
            <a:prstDash val="solid"/>
          </a:ln>
        </p:spPr>
      </p:sp>
      <p:sp>
        <p:nvSpPr>
          <p:cNvPr id="9" name="Text 7"/>
          <p:cNvSpPr txBox="1"/>
          <p:nvPr/>
        </p:nvSpPr>
        <p:spPr>
          <a:xfrm>
            <a:off x="914400" y="3008376"/>
            <a:ext cx="731520" cy="502920"/>
          </a:xfrm>
          <a:prstGeom prst="rect">
            <a:avLst/>
          </a:prstGeom>
          <a:noFill/>
          <a:ln/>
        </p:spPr>
        <p:txBody>
          <a:bodyPr wrap="square" lIns="0" tIns="0" rIns="0" bIns="0" rtlCol="0" anchor="ctr"/>
          <a:lstStyle/>
          <a:p>
            <a:pPr marL="0" indent="0">
              <a:buNone/>
            </a:pPr>
            <a:r>
              <a:rPr lang="en-US" sz="2400" b="1" dirty="0">
                <a:solidFill>
                  <a:srgbClr val="6A3FA0"/>
                </a:solidFill>
                <a:latin typeface="Cambria" pitchFamily="34" charset="0"/>
                <a:ea typeface="Cambria" pitchFamily="34" charset="-122"/>
                <a:cs typeface="Cambria" pitchFamily="34" charset="-120"/>
              </a:rPr>
              <a:t>02</a:t>
            </a:r>
            <a:endParaRPr lang="en-US" sz="2400" dirty="0"/>
          </a:p>
        </p:txBody>
      </p:sp>
      <p:sp>
        <p:nvSpPr>
          <p:cNvPr id="10" name="Text 8"/>
          <p:cNvSpPr txBox="1"/>
          <p:nvPr/>
        </p:nvSpPr>
        <p:spPr>
          <a:xfrm>
            <a:off x="1783080" y="2862072"/>
            <a:ext cx="9509760" cy="329184"/>
          </a:xfrm>
          <a:prstGeom prst="rect">
            <a:avLst/>
          </a:prstGeom>
          <a:noFill/>
          <a:ln/>
        </p:spPr>
        <p:txBody>
          <a:bodyPr wrap="square" lIns="0" tIns="0" rIns="0" bIns="0" rtlCol="0" anchor="t"/>
          <a:lstStyle/>
          <a:p>
            <a:pPr marL="0" indent="0" algn="l">
              <a:lnSpc>
                <a:spcPct val="115000"/>
              </a:lnSpc>
              <a:buNone/>
            </a:pPr>
            <a:r>
              <a:rPr lang="en-US" sz="1700" b="1" dirty="0">
                <a:solidFill>
                  <a:srgbClr val="6A3FA0"/>
                </a:solidFill>
                <a:latin typeface="Calibri" pitchFamily="34" charset="0"/>
                <a:ea typeface="Calibri" pitchFamily="34" charset="-122"/>
                <a:cs typeface="Calibri" pitchFamily="34" charset="-120"/>
              </a:rPr>
              <a:t>Run an open VLA end to end</a:t>
            </a:r>
            <a:endParaRPr lang="en-US" sz="1700" dirty="0"/>
          </a:p>
        </p:txBody>
      </p:sp>
      <p:sp>
        <p:nvSpPr>
          <p:cNvPr id="11" name="Text 9"/>
          <p:cNvSpPr txBox="1"/>
          <p:nvPr/>
        </p:nvSpPr>
        <p:spPr>
          <a:xfrm>
            <a:off x="1783080" y="3227832"/>
            <a:ext cx="9509760" cy="5029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LeRobot with SmolVLA fits on a consumer GPU; OpenVLA, π0 or GR00T if you have more compute. Fine-tune it on a small dataset. The point is to feel how much data a single new task costs.</a:t>
            </a:r>
            <a:endParaRPr lang="en-US" sz="1500" dirty="0"/>
          </a:p>
        </p:txBody>
      </p:sp>
      <p:sp>
        <p:nvSpPr>
          <p:cNvPr id="12" name="Shape 10"/>
          <p:cNvSpPr/>
          <p:nvPr/>
        </p:nvSpPr>
        <p:spPr>
          <a:xfrm>
            <a:off x="640080" y="3867912"/>
            <a:ext cx="10927080" cy="1051560"/>
          </a:xfrm>
          <a:prstGeom prst="roundRect">
            <a:avLst>
              <a:gd name="adj" fmla="val 5217"/>
            </a:avLst>
          </a:prstGeom>
          <a:solidFill>
            <a:srgbClr val="FAF0DA"/>
          </a:solidFill>
          <a:ln w="9525">
            <a:solidFill>
              <a:srgbClr val="E5D3A6"/>
            </a:solidFill>
            <a:prstDash val="solid"/>
          </a:ln>
        </p:spPr>
      </p:sp>
      <p:sp>
        <p:nvSpPr>
          <p:cNvPr id="13" name="Text 11"/>
          <p:cNvSpPr txBox="1"/>
          <p:nvPr/>
        </p:nvSpPr>
        <p:spPr>
          <a:xfrm>
            <a:off x="914400" y="4142232"/>
            <a:ext cx="731520" cy="502920"/>
          </a:xfrm>
          <a:prstGeom prst="rect">
            <a:avLst/>
          </a:prstGeom>
          <a:noFill/>
          <a:ln/>
        </p:spPr>
        <p:txBody>
          <a:bodyPr wrap="square" lIns="0" tIns="0" rIns="0" bIns="0" rtlCol="0" anchor="ctr"/>
          <a:lstStyle/>
          <a:p>
            <a:pPr marL="0" indent="0">
              <a:buNone/>
            </a:pPr>
            <a:r>
              <a:rPr lang="en-US" sz="2400" b="1" dirty="0">
                <a:solidFill>
                  <a:srgbClr val="B77B0C"/>
                </a:solidFill>
                <a:latin typeface="Cambria" pitchFamily="34" charset="0"/>
                <a:ea typeface="Cambria" pitchFamily="34" charset="-122"/>
                <a:cs typeface="Cambria" pitchFamily="34" charset="-120"/>
              </a:rPr>
              <a:t>03</a:t>
            </a:r>
            <a:endParaRPr lang="en-US" sz="2400" dirty="0"/>
          </a:p>
        </p:txBody>
      </p:sp>
      <p:sp>
        <p:nvSpPr>
          <p:cNvPr id="14" name="Text 12"/>
          <p:cNvSpPr txBox="1"/>
          <p:nvPr/>
        </p:nvSpPr>
        <p:spPr>
          <a:xfrm>
            <a:off x="1783080" y="3995928"/>
            <a:ext cx="9509760" cy="329184"/>
          </a:xfrm>
          <a:prstGeom prst="rect">
            <a:avLst/>
          </a:prstGeom>
          <a:noFill/>
          <a:ln/>
        </p:spPr>
        <p:txBody>
          <a:bodyPr wrap="square" lIns="0" tIns="0" rIns="0" bIns="0" rtlCol="0" anchor="t"/>
          <a:lstStyle/>
          <a:p>
            <a:pPr marL="0" indent="0" algn="l">
              <a:lnSpc>
                <a:spcPct val="115000"/>
              </a:lnSpc>
              <a:buNone/>
            </a:pPr>
            <a:r>
              <a:rPr lang="en-US" sz="1700" b="1" dirty="0">
                <a:solidFill>
                  <a:srgbClr val="B77B0C"/>
                </a:solidFill>
                <a:latin typeface="Calibri" pitchFamily="34" charset="0"/>
                <a:ea typeface="Calibri" pitchFamily="34" charset="-122"/>
                <a:cs typeface="Calibri" pitchFamily="34" charset="-120"/>
              </a:rPr>
              <a:t>Collect a hundred demonstrations yourself</a:t>
            </a:r>
            <a:endParaRPr lang="en-US" sz="1700" dirty="0"/>
          </a:p>
        </p:txBody>
      </p:sp>
      <p:sp>
        <p:nvSpPr>
          <p:cNvPr id="15" name="Text 13"/>
          <p:cNvSpPr txBox="1"/>
          <p:nvPr/>
        </p:nvSpPr>
        <p:spPr>
          <a:xfrm>
            <a:off x="1783080" y="4361688"/>
            <a:ext cx="9509760" cy="5029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Teleoperate a low-cost arm, or a simulated one. How many you need swings by orders of magnitude with task complexity. Nothing else teaches as fast that data quality dominates model choice, and that this is where the real hours go.</a:t>
            </a:r>
            <a:endParaRPr lang="en-US" sz="1500" dirty="0"/>
          </a:p>
        </p:txBody>
      </p:sp>
      <p:sp>
        <p:nvSpPr>
          <p:cNvPr id="16" name="Shape 14"/>
          <p:cNvSpPr/>
          <p:nvPr/>
        </p:nvSpPr>
        <p:spPr>
          <a:xfrm>
            <a:off x="640080" y="5001768"/>
            <a:ext cx="10927080" cy="1051560"/>
          </a:xfrm>
          <a:prstGeom prst="roundRect">
            <a:avLst>
              <a:gd name="adj" fmla="val 5217"/>
            </a:avLst>
          </a:prstGeom>
          <a:solidFill>
            <a:srgbClr val="FBEBE1"/>
          </a:solidFill>
          <a:ln w="9525">
            <a:solidFill>
              <a:srgbClr val="EBC7B0"/>
            </a:solidFill>
            <a:prstDash val="solid"/>
          </a:ln>
        </p:spPr>
      </p:sp>
      <p:sp>
        <p:nvSpPr>
          <p:cNvPr id="17" name="Text 15"/>
          <p:cNvSpPr txBox="1"/>
          <p:nvPr/>
        </p:nvSpPr>
        <p:spPr>
          <a:xfrm>
            <a:off x="914400" y="5276088"/>
            <a:ext cx="731520" cy="502920"/>
          </a:xfrm>
          <a:prstGeom prst="rect">
            <a:avLst/>
          </a:prstGeom>
          <a:noFill/>
          <a:ln/>
        </p:spPr>
        <p:txBody>
          <a:bodyPr wrap="square" lIns="0" tIns="0" rIns="0" bIns="0" rtlCol="0" anchor="ctr"/>
          <a:lstStyle/>
          <a:p>
            <a:pPr marL="0" indent="0">
              <a:buNone/>
            </a:pPr>
            <a:r>
              <a:rPr lang="en-US" sz="2400" b="1" dirty="0">
                <a:solidFill>
                  <a:srgbClr val="C2571E"/>
                </a:solidFill>
                <a:latin typeface="Cambria" pitchFamily="34" charset="0"/>
                <a:ea typeface="Cambria" pitchFamily="34" charset="-122"/>
                <a:cs typeface="Cambria" pitchFamily="34" charset="-120"/>
              </a:rPr>
              <a:t>04</a:t>
            </a:r>
            <a:endParaRPr lang="en-US" sz="2400" dirty="0"/>
          </a:p>
        </p:txBody>
      </p:sp>
      <p:sp>
        <p:nvSpPr>
          <p:cNvPr id="18" name="Text 16"/>
          <p:cNvSpPr txBox="1"/>
          <p:nvPr/>
        </p:nvSpPr>
        <p:spPr>
          <a:xfrm>
            <a:off x="1783080" y="5129784"/>
            <a:ext cx="9509760" cy="329184"/>
          </a:xfrm>
          <a:prstGeom prst="rect">
            <a:avLst/>
          </a:prstGeom>
          <a:noFill/>
          <a:ln/>
        </p:spPr>
        <p:txBody>
          <a:bodyPr wrap="square" lIns="0" tIns="0" rIns="0" bIns="0" rtlCol="0" anchor="t"/>
          <a:lstStyle/>
          <a:p>
            <a:pPr marL="0" indent="0" algn="l">
              <a:lnSpc>
                <a:spcPct val="115000"/>
              </a:lnSpc>
              <a:buNone/>
            </a:pPr>
            <a:r>
              <a:rPr lang="en-US" sz="1700" b="1" dirty="0">
                <a:solidFill>
                  <a:srgbClr val="C2571E"/>
                </a:solidFill>
                <a:latin typeface="Calibri" pitchFamily="34" charset="0"/>
                <a:ea typeface="Calibri" pitchFamily="34" charset="-122"/>
                <a:cs typeface="Calibri" pitchFamily="34" charset="-120"/>
              </a:rPr>
              <a:t>Build the evaluation harness first</a:t>
            </a:r>
            <a:endParaRPr lang="en-US" sz="1700" dirty="0"/>
          </a:p>
        </p:txBody>
      </p:sp>
      <p:sp>
        <p:nvSpPr>
          <p:cNvPr id="19" name="Text 17"/>
          <p:cNvSpPr txBox="1"/>
          <p:nvPr/>
        </p:nvSpPr>
        <p:spPr>
          <a:xfrm>
            <a:off x="1783080" y="5495544"/>
            <a:ext cx="9509760" cy="50292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Fixed task list, fixed trial count, randomised initial states, interventions counted. It is the scarcest artefact in the field and the only way to know whether anything you did worked.</a:t>
            </a:r>
            <a:endParaRPr lang="en-US" sz="1500" dirty="0"/>
          </a:p>
        </p:txBody>
      </p:sp>
      <p:sp>
        <p:nvSpPr>
          <p:cNvPr id="20" name="Text 18"/>
          <p:cNvSpPr txBox="1"/>
          <p:nvPr/>
        </p:nvSpPr>
        <p:spPr>
          <a:xfrm>
            <a:off x="640080" y="6263640"/>
            <a:ext cx="10927080" cy="411480"/>
          </a:xfrm>
          <a:prstGeom prst="rect">
            <a:avLst/>
          </a:prstGeom>
          <a:noFill/>
          <a:ln/>
        </p:spPr>
        <p:txBody>
          <a:bodyPr wrap="square" lIns="0" tIns="0" rIns="0" bIns="0" rtlCol="0" anchor="t"/>
          <a:lstStyle/>
          <a:p>
            <a:pPr marL="0" indent="0" algn="l">
              <a:lnSpc>
                <a:spcPct val="115000"/>
              </a:lnSpc>
              <a:buNone/>
            </a:pPr>
            <a:r>
              <a:rPr lang="en-US" sz="1500" b="1" i="1" dirty="0">
                <a:solidFill>
                  <a:srgbClr val="C2571E"/>
                </a:solidFill>
                <a:latin typeface="Calibri" pitchFamily="34" charset="0"/>
                <a:ea typeface="Calibri" pitchFamily="34" charset="-122"/>
                <a:cs typeface="Calibri" pitchFamily="34" charset="-120"/>
              </a:rPr>
              <a:t>Also worth an hour: read the Open X-Embodiment and AgiBot World dataset cards, to see what real robot data actually looks like.</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47472"/>
            <a:ext cx="10881360" cy="274320"/>
          </a:xfrm>
          <a:prstGeom prst="rect">
            <a:avLst/>
          </a:prstGeom>
          <a:noFill/>
          <a:ln/>
        </p:spPr>
        <p:txBody>
          <a:bodyPr wrap="square" lIns="0" tIns="0" rIns="0" bIns="0" rtlCol="0" anchor="ctr"/>
          <a:lstStyle/>
          <a:p>
            <a:pPr marL="0" indent="0" algn="l">
              <a:buNone/>
            </a:pPr>
            <a:r>
              <a:rPr lang="en-US" sz="1500" b="1" kern="0" spc="220" dirty="0">
                <a:solidFill>
                  <a:srgbClr val="C2571E"/>
                </a:solidFill>
                <a:latin typeface="Calibri" pitchFamily="34" charset="0"/>
                <a:ea typeface="Calibri" pitchFamily="34" charset="-122"/>
                <a:cs typeface="Calibri" pitchFamily="34" charset="-120"/>
              </a:rPr>
              <a:t>HOW TO ANTICIPATE WHAT HAPPENS NEXT</a:t>
            </a:r>
            <a:endParaRPr lang="en-US" sz="1500" dirty="0"/>
          </a:p>
        </p:txBody>
      </p:sp>
      <p:sp>
        <p:nvSpPr>
          <p:cNvPr id="3" name="Text 1"/>
          <p:cNvSpPr txBox="1"/>
          <p:nvPr/>
        </p:nvSpPr>
        <p:spPr>
          <a:xfrm>
            <a:off x="640080" y="658368"/>
            <a:ext cx="10881360" cy="731520"/>
          </a:xfrm>
          <a:prstGeom prst="rect">
            <a:avLst/>
          </a:prstGeom>
          <a:noFill/>
          <a:ln/>
        </p:spPr>
        <p:txBody>
          <a:bodyPr wrap="square" lIns="0" tIns="0" rIns="0" bIns="0" rtlCol="0" anchor="ctr"/>
          <a:lstStyle/>
          <a:p>
            <a:pPr marL="0" indent="0" algn="l">
              <a:buNone/>
            </a:pPr>
            <a:r>
              <a:rPr lang="en-US" sz="3800" b="1" dirty="0">
                <a:solidFill>
                  <a:srgbClr val="13222E"/>
                </a:solidFill>
                <a:latin typeface="Cambria" pitchFamily="34" charset="0"/>
                <a:ea typeface="Cambria" pitchFamily="34" charset="-122"/>
                <a:cs typeface="Cambria" pitchFamily="34" charset="-120"/>
              </a:rPr>
              <a:t>Signals worth tracking, and noise</a:t>
            </a:r>
            <a:endParaRPr lang="en-US" sz="3800" dirty="0"/>
          </a:p>
        </p:txBody>
      </p:sp>
      <p:sp>
        <p:nvSpPr>
          <p:cNvPr id="4" name="Shape 2"/>
          <p:cNvSpPr/>
          <p:nvPr/>
        </p:nvSpPr>
        <p:spPr>
          <a:xfrm>
            <a:off x="640080" y="1600200"/>
            <a:ext cx="5349240" cy="4206240"/>
          </a:xfrm>
          <a:prstGeom prst="roundRect">
            <a:avLst>
              <a:gd name="adj" fmla="val 1304"/>
            </a:avLst>
          </a:prstGeom>
          <a:solidFill>
            <a:srgbClr val="E2F0EA"/>
          </a:solidFill>
          <a:ln w="9525">
            <a:solidFill>
              <a:srgbClr val="BEDACE"/>
            </a:solidFill>
            <a:prstDash val="solid"/>
          </a:ln>
        </p:spPr>
      </p:sp>
      <p:sp>
        <p:nvSpPr>
          <p:cNvPr id="5" name="Text 3"/>
          <p:cNvSpPr txBox="1"/>
          <p:nvPr/>
        </p:nvSpPr>
        <p:spPr>
          <a:xfrm>
            <a:off x="960120" y="1783080"/>
            <a:ext cx="4754880" cy="310896"/>
          </a:xfrm>
          <a:prstGeom prst="rect">
            <a:avLst/>
          </a:prstGeom>
          <a:noFill/>
          <a:ln/>
        </p:spPr>
        <p:txBody>
          <a:bodyPr wrap="square" lIns="0" tIns="0" rIns="0" bIns="0" rtlCol="0" anchor="t"/>
          <a:lstStyle/>
          <a:p>
            <a:pPr marL="0" indent="0" algn="l">
              <a:lnSpc>
                <a:spcPct val="115000"/>
              </a:lnSpc>
              <a:buNone/>
            </a:pPr>
            <a:r>
              <a:rPr lang="en-US" sz="1500" b="1" kern="0" spc="160" dirty="0">
                <a:solidFill>
                  <a:srgbClr val="1F7A55"/>
                </a:solidFill>
                <a:latin typeface="Calibri" pitchFamily="34" charset="0"/>
                <a:ea typeface="Calibri" pitchFamily="34" charset="-122"/>
                <a:cs typeface="Calibri" pitchFamily="34" charset="-120"/>
              </a:rPr>
              <a:t>LEADING INDICATORS</a:t>
            </a:r>
            <a:endParaRPr lang="en-US" sz="1500" dirty="0"/>
          </a:p>
        </p:txBody>
      </p:sp>
      <p:sp>
        <p:nvSpPr>
          <p:cNvPr id="6" name="Text 4"/>
          <p:cNvSpPr txBox="1"/>
          <p:nvPr/>
        </p:nvSpPr>
        <p:spPr>
          <a:xfrm>
            <a:off x="960120" y="2148840"/>
            <a:ext cx="4754880" cy="356616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  Intervention rate and uptime, per site, over months</a:t>
            </a:r>
            <a:endParaRPr lang="en-US" sz="1500" dirty="0"/>
          </a:p>
          <a:p>
            <a:pPr marL="0" indent="0" algn="l">
              <a:lnSpc>
                <a:spcPct val="100000"/>
              </a:lnSpc>
              <a:buNone/>
            </a:pPr>
            <a:endParaRPr lang="en-US" sz="1500" dirty="0"/>
          </a:p>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  Cost per robot-hour against the wage it replaces</a:t>
            </a:r>
            <a:endParaRPr lang="en-US" sz="1500" dirty="0"/>
          </a:p>
          <a:p>
            <a:pPr marL="0" indent="0" algn="l">
              <a:lnSpc>
                <a:spcPct val="100000"/>
              </a:lnSpc>
              <a:buNone/>
            </a:pPr>
            <a:endParaRPr lang="en-US" sz="1500" dirty="0"/>
          </a:p>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  Cross-embodiment: same policy, new body, little retraining</a:t>
            </a:r>
            <a:endParaRPr lang="en-US" sz="1500" dirty="0"/>
          </a:p>
          <a:p>
            <a:pPr marL="0" indent="0" algn="l">
              <a:lnSpc>
                <a:spcPct val="100000"/>
              </a:lnSpc>
              <a:buNone/>
            </a:pPr>
            <a:endParaRPr lang="en-US" sz="1500" dirty="0"/>
          </a:p>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  Hardware price curve — a G1 at $13,500 moves the maths</a:t>
            </a:r>
            <a:endParaRPr lang="en-US" sz="1500" dirty="0"/>
          </a:p>
          <a:p>
            <a:pPr marL="0" indent="0" algn="l">
              <a:lnSpc>
                <a:spcPct val="100000"/>
              </a:lnSpc>
              <a:buNone/>
            </a:pPr>
            <a:endParaRPr lang="en-US" sz="1500" dirty="0"/>
          </a:p>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  Whether an evaluation standard gets adopted across labs</a:t>
            </a:r>
            <a:endParaRPr lang="en-US" sz="1500" dirty="0"/>
          </a:p>
          <a:p>
            <a:pPr marL="0" indent="0" algn="l">
              <a:lnSpc>
                <a:spcPct val="100000"/>
              </a:lnSpc>
              <a:buNone/>
            </a:pPr>
            <a:endParaRPr lang="en-US" sz="1500" dirty="0"/>
          </a:p>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  On-device latency and watts at 50–100 Hz</a:t>
            </a:r>
            <a:endParaRPr lang="en-US" sz="1500" dirty="0"/>
          </a:p>
          <a:p>
            <a:pPr marL="0" indent="0" algn="l">
              <a:lnSpc>
                <a:spcPct val="100000"/>
              </a:lnSpc>
              <a:buNone/>
            </a:pPr>
            <a:endParaRPr lang="en-US" sz="1500" dirty="0"/>
          </a:p>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  Learned simulators reaching production use</a:t>
            </a:r>
            <a:endParaRPr lang="en-US" sz="1500" dirty="0"/>
          </a:p>
        </p:txBody>
      </p:sp>
      <p:sp>
        <p:nvSpPr>
          <p:cNvPr id="7" name="Shape 5"/>
          <p:cNvSpPr/>
          <p:nvPr/>
        </p:nvSpPr>
        <p:spPr>
          <a:xfrm>
            <a:off x="6217920" y="1600200"/>
            <a:ext cx="5349240" cy="4206240"/>
          </a:xfrm>
          <a:prstGeom prst="roundRect">
            <a:avLst>
              <a:gd name="adj" fmla="val 1304"/>
            </a:avLst>
          </a:prstGeom>
          <a:solidFill>
            <a:srgbClr val="EEF2F5"/>
          </a:solidFill>
          <a:ln w="9525">
            <a:solidFill>
              <a:srgbClr val="C9D3DA"/>
            </a:solidFill>
            <a:prstDash val="solid"/>
          </a:ln>
        </p:spPr>
      </p:sp>
      <p:sp>
        <p:nvSpPr>
          <p:cNvPr id="8" name="Text 6"/>
          <p:cNvSpPr txBox="1"/>
          <p:nvPr/>
        </p:nvSpPr>
        <p:spPr>
          <a:xfrm>
            <a:off x="6537960" y="1783080"/>
            <a:ext cx="4754880" cy="310896"/>
          </a:xfrm>
          <a:prstGeom prst="rect">
            <a:avLst/>
          </a:prstGeom>
          <a:noFill/>
          <a:ln/>
        </p:spPr>
        <p:txBody>
          <a:bodyPr wrap="square" lIns="0" tIns="0" rIns="0" bIns="0" rtlCol="0" anchor="t"/>
          <a:lstStyle/>
          <a:p>
            <a:pPr marL="0" indent="0" algn="l">
              <a:lnSpc>
                <a:spcPct val="115000"/>
              </a:lnSpc>
              <a:buNone/>
            </a:pPr>
            <a:r>
              <a:rPr lang="en-US" sz="1500" b="1" kern="0" spc="160" dirty="0">
                <a:solidFill>
                  <a:srgbClr val="566672"/>
                </a:solidFill>
                <a:latin typeface="Calibri" pitchFamily="34" charset="0"/>
                <a:ea typeface="Calibri" pitchFamily="34" charset="-122"/>
                <a:cs typeface="Calibri" pitchFamily="34" charset="-120"/>
              </a:rPr>
              <a:t>NOISE</a:t>
            </a:r>
            <a:endParaRPr lang="en-US" sz="1500" dirty="0"/>
          </a:p>
        </p:txBody>
      </p:sp>
      <p:sp>
        <p:nvSpPr>
          <p:cNvPr id="9" name="Text 7"/>
          <p:cNvSpPr txBox="1"/>
          <p:nvPr/>
        </p:nvSpPr>
        <p:spPr>
          <a:xfrm>
            <a:off x="6537960" y="2148840"/>
            <a:ext cx="4754880" cy="3566160"/>
          </a:xfrm>
          <a:prstGeom prst="rect">
            <a:avLst/>
          </a:prstGeom>
          <a:noFill/>
          <a:ln/>
        </p:spPr>
        <p:txBody>
          <a:bodyPr wrap="square" lIns="0" tIns="0" rIns="0" bIns="0" rtlCol="0" anchor="t"/>
          <a:lstStyle/>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  Demo videos, especially cut ones</a:t>
            </a:r>
            <a:endParaRPr lang="en-US" sz="1500" dirty="0"/>
          </a:p>
          <a:p>
            <a:pPr marL="0" indent="0" algn="l">
              <a:lnSpc>
                <a:spcPct val="100000"/>
              </a:lnSpc>
              <a:buNone/>
            </a:pPr>
            <a:endParaRPr lang="en-US" sz="1500" dirty="0"/>
          </a:p>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  Valuations and round sizes</a:t>
            </a:r>
            <a:endParaRPr lang="en-US" sz="1500" dirty="0"/>
          </a:p>
          <a:p>
            <a:pPr marL="0" indent="0" algn="l">
              <a:lnSpc>
                <a:spcPct val="100000"/>
              </a:lnSpc>
              <a:buNone/>
            </a:pPr>
            <a:endParaRPr lang="en-US" sz="1500" dirty="0"/>
          </a:p>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  Unit shipment counts with no utilisation figure attached</a:t>
            </a:r>
            <a:endParaRPr lang="en-US" sz="1500" dirty="0"/>
          </a:p>
          <a:p>
            <a:pPr marL="0" indent="0" algn="l">
              <a:lnSpc>
                <a:spcPct val="100000"/>
              </a:lnSpc>
              <a:buNone/>
            </a:pPr>
            <a:endParaRPr lang="en-US" sz="1500" dirty="0"/>
          </a:p>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  Teleoperated demonstrations presented as autonomy</a:t>
            </a:r>
            <a:endParaRPr lang="en-US" sz="1500" dirty="0"/>
          </a:p>
          <a:p>
            <a:pPr marL="0" indent="0" algn="l">
              <a:lnSpc>
                <a:spcPct val="100000"/>
              </a:lnSpc>
              <a:buNone/>
            </a:pPr>
            <a:endParaRPr lang="en-US" sz="1500" dirty="0"/>
          </a:p>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  Benchmark scores on a task suite the same lab designed</a:t>
            </a:r>
            <a:endParaRPr lang="en-US" sz="1500" dirty="0"/>
          </a:p>
          <a:p>
            <a:pPr marL="0" indent="0" algn="l">
              <a:lnSpc>
                <a:spcPct val="100000"/>
              </a:lnSpc>
              <a:buNone/>
            </a:pPr>
            <a:endParaRPr lang="en-US" sz="1500" dirty="0"/>
          </a:p>
          <a:p>
            <a:pPr marL="0" indent="0" algn="l">
              <a:lnSpc>
                <a:spcPct val="100000"/>
              </a:lnSpc>
              <a:buNone/>
            </a:pPr>
            <a:r>
              <a:rPr lang="en-US" sz="1500" dirty="0">
                <a:solidFill>
                  <a:srgbClr val="13222E"/>
                </a:solidFill>
                <a:latin typeface="Calibri" pitchFamily="34" charset="0"/>
                <a:ea typeface="Calibri" pitchFamily="34" charset="-122"/>
                <a:cs typeface="Calibri" pitchFamily="34" charset="-120"/>
              </a:rPr>
              <a:t>•  “AGI for robots” framing, in either direction</a:t>
            </a:r>
            <a:endParaRPr lang="en-US" sz="1500" dirty="0"/>
          </a:p>
        </p:txBody>
      </p:sp>
      <p:sp>
        <p:nvSpPr>
          <p:cNvPr id="10" name="Shape 8"/>
          <p:cNvSpPr/>
          <p:nvPr/>
        </p:nvSpPr>
        <p:spPr>
          <a:xfrm>
            <a:off x="640080" y="5989320"/>
            <a:ext cx="10927080" cy="731520"/>
          </a:xfrm>
          <a:prstGeom prst="roundRect">
            <a:avLst>
              <a:gd name="adj" fmla="val 7500"/>
            </a:avLst>
          </a:prstGeom>
          <a:solidFill>
            <a:srgbClr val="10202B"/>
          </a:solidFill>
          <a:ln/>
        </p:spPr>
      </p:sp>
      <p:sp>
        <p:nvSpPr>
          <p:cNvPr id="11" name="Text 9"/>
          <p:cNvSpPr txBox="1"/>
          <p:nvPr/>
        </p:nvSpPr>
        <p:spPr>
          <a:xfrm>
            <a:off x="960120" y="5989320"/>
            <a:ext cx="10287000" cy="731520"/>
          </a:xfrm>
          <a:prstGeom prst="rect">
            <a:avLst/>
          </a:prstGeom>
          <a:noFill/>
          <a:ln/>
        </p:spPr>
        <p:txBody>
          <a:bodyPr wrap="square" lIns="0" tIns="0" rIns="0" bIns="0" rtlCol="0" anchor="ctr"/>
          <a:lstStyle/>
          <a:p>
            <a:pPr marL="0" indent="0">
              <a:lnSpc>
                <a:spcPct val="110000"/>
              </a:lnSpc>
              <a:buNone/>
            </a:pPr>
            <a:r>
              <a:rPr lang="en-US" sz="1500" dirty="0">
                <a:solidFill>
                  <a:srgbClr val="FFFFFF"/>
                </a:solidFill>
                <a:latin typeface="Calibri" pitchFamily="34" charset="0"/>
                <a:ea typeface="Calibri" pitchFamily="34" charset="-122"/>
                <a:cs typeface="Calibri" pitchFamily="34" charset="-120"/>
              </a:rPr>
              <a:t>The timing question is not when the models get better — they will. It is when the last few percent of reliability arrives, and the honest signals above are the only ones that measure it.</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0202B"/>
        </a:solidFill>
        <a:effectLst/>
      </p:bgPr>
    </p:bg>
    <p:spTree>
      <p:nvGrpSpPr>
        <p:cNvPr id="1" name=""/>
        <p:cNvGrpSpPr/>
        <p:nvPr/>
      </p:nvGrpSpPr>
      <p:grpSpPr>
        <a:xfrm>
          <a:off x="0" y="0"/>
          <a:ext cx="0" cy="0"/>
          <a:chOff x="0" y="0"/>
          <a:chExt cx="0" cy="0"/>
        </a:xfrm>
      </p:grpSpPr>
      <p:sp>
        <p:nvSpPr>
          <p:cNvPr id="2" name="Text 0"/>
          <p:cNvSpPr txBox="1"/>
          <p:nvPr/>
        </p:nvSpPr>
        <p:spPr>
          <a:xfrm>
            <a:off x="822960" y="685800"/>
            <a:ext cx="10515600" cy="77724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Four things to carry away</a:t>
            </a:r>
            <a:endParaRPr lang="en-US" sz="3800" dirty="0"/>
          </a:p>
        </p:txBody>
      </p:sp>
      <p:sp>
        <p:nvSpPr>
          <p:cNvPr id="3" name="Text 1"/>
          <p:cNvSpPr txBox="1"/>
          <p:nvPr/>
        </p:nvSpPr>
        <p:spPr>
          <a:xfrm>
            <a:off x="822960" y="1691640"/>
            <a:ext cx="868680" cy="457200"/>
          </a:xfrm>
          <a:prstGeom prst="rect">
            <a:avLst/>
          </a:prstGeom>
          <a:noFill/>
          <a:ln/>
        </p:spPr>
        <p:txBody>
          <a:bodyPr wrap="square" lIns="0" tIns="0" rIns="0" bIns="0" rtlCol="0" anchor="ctr"/>
          <a:lstStyle/>
          <a:p>
            <a:pPr marL="0" indent="0">
              <a:buNone/>
            </a:pPr>
            <a:r>
              <a:rPr lang="en-US" sz="2600" b="1" dirty="0">
                <a:solidFill>
                  <a:srgbClr val="E8843F"/>
                </a:solidFill>
                <a:latin typeface="Cambria" pitchFamily="34" charset="0"/>
                <a:ea typeface="Cambria" pitchFamily="34" charset="-122"/>
                <a:cs typeface="Cambria" pitchFamily="34" charset="-120"/>
              </a:rPr>
              <a:t>01</a:t>
            </a:r>
            <a:endParaRPr lang="en-US" sz="2600" dirty="0"/>
          </a:p>
        </p:txBody>
      </p:sp>
      <p:sp>
        <p:nvSpPr>
          <p:cNvPr id="4" name="Text 2"/>
          <p:cNvSpPr txBox="1"/>
          <p:nvPr/>
        </p:nvSpPr>
        <p:spPr>
          <a:xfrm>
            <a:off x="1828800" y="1691640"/>
            <a:ext cx="9509760" cy="402336"/>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loop is the whole difference</a:t>
            </a:r>
            <a:endParaRPr lang="en-US" sz="2000" dirty="0"/>
          </a:p>
        </p:txBody>
      </p:sp>
      <p:sp>
        <p:nvSpPr>
          <p:cNvPr id="5" name="Text 3"/>
          <p:cNvSpPr txBox="1"/>
          <p:nvPr/>
        </p:nvSpPr>
        <p:spPr>
          <a:xfrm>
            <a:off x="1828800" y="2093976"/>
            <a:ext cx="9326880" cy="685800"/>
          </a:xfrm>
          <a:prstGeom prst="rect">
            <a:avLst/>
          </a:prstGeom>
          <a:noFill/>
          <a:ln/>
        </p:spPr>
        <p:txBody>
          <a:bodyPr wrap="square" lIns="0" tIns="0" rIns="0" bIns="0" rtlCol="0" anchor="ctr"/>
          <a:lstStyle/>
          <a:p>
            <a:pPr marL="0" indent="0">
              <a:lnSpc>
                <a:spcPct val="115000"/>
              </a:lnSpc>
              <a:buNone/>
            </a:pPr>
            <a:r>
              <a:rPr lang="en-US" sz="1500" dirty="0">
                <a:solidFill>
                  <a:srgbClr val="AFC2CE"/>
                </a:solidFill>
                <a:latin typeface="Calibri" pitchFamily="34" charset="0"/>
                <a:ea typeface="Calibri" pitchFamily="34" charset="-122"/>
                <a:cs typeface="Calibri" pitchFamily="34" charset="-120"/>
              </a:rPr>
              <a:t>Output is force, not words. What the system does decides what it sees next, so errors compound instead of being regenerated.</a:t>
            </a:r>
            <a:endParaRPr lang="en-US" sz="1500" dirty="0"/>
          </a:p>
        </p:txBody>
      </p:sp>
      <p:sp>
        <p:nvSpPr>
          <p:cNvPr id="6" name="Text 4"/>
          <p:cNvSpPr txBox="1"/>
          <p:nvPr/>
        </p:nvSpPr>
        <p:spPr>
          <a:xfrm>
            <a:off x="822960" y="2926080"/>
            <a:ext cx="868680" cy="457200"/>
          </a:xfrm>
          <a:prstGeom prst="rect">
            <a:avLst/>
          </a:prstGeom>
          <a:noFill/>
          <a:ln/>
        </p:spPr>
        <p:txBody>
          <a:bodyPr wrap="square" lIns="0" tIns="0" rIns="0" bIns="0" rtlCol="0" anchor="ctr"/>
          <a:lstStyle/>
          <a:p>
            <a:pPr marL="0" indent="0">
              <a:buNone/>
            </a:pPr>
            <a:r>
              <a:rPr lang="en-US" sz="2600" b="1" dirty="0">
                <a:solidFill>
                  <a:srgbClr val="A98BD8"/>
                </a:solidFill>
                <a:latin typeface="Cambria" pitchFamily="34" charset="0"/>
                <a:ea typeface="Cambria" pitchFamily="34" charset="-122"/>
                <a:cs typeface="Cambria" pitchFamily="34" charset="-120"/>
              </a:rPr>
              <a:t>02</a:t>
            </a:r>
            <a:endParaRPr lang="en-US" sz="2600" dirty="0"/>
          </a:p>
        </p:txBody>
      </p:sp>
      <p:sp>
        <p:nvSpPr>
          <p:cNvPr id="7" name="Text 5"/>
          <p:cNvSpPr txBox="1"/>
          <p:nvPr/>
        </p:nvSpPr>
        <p:spPr>
          <a:xfrm>
            <a:off x="1828800" y="2926080"/>
            <a:ext cx="9509760" cy="402336"/>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Embodied sits on top of generative</a:t>
            </a:r>
            <a:endParaRPr lang="en-US" sz="2000" dirty="0"/>
          </a:p>
        </p:txBody>
      </p:sp>
      <p:sp>
        <p:nvSpPr>
          <p:cNvPr id="8" name="Text 6"/>
          <p:cNvSpPr txBox="1"/>
          <p:nvPr/>
        </p:nvSpPr>
        <p:spPr>
          <a:xfrm>
            <a:off x="1828800" y="3328416"/>
            <a:ext cx="9326880" cy="685800"/>
          </a:xfrm>
          <a:prstGeom prst="rect">
            <a:avLst/>
          </a:prstGeom>
          <a:noFill/>
          <a:ln/>
        </p:spPr>
        <p:txBody>
          <a:bodyPr wrap="square" lIns="0" tIns="0" rIns="0" bIns="0" rtlCol="0" anchor="ctr"/>
          <a:lstStyle/>
          <a:p>
            <a:pPr marL="0" indent="0">
              <a:lnSpc>
                <a:spcPct val="115000"/>
              </a:lnSpc>
              <a:buNone/>
            </a:pPr>
            <a:r>
              <a:rPr lang="en-US" sz="1500" dirty="0">
                <a:solidFill>
                  <a:srgbClr val="AFC2CE"/>
                </a:solidFill>
                <a:latin typeface="Calibri" pitchFamily="34" charset="0"/>
                <a:ea typeface="Calibri" pitchFamily="34" charset="-122"/>
                <a:cs typeface="Calibri" pitchFamily="34" charset="-120"/>
              </a:rPr>
              <a:t>Not a rival wave, the hardest layer of the same stack. Learn the models — then point them at a body rather than a chat window.</a:t>
            </a:r>
            <a:endParaRPr lang="en-US" sz="1500" dirty="0"/>
          </a:p>
        </p:txBody>
      </p:sp>
      <p:sp>
        <p:nvSpPr>
          <p:cNvPr id="9" name="Text 7"/>
          <p:cNvSpPr txBox="1"/>
          <p:nvPr/>
        </p:nvSpPr>
        <p:spPr>
          <a:xfrm>
            <a:off x="822960" y="4160520"/>
            <a:ext cx="868680" cy="457200"/>
          </a:xfrm>
          <a:prstGeom prst="rect">
            <a:avLst/>
          </a:prstGeom>
          <a:noFill/>
          <a:ln/>
        </p:spPr>
        <p:txBody>
          <a:bodyPr wrap="square" lIns="0" tIns="0" rIns="0" bIns="0" rtlCol="0" anchor="ctr"/>
          <a:lstStyle/>
          <a:p>
            <a:pPr marL="0" indent="0">
              <a:buNone/>
            </a:pPr>
            <a:r>
              <a:rPr lang="en-US" sz="2600" b="1" dirty="0">
                <a:solidFill>
                  <a:srgbClr val="5FBBD0"/>
                </a:solidFill>
                <a:latin typeface="Cambria" pitchFamily="34" charset="0"/>
                <a:ea typeface="Cambria" pitchFamily="34" charset="-122"/>
                <a:cs typeface="Cambria" pitchFamily="34" charset="-120"/>
              </a:rPr>
              <a:t>03</a:t>
            </a:r>
            <a:endParaRPr lang="en-US" sz="2600" dirty="0"/>
          </a:p>
        </p:txBody>
      </p:sp>
      <p:sp>
        <p:nvSpPr>
          <p:cNvPr id="10" name="Text 8"/>
          <p:cNvSpPr txBox="1"/>
          <p:nvPr/>
        </p:nvSpPr>
        <p:spPr>
          <a:xfrm>
            <a:off x="1828800" y="4160520"/>
            <a:ext cx="9509760" cy="402336"/>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bottleneck is your field, not theirs</a:t>
            </a:r>
            <a:endParaRPr lang="en-US" sz="2000" dirty="0"/>
          </a:p>
        </p:txBody>
      </p:sp>
      <p:sp>
        <p:nvSpPr>
          <p:cNvPr id="11" name="Text 9"/>
          <p:cNvSpPr txBox="1"/>
          <p:nvPr/>
        </p:nvSpPr>
        <p:spPr>
          <a:xfrm>
            <a:off x="1828800" y="4562856"/>
            <a:ext cx="9326880" cy="685800"/>
          </a:xfrm>
          <a:prstGeom prst="rect">
            <a:avLst/>
          </a:prstGeom>
          <a:noFill/>
          <a:ln/>
        </p:spPr>
        <p:txBody>
          <a:bodyPr wrap="square" lIns="0" tIns="0" rIns="0" bIns="0" rtlCol="0" anchor="ctr"/>
          <a:lstStyle/>
          <a:p>
            <a:pPr marL="0" indent="0">
              <a:lnSpc>
                <a:spcPct val="115000"/>
              </a:lnSpc>
              <a:buNone/>
            </a:pPr>
            <a:r>
              <a:rPr lang="en-US" sz="1500" dirty="0">
                <a:solidFill>
                  <a:srgbClr val="AFC2CE"/>
                </a:solidFill>
                <a:latin typeface="Calibri" pitchFamily="34" charset="0"/>
                <a:ea typeface="Calibri" pitchFamily="34" charset="-122"/>
                <a:cs typeface="Calibri" pitchFamily="34" charset="-120"/>
              </a:rPr>
              <a:t>Data, evaluation and reliability decide when this ships. That is robotics work, and the people arriving from AI cannot do it.</a:t>
            </a:r>
            <a:endParaRPr lang="en-US" sz="1500" dirty="0"/>
          </a:p>
        </p:txBody>
      </p:sp>
      <p:sp>
        <p:nvSpPr>
          <p:cNvPr id="12" name="Text 10"/>
          <p:cNvSpPr txBox="1"/>
          <p:nvPr/>
        </p:nvSpPr>
        <p:spPr>
          <a:xfrm>
            <a:off x="822960" y="5394960"/>
            <a:ext cx="868680" cy="457200"/>
          </a:xfrm>
          <a:prstGeom prst="rect">
            <a:avLst/>
          </a:prstGeom>
          <a:noFill/>
          <a:ln/>
        </p:spPr>
        <p:txBody>
          <a:bodyPr wrap="square" lIns="0" tIns="0" rIns="0" bIns="0" rtlCol="0" anchor="ctr"/>
          <a:lstStyle/>
          <a:p>
            <a:pPr marL="0" indent="0">
              <a:buNone/>
            </a:pPr>
            <a:r>
              <a:rPr lang="en-US" sz="2600" b="1" dirty="0">
                <a:solidFill>
                  <a:srgbClr val="E0B85A"/>
                </a:solidFill>
                <a:latin typeface="Cambria" pitchFamily="34" charset="0"/>
                <a:ea typeface="Cambria" pitchFamily="34" charset="-122"/>
                <a:cs typeface="Cambria" pitchFamily="34" charset="-120"/>
              </a:rPr>
              <a:t>04</a:t>
            </a:r>
            <a:endParaRPr lang="en-US" sz="2600" dirty="0"/>
          </a:p>
        </p:txBody>
      </p:sp>
      <p:sp>
        <p:nvSpPr>
          <p:cNvPr id="13" name="Text 11"/>
          <p:cNvSpPr txBox="1"/>
          <p:nvPr/>
        </p:nvSpPr>
        <p:spPr>
          <a:xfrm>
            <a:off x="1828800" y="5394960"/>
            <a:ext cx="9509760" cy="402336"/>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Judge by deployments, not demos — including your own</a:t>
            </a:r>
            <a:endParaRPr lang="en-US" sz="2000" dirty="0"/>
          </a:p>
        </p:txBody>
      </p:sp>
      <p:sp>
        <p:nvSpPr>
          <p:cNvPr id="14" name="Text 12"/>
          <p:cNvSpPr txBox="1"/>
          <p:nvPr/>
        </p:nvSpPr>
        <p:spPr>
          <a:xfrm>
            <a:off x="1828800" y="5797296"/>
            <a:ext cx="9326880" cy="685800"/>
          </a:xfrm>
          <a:prstGeom prst="rect">
            <a:avLst/>
          </a:prstGeom>
          <a:noFill/>
          <a:ln/>
        </p:spPr>
        <p:txBody>
          <a:bodyPr wrap="square" lIns="0" tIns="0" rIns="0" bIns="0" rtlCol="0" anchor="ctr"/>
          <a:lstStyle/>
          <a:p>
            <a:pPr marL="0" indent="0">
              <a:lnSpc>
                <a:spcPct val="115000"/>
              </a:lnSpc>
              <a:buNone/>
            </a:pPr>
            <a:r>
              <a:rPr lang="en-US" sz="1500" dirty="0">
                <a:solidFill>
                  <a:srgbClr val="AFC2CE"/>
                </a:solidFill>
                <a:latin typeface="Calibri" pitchFamily="34" charset="0"/>
                <a:ea typeface="Calibri" pitchFamily="34" charset="-122"/>
                <a:cs typeface="Calibri" pitchFamily="34" charset="-120"/>
              </a:rPr>
              <a:t>Working once is not working. Build the harness, count the interventions, and be early where being early still pays.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4498</Words>
  <Application>Microsoft Office PowerPoint</Application>
  <PresentationFormat>Widescreen</PresentationFormat>
  <Paragraphs>523</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Embodied AI</dc:title>
  <dc:subject>PptxGenJS Presentation</dc:subject>
  <dc:creator>Claude</dc:creator>
  <cp:lastModifiedBy>Windows User</cp:lastModifiedBy>
  <cp:revision>3</cp:revision>
  <dcterms:created xsi:type="dcterms:W3CDTF">2026-09-06T01:55:17Z</dcterms:created>
  <dcterms:modified xsi:type="dcterms:W3CDTF">2026-09-07T01:46:17Z</dcterms:modified>
</cp:coreProperties>
</file>